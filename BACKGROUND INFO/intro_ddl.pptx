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8" r:id="rId13"/>
    <p:sldId id="28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0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97D67-B719-A140-9F52-DE42CB1E6EC8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25FB0C-AC54-D543-9BA3-B82F13EBD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8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data types (and sizes) of the foreign key and the referenced key do NOT match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25FB0C-AC54-D543-9BA3-B82F13EBD28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8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b="1" dirty="0"/>
              <a:t>A foreign key cannot reference only part of a composite primary key unless that part is declared UNIQUE.</a:t>
            </a:r>
            <a:endParaRPr lang="en-C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25FB0C-AC54-D543-9BA3-B82F13EBD28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95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C2C6-CEBB-BBCC-63DE-514671F3B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13AD4-731A-A8B7-EA22-FBF859654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F28E8-4781-D70C-5544-E1A51CBA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24659-5921-7690-3EA1-1BC064B7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F26C3-9A4F-0D9E-08E2-A746531B0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3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877D-9661-49B1-8B00-4B019734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5CF88-0F70-EE7B-B7AD-8D4046941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7197F-84B7-35FD-9EB9-9751749E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0A347-10F6-5B68-248A-4571903F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0947B-9A7C-A561-1D14-C3E72EB6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D42FE-5E3F-F891-578A-96C38FBAB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D312A-9241-9378-6C25-2BA0B3F79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1710E-BFC0-D9A9-099D-CE497615F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459A0-05A3-F530-DDDA-B2E14F9D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58F27-B38D-E3DB-FC19-D55830B29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4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B41E7-F856-0F81-7BAA-4637F3F4B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D09A6-B83E-9907-D255-30BE947B9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83FCE-13E5-8CAF-B3B2-7572B44AC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B882F-FE9F-8FE2-FF7F-4C4C1F1E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3C2DE-4D2D-93DB-954C-D57DFB0C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DCFBF-CD18-1111-D805-509ADF24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472A-2871-C394-B0C1-6F4F522B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65A37-EFFE-8F97-CFA2-650260ADB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7DDF3-081E-14BF-9A51-9D0937E43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89283-0C1C-DCB9-3F3A-313427A30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B34F4-D97C-66BA-60C2-D6D04EF93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76B282-99FE-7CE4-E0B3-1A4CB1E6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C63DE-5D89-5837-DFE0-8E9CAE22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D77EE-D994-238C-5B7F-22A0CB67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5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C7CF3-EC09-A83A-28C3-F65B3378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6C6E2E-BF0B-5A0B-FC4A-919495A21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822B8-8FEF-4C1B-5610-3E1FF7FE5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27366-ECA5-69FF-E155-6AC9587D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16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D62BB-47AA-58EB-5E7E-58EED4F4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7691A-486A-A97C-BE64-FC288BAC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E3DCD-3E3A-5B6F-3B61-47C03D55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9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426F-BDC4-866B-D0B8-834A2C256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53B64-A20D-972A-F6FE-C51263EF2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CA048-1910-D2A1-DC1F-85A99B9F6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7454C-2B73-A906-AA3F-C1305AC3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D23AE-D015-5226-747C-2DB06A93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C6CE9-2CE2-AE7B-B69F-DBE6F386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8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37CF2-3FD1-A165-3CF1-3CE44816E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06B177-E393-000A-19B0-BB61E7FED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F878A-1469-A81B-44CB-4D57440D4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585B1-8447-0B55-7975-1EAA3CEBC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90A3E-7FC5-6843-5F0E-D4D6CBC0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97270-700D-5902-C8DC-FE658109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0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F4564-D9DC-94F1-2552-CF61128B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6214B-979C-0C4B-2E19-BA13A7479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9F67-A631-3C82-1907-8639A58F1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D2997-C38C-0852-78A1-6C9D855C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0A4BB-6119-0DB2-62EC-CAA5C2AF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5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988A7C-B3E5-10DF-8E50-36502E427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E25B7-B8C8-50CB-1F1C-2E6BAB4AF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E017C-54CE-18A3-7B64-DCDF1F5C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8A80-F747-9345-DF84-CB7A3695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F2372-5684-82B3-CB59-2420CA803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1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5D7AA-903D-4E64-3EC7-F79E2448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4BCDE-6829-7BF4-C113-CA73CD743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EAE0D-7A6E-1F6E-FBCC-A75C6407B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375C9-E814-A847-8224-81D58F747E1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08B13-A0B5-8A5F-1A71-4E390769E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2774B-C460-E9E8-4C16-188F7B5FE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1503D-E1C6-BF45-9D46-632976B9A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62D26-7C5E-6217-6DBF-DEE3A02B48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DDL:</a:t>
            </a:r>
            <a:br>
              <a:rPr lang="en-US" dirty="0"/>
            </a:br>
            <a:r>
              <a:rPr lang="en-US" dirty="0"/>
              <a:t>Data Definition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C729C-7401-7776-6C11-2549C1F5A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1364053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9691D-27F2-5681-DD6F-17947BC36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511C0-9BE5-8FE8-B0F7-291298388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Maintain the </a:t>
            </a:r>
            <a:r>
              <a:rPr lang="en-US" dirty="0">
                <a:highlight>
                  <a:srgbClr val="FFFF00"/>
                </a:highlight>
              </a:rPr>
              <a:t>correctness</a:t>
            </a:r>
            <a:r>
              <a:rPr lang="en-US" dirty="0"/>
              <a:t> and </a:t>
            </a:r>
            <a:r>
              <a:rPr lang="en-US" dirty="0">
                <a:highlight>
                  <a:srgbClr val="FFFF00"/>
                </a:highlight>
              </a:rPr>
              <a:t>consistency</a:t>
            </a:r>
            <a:r>
              <a:rPr lang="en-US" dirty="0"/>
              <a:t> of the data by not allowing users to enter incorrect data</a:t>
            </a:r>
          </a:p>
          <a:p>
            <a:r>
              <a:rPr lang="en-US" dirty="0"/>
              <a:t>Three types of integrity constraints: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Domain constraints:</a:t>
            </a:r>
          </a:p>
          <a:p>
            <a:pPr lvl="2"/>
            <a:r>
              <a:rPr lang="en-US" dirty="0"/>
              <a:t>All attributes come from a defined set of values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Entity integrity</a:t>
            </a:r>
          </a:p>
          <a:p>
            <a:pPr lvl="2"/>
            <a:r>
              <a:rPr lang="en-US" dirty="0"/>
              <a:t>No attribute of a primary key can contain a null value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Referential integrity</a:t>
            </a:r>
          </a:p>
          <a:p>
            <a:pPr lvl="2"/>
            <a:r>
              <a:rPr lang="en-US" dirty="0"/>
              <a:t>A FK must reference a VALID primary key value in the referenced table OR be NULL</a:t>
            </a:r>
          </a:p>
          <a:p>
            <a:r>
              <a:rPr lang="en-US" dirty="0"/>
              <a:t>These constraints are checked by the DBMS whenever changes are made to the data</a:t>
            </a:r>
          </a:p>
        </p:txBody>
      </p:sp>
    </p:spTree>
    <p:extLst>
      <p:ext uri="{BB962C8B-B14F-4D97-AF65-F5344CB8AC3E}">
        <p14:creationId xmlns:p14="http://schemas.microsoft.com/office/powerpoint/2010/main" val="328664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DF7FA-C4F8-8489-224F-2232B000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MariaDB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04E91-1287-BB64-9803-88A7FAD59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XAMPP uses MariaDB, a fork of the MySQL database management system</a:t>
            </a:r>
          </a:p>
          <a:p>
            <a:r>
              <a:rPr lang="en-US" dirty="0"/>
              <a:t>compatible with MySQL – and I'll probably refer to it as MySQL throughout the course</a:t>
            </a:r>
          </a:p>
          <a:p>
            <a:pPr lvl="1"/>
            <a:r>
              <a:rPr lang="en-US" dirty="0"/>
              <a:t>you will also see "MySQL" listed on the interface to XAMPP</a:t>
            </a:r>
          </a:p>
        </p:txBody>
      </p:sp>
    </p:spTree>
    <p:extLst>
      <p:ext uri="{BB962C8B-B14F-4D97-AF65-F5344CB8AC3E}">
        <p14:creationId xmlns:p14="http://schemas.microsoft.com/office/powerpoint/2010/main" val="258913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D70E-99D9-F047-1144-A2A0A6F2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4930A-1A95-66A8-38F7-FF30F16F2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IBM Sequel language developed as part of System R project at the IBM San Jose Research Laboratory</a:t>
            </a:r>
          </a:p>
          <a:p>
            <a:r>
              <a:rPr lang="en-US" dirty="0"/>
              <a:t>Renamed </a:t>
            </a:r>
            <a:r>
              <a:rPr lang="en-US" dirty="0">
                <a:highlight>
                  <a:srgbClr val="FFFF00"/>
                </a:highlight>
              </a:rPr>
              <a:t>Structured Query Language (SQL)</a:t>
            </a:r>
          </a:p>
          <a:p>
            <a:r>
              <a:rPr lang="en-US" dirty="0"/>
              <a:t>ANSI and ISO standard SQL:</a:t>
            </a:r>
          </a:p>
          <a:p>
            <a:pPr lvl="1"/>
            <a:r>
              <a:rPr lang="en-US" dirty="0"/>
              <a:t>SQL-86, SQL-89, SQL-92</a:t>
            </a:r>
          </a:p>
          <a:p>
            <a:pPr lvl="1"/>
            <a:r>
              <a:rPr lang="en-US" dirty="0"/>
              <a:t>SQL:1999, SQL:2003, SQL:2008, SQL: 2011, SQL: 2016, SQL: 2019</a:t>
            </a:r>
          </a:p>
          <a:p>
            <a:r>
              <a:rPr lang="en-US" dirty="0"/>
              <a:t>SQL offered by commercial systems varies</a:t>
            </a:r>
          </a:p>
          <a:p>
            <a:pPr lvl="1"/>
            <a:r>
              <a:rPr lang="en-US" dirty="0"/>
              <a:t>SQL-92 a common basis</a:t>
            </a:r>
          </a:p>
          <a:p>
            <a:pPr lvl="1"/>
            <a:r>
              <a:rPr lang="en-US" dirty="0"/>
              <a:t>Various other features from later standards and proprietary features offered</a:t>
            </a:r>
          </a:p>
        </p:txBody>
      </p:sp>
    </p:spTree>
    <p:extLst>
      <p:ext uri="{BB962C8B-B14F-4D97-AF65-F5344CB8AC3E}">
        <p14:creationId xmlns:p14="http://schemas.microsoft.com/office/powerpoint/2010/main" val="428483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1B06-F4C7-766A-C8E5-FEA126FA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D9D55-FD1D-6A05-C65D-1A453961B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Definition Language – DDL</a:t>
            </a:r>
          </a:p>
          <a:p>
            <a:r>
              <a:rPr lang="en-US" dirty="0"/>
              <a:t>Data Manipulation Language - DML</a:t>
            </a:r>
          </a:p>
        </p:txBody>
      </p:sp>
    </p:spTree>
    <p:extLst>
      <p:ext uri="{BB962C8B-B14F-4D97-AF65-F5344CB8AC3E}">
        <p14:creationId xmlns:p14="http://schemas.microsoft.com/office/powerpoint/2010/main" val="177469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B4F3-9348-3F06-E2EA-28B5867A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– DDL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3EBAD-C890-BDFB-C5C6-2FA00B349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SQL data-definition language (DDL) allows the specification of information about relations, including: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schema</a:t>
            </a:r>
            <a:r>
              <a:rPr lang="en-US" dirty="0"/>
              <a:t> for each relation.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domain</a:t>
            </a:r>
            <a:r>
              <a:rPr lang="en-US" dirty="0"/>
              <a:t> of each attribute.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Integrity constraints</a:t>
            </a:r>
          </a:p>
          <a:p>
            <a:pPr lvl="1"/>
            <a:r>
              <a:rPr lang="en-US" dirty="0"/>
              <a:t>Other information such as</a:t>
            </a:r>
          </a:p>
          <a:p>
            <a:pPr lvl="2"/>
            <a:r>
              <a:rPr lang="en-US" dirty="0"/>
              <a:t>The set of indices to be maintained for each relations.</a:t>
            </a:r>
          </a:p>
          <a:p>
            <a:pPr lvl="2"/>
            <a:r>
              <a:rPr lang="en-US" dirty="0"/>
              <a:t>Security and authorization information for each relation.</a:t>
            </a:r>
          </a:p>
          <a:p>
            <a:pPr lvl="2"/>
            <a:r>
              <a:rPr lang="en-US" dirty="0"/>
              <a:t>The physical storage structure of each relation on disk.</a:t>
            </a:r>
          </a:p>
        </p:txBody>
      </p:sp>
    </p:spTree>
    <p:extLst>
      <p:ext uri="{BB962C8B-B14F-4D97-AF65-F5344CB8AC3E}">
        <p14:creationId xmlns:p14="http://schemas.microsoft.com/office/powerpoint/2010/main" val="124308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77C1-82D5-6AA0-85A6-E7A17AC0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Creating a Database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DA33C-39EA-139F-990E-DACF42310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73918"/>
          </a:xfrm>
        </p:spPr>
        <p:txBody>
          <a:bodyPr/>
          <a:lstStyle/>
          <a:p>
            <a:r>
              <a:rPr lang="en-US" dirty="0"/>
              <a:t>A database is a collection of tables (relations).</a:t>
            </a:r>
          </a:p>
          <a:p>
            <a:r>
              <a:rPr lang="en-US" dirty="0"/>
              <a:t>Before you can create relations, you need to create a database.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2CAFA-F371-8CF4-45C4-B4803A6E5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357" y="3928836"/>
            <a:ext cx="7772400" cy="94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9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DE13-78A5-0314-9FB4-1F1967333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87333-FB2F-AC5B-3D51-88615F299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specify for each relation:</a:t>
            </a:r>
          </a:p>
          <a:p>
            <a:pPr lvl="1"/>
            <a:r>
              <a:rPr lang="en-US" dirty="0"/>
              <a:t>Relation name</a:t>
            </a:r>
          </a:p>
          <a:p>
            <a:pPr lvl="1"/>
            <a:r>
              <a:rPr lang="en-US" dirty="0"/>
              <a:t>Attributes, domains</a:t>
            </a:r>
          </a:p>
          <a:p>
            <a:pPr lvl="1"/>
            <a:r>
              <a:rPr lang="en-US" dirty="0"/>
              <a:t>Constraints:</a:t>
            </a:r>
          </a:p>
          <a:p>
            <a:pPr lvl="2"/>
            <a:r>
              <a:rPr lang="en-US" dirty="0"/>
              <a:t>Primary key</a:t>
            </a:r>
          </a:p>
          <a:p>
            <a:pPr lvl="2"/>
            <a:r>
              <a:rPr lang="en-US" dirty="0"/>
              <a:t>Foreign key(s)</a:t>
            </a:r>
          </a:p>
          <a:p>
            <a:pPr lvl="2"/>
            <a:r>
              <a:rPr lang="en-US" dirty="0"/>
              <a:t>Null/ not null</a:t>
            </a:r>
          </a:p>
          <a:p>
            <a:pPr lvl="1"/>
            <a:r>
              <a:rPr lang="en-US" dirty="0"/>
              <a:t>There are other things you can specify, but these are the basics</a:t>
            </a:r>
          </a:p>
        </p:txBody>
      </p:sp>
    </p:spTree>
    <p:extLst>
      <p:ext uri="{BB962C8B-B14F-4D97-AF65-F5344CB8AC3E}">
        <p14:creationId xmlns:p14="http://schemas.microsoft.com/office/powerpoint/2010/main" val="159036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0E43-841A-99F0-4977-48D34F3E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MySQL Domain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2520A-E180-8CC5-B17B-D61249C4F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char(n). </a:t>
            </a:r>
            <a:r>
              <a:rPr lang="en-US" dirty="0"/>
              <a:t>Fixed length character string, with user-specified length n</a:t>
            </a:r>
          </a:p>
          <a:p>
            <a:r>
              <a:rPr lang="en-US" dirty="0">
                <a:highlight>
                  <a:srgbClr val="FFFF00"/>
                </a:highlight>
              </a:rPr>
              <a:t>varchar(n)</a:t>
            </a:r>
            <a:r>
              <a:rPr lang="en-US" dirty="0"/>
              <a:t>. Variable length character strings, with user-specified maximum length n</a:t>
            </a:r>
          </a:p>
          <a:p>
            <a:r>
              <a:rPr lang="en-US" dirty="0">
                <a:highlight>
                  <a:srgbClr val="FFFF00"/>
                </a:highlight>
              </a:rPr>
              <a:t>int</a:t>
            </a:r>
            <a:r>
              <a:rPr lang="en-US" dirty="0"/>
              <a:t>. Integer (a finite subset of the integers that is machine-dependent)</a:t>
            </a:r>
          </a:p>
          <a:p>
            <a:r>
              <a:rPr lang="en-US" dirty="0">
                <a:highlight>
                  <a:srgbClr val="FFFF00"/>
                </a:highlight>
              </a:rPr>
              <a:t>decimal(</a:t>
            </a:r>
            <a:r>
              <a:rPr lang="en-US" dirty="0" err="1">
                <a:highlight>
                  <a:srgbClr val="FFFF00"/>
                </a:highlight>
              </a:rPr>
              <a:t>p,d</a:t>
            </a:r>
            <a:r>
              <a:rPr lang="en-US" dirty="0">
                <a:highlight>
                  <a:srgbClr val="FFFF00"/>
                </a:highlight>
              </a:rPr>
              <a:t>)</a:t>
            </a:r>
            <a:r>
              <a:rPr lang="en-US" dirty="0"/>
              <a:t>. Fixed point number, with user-specified precision of p digits, with d digits to the right of decimal point.</a:t>
            </a:r>
          </a:p>
          <a:p>
            <a:r>
              <a:rPr lang="en-US" dirty="0">
                <a:highlight>
                  <a:srgbClr val="FFFF00"/>
                </a:highlight>
              </a:rPr>
              <a:t>date</a:t>
            </a:r>
            <a:r>
              <a:rPr lang="en-US" dirty="0"/>
              <a:t>. a date in YYYY-MM-DD format</a:t>
            </a:r>
          </a:p>
          <a:p>
            <a:r>
              <a:rPr lang="en-US" dirty="0">
                <a:highlight>
                  <a:srgbClr val="FFFF00"/>
                </a:highlight>
              </a:rPr>
              <a:t>time</a:t>
            </a:r>
            <a:r>
              <a:rPr lang="en-US" dirty="0"/>
              <a:t>. stores the time in HH:MM:SS format</a:t>
            </a:r>
          </a:p>
          <a:p>
            <a:r>
              <a:rPr lang="en-US" dirty="0" err="1">
                <a:highlight>
                  <a:srgbClr val="FFFF00"/>
                </a:highlight>
              </a:rPr>
              <a:t>enum</a:t>
            </a:r>
            <a:r>
              <a:rPr lang="en-US" dirty="0"/>
              <a:t>. a list – used for specifying a value can be “A”, “B” or “C”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62AC39-EF26-2B84-65B0-7DFB8F83D56B}"/>
              </a:ext>
            </a:extLst>
          </p:cNvPr>
          <p:cNvSpPr txBox="1"/>
          <p:nvPr/>
        </p:nvSpPr>
        <p:spPr>
          <a:xfrm>
            <a:off x="4499428" y="6308209"/>
            <a:ext cx="2671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there are many more</a:t>
            </a:r>
          </a:p>
        </p:txBody>
      </p:sp>
    </p:spTree>
    <p:extLst>
      <p:ext uri="{BB962C8B-B14F-4D97-AF65-F5344CB8AC3E}">
        <p14:creationId xmlns:p14="http://schemas.microsoft.com/office/powerpoint/2010/main" val="390190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43A6-E71E-4136-D0B2-8937305C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 vs Varchar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FA35E-7A8D-5144-EC91-FFCD4662D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char(10) </a:t>
            </a:r>
            <a:r>
              <a:rPr lang="en-US" dirty="0"/>
              <a:t>– store “cat” – 7 spaces are appended to the string to make it 10 characters long</a:t>
            </a:r>
          </a:p>
          <a:p>
            <a:r>
              <a:rPr lang="en-US" dirty="0">
                <a:highlight>
                  <a:srgbClr val="FFFF00"/>
                </a:highlight>
              </a:rPr>
              <a:t>varchar(10) </a:t>
            </a:r>
            <a:r>
              <a:rPr lang="en-US" dirty="0"/>
              <a:t>– “cat” is stored as 3 characters.</a:t>
            </a:r>
          </a:p>
        </p:txBody>
      </p:sp>
    </p:spTree>
    <p:extLst>
      <p:ext uri="{BB962C8B-B14F-4D97-AF65-F5344CB8AC3E}">
        <p14:creationId xmlns:p14="http://schemas.microsoft.com/office/powerpoint/2010/main" val="8111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E543-09B3-4F32-94A3-A85E62F1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39CA6-16BF-B6EF-C894-B786F60EC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Always use varchar </a:t>
            </a:r>
            <a:r>
              <a:rPr lang="en-US" dirty="0"/>
              <a:t>unless you are certain that the data will always be X characters in length. </a:t>
            </a:r>
          </a:p>
          <a:p>
            <a:r>
              <a:rPr lang="en-US" dirty="0"/>
              <a:t>Saves space in storage– however, causes some minimal overhead in the system</a:t>
            </a:r>
          </a:p>
          <a:p>
            <a:pPr lvl="1"/>
            <a:r>
              <a:rPr lang="en-US" dirty="0"/>
              <a:t>“cat” changed to “elephant” – may need to move the record as it no longer fits in the space that was originally allocated</a:t>
            </a:r>
          </a:p>
        </p:txBody>
      </p:sp>
    </p:spTree>
    <p:extLst>
      <p:ext uri="{BB962C8B-B14F-4D97-AF65-F5344CB8AC3E}">
        <p14:creationId xmlns:p14="http://schemas.microsoft.com/office/powerpoint/2010/main" val="164980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A4EAB-C6C2-1DED-19B8-D16CF784C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Diagram for University Database</a:t>
            </a:r>
          </a:p>
        </p:txBody>
      </p:sp>
      <p:pic>
        <p:nvPicPr>
          <p:cNvPr id="5" name="Content Placeholder 4" descr="A diagram of a student course&#10;&#10;AI-generated content may be incorrect.">
            <a:extLst>
              <a:ext uri="{FF2B5EF4-FFF2-40B4-BE49-F238E27FC236}">
                <a16:creationId xmlns:a16="http://schemas.microsoft.com/office/drawing/2014/main" id="{C74FB4CD-3210-AE98-36C1-CAF96F952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205" y="1357792"/>
            <a:ext cx="8979589" cy="5393883"/>
          </a:xfrm>
        </p:spPr>
      </p:pic>
    </p:spTree>
    <p:extLst>
      <p:ext uri="{BB962C8B-B14F-4D97-AF65-F5344CB8AC3E}">
        <p14:creationId xmlns:p14="http://schemas.microsoft.com/office/powerpoint/2010/main" val="283117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BF16-AD64-21DB-7BF1-55506A5C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A6CAE-47A8-B2F1-22EE-0DB1777AF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XAMPP and try these by yourself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CBB9A7-3B16-F246-84B9-E4DFD1F46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568238"/>
            <a:ext cx="9419104" cy="36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6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CC00-D96C-3F45-D716-E61CEECC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Basic Create Table Statement</a:t>
            </a:r>
            <a:endParaRPr lang="en-US" dirty="0"/>
          </a:p>
        </p:txBody>
      </p:sp>
      <p:pic>
        <p:nvPicPr>
          <p:cNvPr id="5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202B736-4458-3418-9A9E-F85970F83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5270" y="1472542"/>
            <a:ext cx="6235700" cy="2540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163048-A96E-4DEF-2311-2B7E6DD9E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074766"/>
            <a:ext cx="7772400" cy="62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BCAC-714F-E6CF-1F84-8239D837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70897-7D38-AEB7-8586-51392E841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Integrity constraints ensure changes made to a database do not result in data inconsistency</a:t>
            </a:r>
          </a:p>
          <a:p>
            <a:r>
              <a:rPr lang="en-US" dirty="0"/>
              <a:t>Eg:</a:t>
            </a:r>
          </a:p>
          <a:p>
            <a:pPr lvl="1"/>
            <a:r>
              <a:rPr lang="en-US" dirty="0"/>
              <a:t>Not null</a:t>
            </a:r>
          </a:p>
          <a:p>
            <a:pPr lvl="1"/>
            <a:r>
              <a:rPr lang="en-US" dirty="0"/>
              <a:t>Primary key (A)</a:t>
            </a:r>
          </a:p>
          <a:p>
            <a:pPr lvl="1"/>
            <a:r>
              <a:rPr lang="en-US" dirty="0"/>
              <a:t>Foreign key (B) references T(C)</a:t>
            </a:r>
          </a:p>
        </p:txBody>
      </p:sp>
    </p:spTree>
    <p:extLst>
      <p:ext uri="{BB962C8B-B14F-4D97-AF65-F5344CB8AC3E}">
        <p14:creationId xmlns:p14="http://schemas.microsoft.com/office/powerpoint/2010/main" val="64307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CE7F-B320-4067-E181-68A3BF7B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EE52-1377-8EC9-D771-19511E18D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 Constraints</a:t>
            </a:r>
          </a:p>
        </p:txBody>
      </p:sp>
      <p:pic>
        <p:nvPicPr>
          <p:cNvPr id="5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A64786F-8114-C855-14CA-C4999BD8D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528423"/>
            <a:ext cx="8991600" cy="2565400"/>
          </a:xfr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E7A7958-0B81-1761-408D-7506EA58E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093823"/>
            <a:ext cx="7772400" cy="27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9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9132-B48B-4A7E-D7E5-FE8B9AF7A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Integrity Constraints – find the error!</a:t>
            </a:r>
            <a:endParaRPr lang="en-US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DADF9C7-7DEA-78BD-A46D-B1627CEAC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340" y="1526540"/>
            <a:ext cx="7772400" cy="2187441"/>
          </a:xfrm>
          <a:prstGeom prst="rect">
            <a:avLst/>
          </a:prstGeom>
        </p:spPr>
      </p:pic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222EB4B-B5CB-6090-FBBA-BD6C8D267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016492"/>
            <a:ext cx="7772400" cy="262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0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22DAF-F09C-4C22-0499-286E8C07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0C36-FD1F-A896-1123-C4ED5F31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Integrity Constraints – find the error!</a:t>
            </a:r>
            <a:endParaRPr lang="en-US" dirty="0"/>
          </a:p>
        </p:txBody>
      </p:sp>
      <p:pic>
        <p:nvPicPr>
          <p:cNvPr id="4" name="Picture 3" descr="A close-up of a text&#10;&#10;AI-generated content may be incorrect.">
            <a:extLst>
              <a:ext uri="{FF2B5EF4-FFF2-40B4-BE49-F238E27FC236}">
                <a16:creationId xmlns:a16="http://schemas.microsoft.com/office/drawing/2014/main" id="{B67A39A7-4613-7DA8-9D6D-79D5B7C73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690688"/>
            <a:ext cx="5203190" cy="2291033"/>
          </a:xfrm>
          <a:prstGeom prst="rect">
            <a:avLst/>
          </a:prstGeom>
        </p:spPr>
      </p:pic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676E9E2-1D67-12E4-52C8-4B43E63E6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920" y="4113372"/>
            <a:ext cx="7772400" cy="274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7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5FA9A-50A3-A711-E521-70811B26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AF3C9-ECE6-846F-A4FC-2F7C33153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defining a foreign key, the referenced table must already exist</a:t>
            </a:r>
          </a:p>
          <a:p>
            <a:r>
              <a:rPr lang="en-US" dirty="0"/>
              <a:t>if this is not possible, you may need to create the table without the foreign key and use an "</a:t>
            </a:r>
            <a:r>
              <a:rPr lang="en-US" dirty="0">
                <a:highlight>
                  <a:srgbClr val="FFFF00"/>
                </a:highlight>
              </a:rPr>
              <a:t>alter table</a:t>
            </a:r>
            <a:r>
              <a:rPr lang="en-US" dirty="0"/>
              <a:t>" statement to add the foreign key later.</a:t>
            </a:r>
          </a:p>
        </p:txBody>
      </p:sp>
    </p:spTree>
    <p:extLst>
      <p:ext uri="{BB962C8B-B14F-4D97-AF65-F5344CB8AC3E}">
        <p14:creationId xmlns:p14="http://schemas.microsoft.com/office/powerpoint/2010/main" val="260333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BE956-3E8F-13DE-9E99-BD0902EE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36781A7-8997-06CC-1DCB-A8CACE545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68230"/>
            <a:ext cx="7772400" cy="4321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B919C8-8145-DC42-3353-A1C52B10F852}"/>
              </a:ext>
            </a:extLst>
          </p:cNvPr>
          <p:cNvSpPr txBox="1"/>
          <p:nvPr/>
        </p:nvSpPr>
        <p:spPr>
          <a:xfrm>
            <a:off x="2109000" y="5950858"/>
            <a:ext cx="810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alter table </a:t>
            </a:r>
            <a:r>
              <a:rPr lang="en-US" dirty="0"/>
              <a:t>instructor add foreign key (dept) references department (</a:t>
            </a:r>
            <a:r>
              <a:rPr lang="en-US" dirty="0" err="1"/>
              <a:t>dept_name</a:t>
            </a:r>
            <a:r>
              <a:rPr 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42177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4E0D4-5C36-A521-7DBE-BB7AE1D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Keys – on delete cascade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798774-170B-CDD8-216E-FAD0C60D7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7500" y="1280773"/>
            <a:ext cx="9017000" cy="32639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80F52C-70B8-D4E4-2688-AE56CA724565}"/>
              </a:ext>
            </a:extLst>
          </p:cNvPr>
          <p:cNvSpPr txBox="1"/>
          <p:nvPr/>
        </p:nvSpPr>
        <p:spPr>
          <a:xfrm>
            <a:off x="1587500" y="5090989"/>
            <a:ext cx="8833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on delete </a:t>
            </a:r>
            <a:r>
              <a:rPr lang="en-US" dirty="0"/>
              <a:t>specifies what happens to the tuples in instructor if the referenced tuple is deleted.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cascade</a:t>
            </a:r>
            <a:r>
              <a:rPr lang="en-US" dirty="0"/>
              <a:t> – the child tuple is deleted (so, if the associated department for an instructor is deleted, all instructors associated with that dept are also deleted</a:t>
            </a:r>
          </a:p>
        </p:txBody>
      </p:sp>
    </p:spTree>
    <p:extLst>
      <p:ext uri="{BB962C8B-B14F-4D97-AF65-F5344CB8AC3E}">
        <p14:creationId xmlns:p14="http://schemas.microsoft.com/office/powerpoint/2010/main" val="357769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2A656222-2707-85E8-3701-7FD5D637F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1152" y="368784"/>
            <a:ext cx="5742754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DEE79D-5AEA-D399-A139-A8FCE80BEE6F}"/>
              </a:ext>
            </a:extLst>
          </p:cNvPr>
          <p:cNvSpPr txBox="1"/>
          <p:nvPr/>
        </p:nvSpPr>
        <p:spPr>
          <a:xfrm>
            <a:off x="1317356" y="5532895"/>
            <a:ext cx="9858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</a:t>
            </a:r>
            <a:r>
              <a:rPr lang="en-US" dirty="0" err="1"/>
              <a:t>eg.</a:t>
            </a:r>
            <a:r>
              <a:rPr lang="en-US" dirty="0"/>
              <a:t> if student 333 is deleted from Students, all records for student 333 in grades are also deleted</a:t>
            </a:r>
          </a:p>
        </p:txBody>
      </p:sp>
    </p:spTree>
    <p:extLst>
      <p:ext uri="{BB962C8B-B14F-4D97-AF65-F5344CB8AC3E}">
        <p14:creationId xmlns:p14="http://schemas.microsoft.com/office/powerpoint/2010/main" val="225654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9B38-786C-8BD9-9045-639CFF4C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Keys – on delete set null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AAC7805-91C8-0BC5-39CE-BD6FE0FCC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8450" y="1690688"/>
            <a:ext cx="9055100" cy="31242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FB769-6888-BD49-FBBB-30CDB0DB87E1}"/>
              </a:ext>
            </a:extLst>
          </p:cNvPr>
          <p:cNvSpPr txBox="1"/>
          <p:nvPr/>
        </p:nvSpPr>
        <p:spPr>
          <a:xfrm>
            <a:off x="1346200" y="5587999"/>
            <a:ext cx="972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on delete </a:t>
            </a:r>
            <a:r>
              <a:rPr lang="en-US" dirty="0"/>
              <a:t>specifies what happens to the tuples in instructor if the referenced tuple is deleted:</a:t>
            </a:r>
          </a:p>
          <a:p>
            <a:r>
              <a:rPr lang="en-US" dirty="0">
                <a:highlight>
                  <a:srgbClr val="FFFF00"/>
                </a:highlight>
              </a:rPr>
              <a:t>set null </a:t>
            </a:r>
            <a:r>
              <a:rPr lang="en-US" dirty="0"/>
              <a:t>– the child tuple’s department value is set to null. So, if the department is deleted from the department table, the instructor remains, but has “null” for the 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196441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with green and white text&#10;&#10;AI-generated content may be incorrect.">
            <a:extLst>
              <a:ext uri="{FF2B5EF4-FFF2-40B4-BE49-F238E27FC236}">
                <a16:creationId xmlns:a16="http://schemas.microsoft.com/office/drawing/2014/main" id="{393E8F4F-73B5-AEC7-59A3-A19D6BA80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8958" y="120811"/>
            <a:ext cx="6326110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B1338F-4EB8-354E-A523-B4FE882A84D5}"/>
              </a:ext>
            </a:extLst>
          </p:cNvPr>
          <p:cNvSpPr txBox="1"/>
          <p:nvPr/>
        </p:nvSpPr>
        <p:spPr>
          <a:xfrm>
            <a:off x="2712203" y="5315919"/>
            <a:ext cx="6466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</a:t>
            </a:r>
            <a:r>
              <a:rPr lang="en-US" dirty="0" err="1"/>
              <a:t>eg.</a:t>
            </a:r>
            <a:r>
              <a:rPr lang="en-US" dirty="0"/>
              <a:t> if a department is deleted, the Dept No will be set to NULL</a:t>
            </a:r>
          </a:p>
        </p:txBody>
      </p:sp>
    </p:spTree>
    <p:extLst>
      <p:ext uri="{BB962C8B-B14F-4D97-AF65-F5344CB8AC3E}">
        <p14:creationId xmlns:p14="http://schemas.microsoft.com/office/powerpoint/2010/main" val="251184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E91F-FA7D-B1AD-34DB-8516F2DBA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Keys – on delete restrict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E4F570B-9BB0-7817-1202-752E18C71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1150" y="1465599"/>
            <a:ext cx="9029700" cy="3149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837050-0E91-3295-5313-50F837A1F46F}"/>
              </a:ext>
            </a:extLst>
          </p:cNvPr>
          <p:cNvSpPr txBox="1"/>
          <p:nvPr/>
        </p:nvSpPr>
        <p:spPr>
          <a:xfrm>
            <a:off x="2035444" y="5115508"/>
            <a:ext cx="8121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on delete </a:t>
            </a:r>
            <a:r>
              <a:rPr lang="en-US" dirty="0"/>
              <a:t>specifies what happens to the tuples in instructor if the referenced tuple is deleted:</a:t>
            </a:r>
          </a:p>
          <a:p>
            <a:r>
              <a:rPr lang="en-US" dirty="0">
                <a:highlight>
                  <a:srgbClr val="FFFF00"/>
                </a:highlight>
              </a:rPr>
              <a:t>restrict</a:t>
            </a:r>
            <a:r>
              <a:rPr lang="en-US" dirty="0"/>
              <a:t> – the deletion of the department will be rejected if there are instructors that are associated with that department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F433A-9C9E-2B7D-D275-A6A59F3C53A9}"/>
              </a:ext>
            </a:extLst>
          </p:cNvPr>
          <p:cNvSpPr txBox="1"/>
          <p:nvPr/>
        </p:nvSpPr>
        <p:spPr>
          <a:xfrm>
            <a:off x="3751351" y="6315837"/>
            <a:ext cx="468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default if no constraint is specified.</a:t>
            </a:r>
          </a:p>
        </p:txBody>
      </p:sp>
    </p:spTree>
    <p:extLst>
      <p:ext uri="{BB962C8B-B14F-4D97-AF65-F5344CB8AC3E}">
        <p14:creationId xmlns:p14="http://schemas.microsoft.com/office/powerpoint/2010/main" val="137068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with numbers and a number&#10;&#10;AI-generated content may be incorrect.">
            <a:extLst>
              <a:ext uri="{FF2B5EF4-FFF2-40B4-BE49-F238E27FC236}">
                <a16:creationId xmlns:a16="http://schemas.microsoft.com/office/drawing/2014/main" id="{C4FE687D-E697-5087-7FDF-EF54E8F9B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1804" y="136310"/>
            <a:ext cx="5658425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B991CF-4696-B904-7384-3F78C3B1D03F}"/>
              </a:ext>
            </a:extLst>
          </p:cNvPr>
          <p:cNvSpPr txBox="1"/>
          <p:nvPr/>
        </p:nvSpPr>
        <p:spPr>
          <a:xfrm>
            <a:off x="1038386" y="5501899"/>
            <a:ext cx="10561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r>
              <a:rPr lang="en-US" dirty="0" err="1"/>
              <a:t>eg</a:t>
            </a:r>
            <a:r>
              <a:rPr lang="en-US" dirty="0"/>
              <a:t> Students 333 and 777 cannot be deleted from Students as there are rows referencing them in Grades.</a:t>
            </a:r>
          </a:p>
        </p:txBody>
      </p:sp>
    </p:spTree>
    <p:extLst>
      <p:ext uri="{BB962C8B-B14F-4D97-AF65-F5344CB8AC3E}">
        <p14:creationId xmlns:p14="http://schemas.microsoft.com/office/powerpoint/2010/main" val="363236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DFDA2-B2DC-3584-DE2E-C679A604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B4CAD-A584-AAF4-5FB2-AEAAC1948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addition to “on delete”, you can also specify the same types of actions for “</a:t>
            </a:r>
            <a:r>
              <a:rPr lang="en-US" dirty="0">
                <a:highlight>
                  <a:srgbClr val="FFFF00"/>
                </a:highlight>
              </a:rPr>
              <a:t>on update</a:t>
            </a:r>
            <a:r>
              <a:rPr lang="en-US" dirty="0"/>
              <a:t>”.</a:t>
            </a:r>
          </a:p>
          <a:p>
            <a:r>
              <a:rPr lang="en-US" dirty="0"/>
              <a:t>On update cascade:</a:t>
            </a:r>
          </a:p>
          <a:p>
            <a:pPr lvl="1"/>
            <a:r>
              <a:rPr lang="en-US" dirty="0"/>
              <a:t>if a department name is changed in the referenced table, it is also changed in the referencing table. </a:t>
            </a:r>
          </a:p>
        </p:txBody>
      </p:sp>
    </p:spTree>
    <p:extLst>
      <p:ext uri="{BB962C8B-B14F-4D97-AF65-F5344CB8AC3E}">
        <p14:creationId xmlns:p14="http://schemas.microsoft.com/office/powerpoint/2010/main" val="211167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4270-DD18-B7F2-47BD-BBBDA6912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3AD17-7F08-13D6-F4C4-4EC64D857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no constraint is specified for “on delete” or “on update”, any deletions or updates are </a:t>
            </a:r>
            <a:r>
              <a:rPr lang="en-US" dirty="0">
                <a:highlight>
                  <a:srgbClr val="FFFF00"/>
                </a:highlight>
              </a:rPr>
              <a:t>rejected</a:t>
            </a:r>
            <a:r>
              <a:rPr lang="en-US" dirty="0"/>
              <a:t> if there is a referencing tuple</a:t>
            </a:r>
          </a:p>
        </p:txBody>
      </p:sp>
    </p:spTree>
    <p:extLst>
      <p:ext uri="{BB962C8B-B14F-4D97-AF65-F5344CB8AC3E}">
        <p14:creationId xmlns:p14="http://schemas.microsoft.com/office/powerpoint/2010/main" val="1988757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8BE1A-7D3F-FB2B-5AB4-9100A477D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 and Alter Table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00E0C-234A-87AC-26C3-C2195A605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Drop table student</a:t>
            </a:r>
          </a:p>
          <a:p>
            <a:pPr lvl="1"/>
            <a:r>
              <a:rPr lang="en-US" dirty="0"/>
              <a:t>Before: student(id, name, dept)</a:t>
            </a:r>
          </a:p>
          <a:p>
            <a:pPr lvl="1"/>
            <a:r>
              <a:rPr lang="en-US" dirty="0"/>
              <a:t>After: ‘no longer exists)</a:t>
            </a:r>
          </a:p>
          <a:p>
            <a:r>
              <a:rPr lang="en-US" dirty="0">
                <a:highlight>
                  <a:srgbClr val="FFFF00"/>
                </a:highlight>
              </a:rPr>
              <a:t>Delete from student</a:t>
            </a:r>
          </a:p>
          <a:p>
            <a:pPr lvl="1"/>
            <a:r>
              <a:rPr lang="en-US" dirty="0"/>
              <a:t>Before: </a:t>
            </a:r>
          </a:p>
        </p:txBody>
      </p:sp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7D11E5DE-F8B3-2442-0265-360629B98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583" y="3625420"/>
            <a:ext cx="2019300" cy="1993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2C1C7B-AF0C-1F3E-7DDA-E7C71905DCC6}"/>
              </a:ext>
            </a:extLst>
          </p:cNvPr>
          <p:cNvSpPr txBox="1"/>
          <p:nvPr/>
        </p:nvSpPr>
        <p:spPr>
          <a:xfrm>
            <a:off x="1260997" y="6176963"/>
            <a:ext cx="370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After: empty table, but it’s still there</a:t>
            </a:r>
          </a:p>
        </p:txBody>
      </p:sp>
    </p:spTree>
    <p:extLst>
      <p:ext uri="{BB962C8B-B14F-4D97-AF65-F5344CB8AC3E}">
        <p14:creationId xmlns:p14="http://schemas.microsoft.com/office/powerpoint/2010/main" val="249489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8EA0-2EC0-AA8E-D049-201E8270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 Table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08BB2-573E-2B83-26CE-2D593E398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Alter table r ADD A D</a:t>
            </a:r>
          </a:p>
          <a:p>
            <a:pPr lvl="1"/>
            <a:r>
              <a:rPr lang="en-US" dirty="0"/>
              <a:t>Ex: ALTER TABLE student ADD email VARCHAR(50);</a:t>
            </a:r>
          </a:p>
          <a:p>
            <a:pPr lvl="1"/>
            <a:r>
              <a:rPr lang="en-US" dirty="0"/>
              <a:t>Before: student(id, name)</a:t>
            </a:r>
          </a:p>
          <a:p>
            <a:pPr lvl="1"/>
            <a:r>
              <a:rPr lang="en-US" dirty="0"/>
              <a:t>After: student(id, name, email)</a:t>
            </a:r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DF1D59-F770-3622-55D6-916F42D95F03}"/>
              </a:ext>
            </a:extLst>
          </p:cNvPr>
          <p:cNvSpPr txBox="1">
            <a:spLocks/>
          </p:cNvSpPr>
          <p:nvPr/>
        </p:nvSpPr>
        <p:spPr>
          <a:xfrm>
            <a:off x="838200" y="3915313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ighlight>
                  <a:srgbClr val="FFFF00"/>
                </a:highlight>
              </a:rPr>
              <a:t>Alter table r DROP A </a:t>
            </a:r>
          </a:p>
          <a:p>
            <a:pPr lvl="1"/>
            <a:r>
              <a:rPr lang="en-US" dirty="0"/>
              <a:t>Ex: ALTER TABLE student DROP email;</a:t>
            </a:r>
          </a:p>
          <a:p>
            <a:pPr lvl="1"/>
            <a:r>
              <a:rPr lang="en-US" dirty="0"/>
              <a:t>Before: student(id, name, email)</a:t>
            </a:r>
          </a:p>
          <a:p>
            <a:pPr lvl="1"/>
            <a:r>
              <a:rPr lang="en-US" dirty="0"/>
              <a:t>After: student(id, name)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58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3A59-7AE8-9226-D0A6-6C434875C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D56014D-7C5A-C71E-3803-F17C533DC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557" y="1318998"/>
            <a:ext cx="7412885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97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3EC5-7C46-ED85-D04E-3E91D117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CB32-E1CD-144B-530F-250F1E39F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56222" cy="4351338"/>
          </a:xfrm>
        </p:spPr>
        <p:txBody>
          <a:bodyPr/>
          <a:lstStyle/>
          <a:p>
            <a:r>
              <a:rPr lang="en-US" dirty="0"/>
              <a:t>SQL scripts</a:t>
            </a:r>
          </a:p>
          <a:p>
            <a:r>
              <a:rPr lang="en-US" dirty="0"/>
              <a:t>DO NOT COPY AND PASTE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61445B2-1CEE-5EEB-EC24-8A4514C6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154" y="262324"/>
            <a:ext cx="4292600" cy="6273800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B2440E5-252C-DC75-986B-DAEF90DA1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482" y="3674591"/>
            <a:ext cx="3645935" cy="263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0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1167</Words>
  <Application>Microsoft Macintosh PowerPoint</Application>
  <PresentationFormat>Widescreen</PresentationFormat>
  <Paragraphs>126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Intro to DDL: Data Definition Language</vt:lpstr>
      <vt:lpstr>Integrity Constraints</vt:lpstr>
      <vt:lpstr>MariaDB</vt:lpstr>
      <vt:lpstr>History</vt:lpstr>
      <vt:lpstr>SQL </vt:lpstr>
      <vt:lpstr>Data Definition Language – DDL</vt:lpstr>
      <vt:lpstr>Creating a Database</vt:lpstr>
      <vt:lpstr>Creating Relations</vt:lpstr>
      <vt:lpstr>Basic MySQL Domain Types</vt:lpstr>
      <vt:lpstr>Char vs Varchar</vt:lpstr>
      <vt:lpstr>Recommendation</vt:lpstr>
      <vt:lpstr>Schema Diagram for University Database</vt:lpstr>
      <vt:lpstr>Recommendation</vt:lpstr>
      <vt:lpstr>Basic Create Table Statement</vt:lpstr>
      <vt:lpstr>Integrity Constraints</vt:lpstr>
      <vt:lpstr>Integrity Constraints</vt:lpstr>
      <vt:lpstr>Integrity Constraints – find the error!</vt:lpstr>
      <vt:lpstr>Integrity Constraints – find the error!</vt:lpstr>
      <vt:lpstr>Foreign Keys</vt:lpstr>
      <vt:lpstr>Example</vt:lpstr>
      <vt:lpstr>Foreign Keys – on delete cascade</vt:lpstr>
      <vt:lpstr>PowerPoint Presentation</vt:lpstr>
      <vt:lpstr>Foreign Keys – on delete set null</vt:lpstr>
      <vt:lpstr>PowerPoint Presentation</vt:lpstr>
      <vt:lpstr>Foreign Keys – on delete restrict</vt:lpstr>
      <vt:lpstr>PowerPoint Presentation</vt:lpstr>
      <vt:lpstr>Other Constraints</vt:lpstr>
      <vt:lpstr>Defaults</vt:lpstr>
      <vt:lpstr>Drop and Alter Table Constructs</vt:lpstr>
      <vt:lpstr>Alter Table Constructs</vt:lpstr>
      <vt:lpstr>What’s next</vt:lpstr>
      <vt:lpstr>What’s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5</cp:revision>
  <dcterms:created xsi:type="dcterms:W3CDTF">2026-01-29T23:25:04Z</dcterms:created>
  <dcterms:modified xsi:type="dcterms:W3CDTF">2026-01-30T12:20:27Z</dcterms:modified>
</cp:coreProperties>
</file>