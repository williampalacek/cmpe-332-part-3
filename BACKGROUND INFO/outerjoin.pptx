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5" r:id="rId9"/>
    <p:sldId id="266" r:id="rId10"/>
    <p:sldId id="267" r:id="rId11"/>
    <p:sldId id="268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0"/>
  </p:normalViewPr>
  <p:slideViewPr>
    <p:cSldViewPr snapToGrid="0">
      <p:cViewPr varScale="1">
        <p:scale>
          <a:sx n="102" d="100"/>
          <a:sy n="102" d="100"/>
        </p:scale>
        <p:origin x="2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718A-35A7-E976-879F-2A9B0C4E8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306DB-A27D-A5BF-A129-8E89BE417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51C33-8D24-4CEE-071E-1CA14C19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EF887-7253-1943-AEEA-927266A9BB73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BD007-E128-C8CE-6608-E326C85D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CF664-F057-F823-6978-835D6302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8930-05B4-EE44-B243-AD0442BAD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00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7A14-8C5A-EF9A-1B7B-9A582F8E4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E776F-5182-2FB1-74B3-F013F5B87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4FA50-5F51-27A9-2C89-74A401808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EF887-7253-1943-AEEA-927266A9BB73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281CC-53CC-7E67-588B-1D534DD03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C2EFE-524C-890D-5D90-47317E3BB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8930-05B4-EE44-B243-AD0442BAD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45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917E-4A50-00B8-008B-B64A4A19E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4711-9EE9-9C55-6B69-574E2D1F6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F96FC-BD15-9CA4-5B8B-9A304001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EF887-7253-1943-AEEA-927266A9BB73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F167D-1879-3ED7-4065-0CBEE720E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8213D-EC32-C36C-7E4F-1CC45E6DC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8930-05B4-EE44-B243-AD0442BAD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1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78D1-9001-7A0C-09B8-AA5F4FEBD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C29F6-C788-21BD-4079-C59FFD2A6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02A26-AAB1-5C49-AEA2-CFC76986E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1EA4B-0922-E7CA-652B-44AF53E1D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EF887-7253-1943-AEEA-927266A9BB73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FE91E-5AAC-0085-8FA8-943393E14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A9D50-4128-DA49-8D4C-DF721A4ED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8930-05B4-EE44-B243-AD0442BAD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58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F24B-3978-7A40-E8C7-93420527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21484-252E-BABC-2C9A-29D9E9820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DFEF8-E76D-367C-4E02-92C981F70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56B9D0-115A-29C1-1553-13A1E8F04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C7269-18AF-6949-769F-E18B2C60F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33419-3AFC-2DDB-CB29-862B16F4A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EF887-7253-1943-AEEA-927266A9BB73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FB3EC8-3A04-03C9-0C48-B34C869F7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09D51B-618A-E968-415E-40247D4CC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8930-05B4-EE44-B243-AD0442BAD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31A16-9887-FB8A-C9AF-4909D789E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140E40-4AE2-E364-992E-686B9198A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EF887-7253-1943-AEEA-927266A9BB73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0326AD-4192-879C-CD14-2D2FE1AF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0BB5BF-3026-3A96-23AA-5AFE8F73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8930-05B4-EE44-B243-AD0442BAD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14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A0E01B-3A44-F4FE-429A-489E5B202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EF887-7253-1943-AEEA-927266A9BB73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68C2EC-D678-EA73-DEE3-A4F1C852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7F0C3-0735-01D8-080B-88074930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8930-05B4-EE44-B243-AD0442BAD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38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FCA18-E14C-BE59-F107-EE9938A6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50574-E8B9-EB1B-DD62-9E4EC9D73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A56FC-C895-FD58-198E-C7260D1DA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BCAB1-7AFE-9980-6F4C-8C8A9D9D3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EF887-7253-1943-AEEA-927266A9BB73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6FBB2-ADAB-D235-A76E-B48A3E212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0D446-BEBD-0BC2-CD6F-F2471C6BB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8930-05B4-EE44-B243-AD0442BAD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3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47DA-B820-F75C-6F95-7C208DC7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81882F-05A9-E75A-7D7A-0097E0C219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823D1-A73E-9FF1-1C8F-F8686A50D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70310-55CF-6519-4EB5-D23A06A2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EF887-7253-1943-AEEA-927266A9BB73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B4584-834D-D4FB-0105-6912D78B4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E942B-F824-2D46-583B-00FE50C4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8930-05B4-EE44-B243-AD0442BAD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0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25D48-9BF2-7B14-9EDD-92607E49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046C5-8B8C-AE0C-B2EB-6AF4C4D7A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7C5E0-1758-83E8-688A-897A3533B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EF887-7253-1943-AEEA-927266A9BB73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B6123-DBA3-037F-5D02-8B67955B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64365-2E72-771E-9A78-55D03DD1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8930-05B4-EE44-B243-AD0442BAD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19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A8338-768D-3EA0-A9CA-69997EB841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F64B1C-2CB6-5613-943E-AB046013E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B6E59-1DFA-C1B9-9E51-916310EEA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EF887-7253-1943-AEEA-927266A9BB73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9AB29-ACF5-E844-17AB-C895E3AF9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A36B0-0564-2438-AF5F-E259B555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D8930-05B4-EE44-B243-AD0442BAD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8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1E0791-B1F1-0F61-2D16-D5D07993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50091-3986-0A75-1F1E-11C3868C5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676D4-62A0-A847-DC18-D549BBB66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EF887-7253-1943-AEEA-927266A9BB73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6617C-130B-0020-8533-FC25AF98B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7DEB5-26DB-C93E-AFA4-D2B7B2EF7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D8930-05B4-EE44-B243-AD0442BAD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92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C6EF1-1BA9-769A-9309-43FACD6447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Outer Join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E24C2-CCED-6E74-9869-EE13593EFE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Kazi Amit Hasan</a:t>
            </a:r>
          </a:p>
        </p:txBody>
      </p:sp>
    </p:spTree>
    <p:extLst>
      <p:ext uri="{BB962C8B-B14F-4D97-AF65-F5344CB8AC3E}">
        <p14:creationId xmlns:p14="http://schemas.microsoft.com/office/powerpoint/2010/main" val="639234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A09B1-716B-092E-0FB9-4D5FE558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8F764-5C37-888B-8C58-1B0697CED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includes </a:t>
            </a:r>
            <a:r>
              <a:rPr lang="en-US" dirty="0">
                <a:highlight>
                  <a:srgbClr val="FFFF00"/>
                </a:highlight>
              </a:rPr>
              <a:t>unmatched</a:t>
            </a:r>
            <a:r>
              <a:rPr lang="en-US" dirty="0"/>
              <a:t> rows of one of the tables, or of both tables</a:t>
            </a:r>
          </a:p>
          <a:p>
            <a:r>
              <a:rPr lang="en-US" dirty="0"/>
              <a:t>Matching is based on the </a:t>
            </a:r>
            <a:r>
              <a:rPr lang="en-US" dirty="0">
                <a:highlight>
                  <a:srgbClr val="FFFF00"/>
                </a:highlight>
              </a:rPr>
              <a:t>join condition</a:t>
            </a:r>
          </a:p>
          <a:p>
            <a:r>
              <a:rPr lang="en-US" dirty="0"/>
              <a:t>Use </a:t>
            </a:r>
            <a:r>
              <a:rPr lang="en-US" dirty="0">
                <a:highlight>
                  <a:srgbClr val="FFFF00"/>
                </a:highlight>
              </a:rPr>
              <a:t>null values</a:t>
            </a:r>
          </a:p>
          <a:p>
            <a:pPr lvl="1"/>
            <a:r>
              <a:rPr lang="en-US" dirty="0"/>
              <a:t>Null signifies that the value is unknown or does not exist</a:t>
            </a:r>
          </a:p>
          <a:p>
            <a:r>
              <a:rPr lang="en-US" dirty="0"/>
              <a:t>Types of Outer Join:</a:t>
            </a:r>
          </a:p>
          <a:p>
            <a:pPr lvl="1"/>
            <a:r>
              <a:rPr lang="en-US" dirty="0"/>
              <a:t>Left Outer Join</a:t>
            </a:r>
          </a:p>
          <a:p>
            <a:pPr lvl="1"/>
            <a:r>
              <a:rPr lang="en-US" dirty="0"/>
              <a:t>Right Outer Join</a:t>
            </a:r>
          </a:p>
          <a:p>
            <a:pPr lvl="1"/>
            <a:r>
              <a:rPr lang="en-US" dirty="0"/>
              <a:t>Full Outer Join</a:t>
            </a:r>
          </a:p>
          <a:p>
            <a:endParaRPr lang="en-US" dirty="0"/>
          </a:p>
        </p:txBody>
      </p:sp>
      <p:pic>
        <p:nvPicPr>
          <p:cNvPr id="5" name="Picture 4" descr="A black square and rectangle with a square and a square in the middle&#10;&#10;AI-generated content may be incorrect.">
            <a:extLst>
              <a:ext uri="{FF2B5EF4-FFF2-40B4-BE49-F238E27FC236}">
                <a16:creationId xmlns:a16="http://schemas.microsoft.com/office/drawing/2014/main" id="{BC1722CD-3803-41C0-3B35-4928EC438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338" y="4521461"/>
            <a:ext cx="571500" cy="442104"/>
          </a:xfrm>
          <a:prstGeom prst="rect">
            <a:avLst/>
          </a:prstGeom>
        </p:spPr>
      </p:pic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80745B7F-BE6D-7AE1-92D4-12BB11761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338" y="4963565"/>
            <a:ext cx="571500" cy="482600"/>
          </a:xfrm>
          <a:prstGeom prst="rect">
            <a:avLst/>
          </a:prstGeom>
        </p:spPr>
      </p:pic>
      <p:pic>
        <p:nvPicPr>
          <p:cNvPr id="9" name="Picture 8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307EF152-5B63-3053-6503-9F9724BEF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838" y="5446165"/>
            <a:ext cx="6350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44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name tag&#10;&#10;AI-generated content may be incorrect.">
            <a:extLst>
              <a:ext uri="{FF2B5EF4-FFF2-40B4-BE49-F238E27FC236}">
                <a16:creationId xmlns:a16="http://schemas.microsoft.com/office/drawing/2014/main" id="{8CC5CFCF-AF4C-0D46-1D58-9114B992EE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730" y="1397000"/>
            <a:ext cx="6121400" cy="2032000"/>
          </a:xfrm>
        </p:spPr>
      </p:pic>
      <p:pic>
        <p:nvPicPr>
          <p:cNvPr id="7" name="Picture 6" descr="A green and black label with black text&#10;&#10;AI-generated content may be incorrect.">
            <a:extLst>
              <a:ext uri="{FF2B5EF4-FFF2-40B4-BE49-F238E27FC236}">
                <a16:creationId xmlns:a16="http://schemas.microsoft.com/office/drawing/2014/main" id="{74A1ABD0-3653-82DF-19D2-D5A34DF4D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588" y="1397000"/>
            <a:ext cx="4445000" cy="2133600"/>
          </a:xfrm>
          <a:prstGeom prst="rect">
            <a:avLst/>
          </a:prstGeom>
        </p:spPr>
      </p:pic>
      <p:pic>
        <p:nvPicPr>
          <p:cNvPr id="9" name="Picture 8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275D101C-9500-9783-866F-0B983E557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698" y="5248580"/>
            <a:ext cx="4102100" cy="584200"/>
          </a:xfrm>
          <a:prstGeom prst="rect">
            <a:avLst/>
          </a:prstGeom>
        </p:spPr>
      </p:pic>
      <p:pic>
        <p:nvPicPr>
          <p:cNvPr id="11" name="Picture 10" descr="A close-up of a word&#10;&#10;AI-generated content may be incorrect.">
            <a:extLst>
              <a:ext uri="{FF2B5EF4-FFF2-40B4-BE49-F238E27FC236}">
                <a16:creationId xmlns:a16="http://schemas.microsoft.com/office/drawing/2014/main" id="{E7DAB222-8B7E-9F60-A78E-8FBF449A1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452" y="5191430"/>
            <a:ext cx="35560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2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D9F3C-A27A-4080-4ABC-70D8B0EB6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name tag&#10;&#10;AI-generated content may be incorrect.">
            <a:extLst>
              <a:ext uri="{FF2B5EF4-FFF2-40B4-BE49-F238E27FC236}">
                <a16:creationId xmlns:a16="http://schemas.microsoft.com/office/drawing/2014/main" id="{68D856D6-FDD2-7C3E-ABA1-CCCFD0C686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048" y="204517"/>
            <a:ext cx="6121400" cy="2032000"/>
          </a:xfrm>
        </p:spPr>
      </p:pic>
      <p:pic>
        <p:nvPicPr>
          <p:cNvPr id="7" name="Picture 6" descr="A green and black label with black text&#10;&#10;AI-generated content may be incorrect.">
            <a:extLst>
              <a:ext uri="{FF2B5EF4-FFF2-40B4-BE49-F238E27FC236}">
                <a16:creationId xmlns:a16="http://schemas.microsoft.com/office/drawing/2014/main" id="{0BDB625E-113D-D703-5EEB-FF354568F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53" y="153717"/>
            <a:ext cx="4445000" cy="2133600"/>
          </a:xfrm>
          <a:prstGeom prst="rect">
            <a:avLst/>
          </a:prstGeom>
        </p:spPr>
      </p:pic>
      <p:pic>
        <p:nvPicPr>
          <p:cNvPr id="9" name="Picture 8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4056653D-1851-77FF-2BFF-C082AA73E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698" y="2287317"/>
            <a:ext cx="4102100" cy="584200"/>
          </a:xfrm>
          <a:prstGeom prst="rect">
            <a:avLst/>
          </a:prstGeom>
        </p:spPr>
      </p:pic>
      <p:pic>
        <p:nvPicPr>
          <p:cNvPr id="11" name="Picture 10" descr="A close-up of a word&#10;&#10;AI-generated content may be incorrect.">
            <a:extLst>
              <a:ext uri="{FF2B5EF4-FFF2-40B4-BE49-F238E27FC236}">
                <a16:creationId xmlns:a16="http://schemas.microsoft.com/office/drawing/2014/main" id="{973A45AF-C899-502F-7E8D-C0D6F58B1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6562" y="2287317"/>
            <a:ext cx="3556000" cy="698500"/>
          </a:xfrm>
          <a:prstGeom prst="rect">
            <a:avLst/>
          </a:prstGeom>
        </p:spPr>
      </p:pic>
      <p:pic>
        <p:nvPicPr>
          <p:cNvPr id="8" name="Picture 7" descr="A close-up of a name&#10;&#10;AI-generated content may be incorrect.">
            <a:extLst>
              <a:ext uri="{FF2B5EF4-FFF2-40B4-BE49-F238E27FC236}">
                <a16:creationId xmlns:a16="http://schemas.microsoft.com/office/drawing/2014/main" id="{6882AE96-11B4-15DB-6A25-071697FAB1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3986484"/>
            <a:ext cx="7772400" cy="18857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65A048-C139-5FA9-61A2-A4DA0B563A21}"/>
              </a:ext>
            </a:extLst>
          </p:cNvPr>
          <p:cNvSpPr txBox="1"/>
          <p:nvPr/>
        </p:nvSpPr>
        <p:spPr>
          <a:xfrm>
            <a:off x="5010871" y="3301485"/>
            <a:ext cx="2180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Perform natural join </a:t>
            </a:r>
          </a:p>
        </p:txBody>
      </p:sp>
    </p:spTree>
    <p:extLst>
      <p:ext uri="{BB962C8B-B14F-4D97-AF65-F5344CB8AC3E}">
        <p14:creationId xmlns:p14="http://schemas.microsoft.com/office/powerpoint/2010/main" val="393573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878CF-04DA-C82B-60DB-D171A4DA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name tag&#10;&#10;AI-generated content may be incorrect.">
            <a:extLst>
              <a:ext uri="{FF2B5EF4-FFF2-40B4-BE49-F238E27FC236}">
                <a16:creationId xmlns:a16="http://schemas.microsoft.com/office/drawing/2014/main" id="{6EBC1905-FD2A-A934-DEA6-8A07BFAA9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048" y="204517"/>
            <a:ext cx="6121400" cy="2032000"/>
          </a:xfrm>
        </p:spPr>
      </p:pic>
      <p:pic>
        <p:nvPicPr>
          <p:cNvPr id="7" name="Picture 6" descr="A green and black label with black text&#10;&#10;AI-generated content may be incorrect.">
            <a:extLst>
              <a:ext uri="{FF2B5EF4-FFF2-40B4-BE49-F238E27FC236}">
                <a16:creationId xmlns:a16="http://schemas.microsoft.com/office/drawing/2014/main" id="{0DD75055-4B9E-88C4-4906-812EFCB4C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53" y="153717"/>
            <a:ext cx="4445000" cy="2133600"/>
          </a:xfrm>
          <a:prstGeom prst="rect">
            <a:avLst/>
          </a:prstGeom>
        </p:spPr>
      </p:pic>
      <p:pic>
        <p:nvPicPr>
          <p:cNvPr id="9" name="Picture 8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BCCB74E5-2473-B1F9-8ACC-2CFE6B202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698" y="2287317"/>
            <a:ext cx="4102100" cy="584200"/>
          </a:xfrm>
          <a:prstGeom prst="rect">
            <a:avLst/>
          </a:prstGeom>
        </p:spPr>
      </p:pic>
      <p:pic>
        <p:nvPicPr>
          <p:cNvPr id="11" name="Picture 10" descr="A close-up of a word&#10;&#10;AI-generated content may be incorrect.">
            <a:extLst>
              <a:ext uri="{FF2B5EF4-FFF2-40B4-BE49-F238E27FC236}">
                <a16:creationId xmlns:a16="http://schemas.microsoft.com/office/drawing/2014/main" id="{2E373362-BF77-4758-690B-3961F7251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6562" y="2287317"/>
            <a:ext cx="3556000" cy="698500"/>
          </a:xfrm>
          <a:prstGeom prst="rect">
            <a:avLst/>
          </a:prstGeom>
        </p:spPr>
      </p:pic>
      <p:pic>
        <p:nvPicPr>
          <p:cNvPr id="4" name="Picture 3" descr="A close-up of a computer&#10;&#10;AI-generated content may be incorrect.">
            <a:extLst>
              <a:ext uri="{FF2B5EF4-FFF2-40B4-BE49-F238E27FC236}">
                <a16:creationId xmlns:a16="http://schemas.microsoft.com/office/drawing/2014/main" id="{F2D36441-B415-DB8F-4B36-C31AE48D9C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8704" y="4169561"/>
            <a:ext cx="7772400" cy="253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2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0A86D-2B48-6BDA-C139-58C2BF23B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name tag&#10;&#10;AI-generated content may be incorrect.">
            <a:extLst>
              <a:ext uri="{FF2B5EF4-FFF2-40B4-BE49-F238E27FC236}">
                <a16:creationId xmlns:a16="http://schemas.microsoft.com/office/drawing/2014/main" id="{68A36DE1-E9EF-2835-D349-B27726F1E1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048" y="204517"/>
            <a:ext cx="6121400" cy="2032000"/>
          </a:xfrm>
        </p:spPr>
      </p:pic>
      <p:pic>
        <p:nvPicPr>
          <p:cNvPr id="7" name="Picture 6" descr="A green and black label with black text&#10;&#10;AI-generated content may be incorrect.">
            <a:extLst>
              <a:ext uri="{FF2B5EF4-FFF2-40B4-BE49-F238E27FC236}">
                <a16:creationId xmlns:a16="http://schemas.microsoft.com/office/drawing/2014/main" id="{9736593A-D2FC-5C9C-A5A9-EF594BDAB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53" y="153717"/>
            <a:ext cx="4445000" cy="2133600"/>
          </a:xfrm>
          <a:prstGeom prst="rect">
            <a:avLst/>
          </a:prstGeom>
        </p:spPr>
      </p:pic>
      <p:pic>
        <p:nvPicPr>
          <p:cNvPr id="9" name="Picture 8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2309DA2D-2902-7158-14BC-05BC2F5AE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698" y="2287317"/>
            <a:ext cx="4102100" cy="584200"/>
          </a:xfrm>
          <a:prstGeom prst="rect">
            <a:avLst/>
          </a:prstGeom>
        </p:spPr>
      </p:pic>
      <p:pic>
        <p:nvPicPr>
          <p:cNvPr id="11" name="Picture 10" descr="A close-up of a word&#10;&#10;AI-generated content may be incorrect.">
            <a:extLst>
              <a:ext uri="{FF2B5EF4-FFF2-40B4-BE49-F238E27FC236}">
                <a16:creationId xmlns:a16="http://schemas.microsoft.com/office/drawing/2014/main" id="{9ECAA948-64EC-1A74-3126-5C34CD03F1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6562" y="2287317"/>
            <a:ext cx="3556000" cy="698500"/>
          </a:xfrm>
          <a:prstGeom prst="rect">
            <a:avLst/>
          </a:prstGeom>
        </p:spPr>
      </p:pic>
      <p:pic>
        <p:nvPicPr>
          <p:cNvPr id="3" name="Picture 2" descr="A green box with black text&#10;&#10;AI-generated content may be incorrect.">
            <a:extLst>
              <a:ext uri="{FF2B5EF4-FFF2-40B4-BE49-F238E27FC236}">
                <a16:creationId xmlns:a16="http://schemas.microsoft.com/office/drawing/2014/main" id="{8F8A83C0-543C-995C-E536-046D6A821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3882080"/>
            <a:ext cx="7772400" cy="247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1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903B6-783B-83FD-BD90-D38C4E363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lose-up of a name tag&#10;&#10;AI-generated content may be incorrect.">
            <a:extLst>
              <a:ext uri="{FF2B5EF4-FFF2-40B4-BE49-F238E27FC236}">
                <a16:creationId xmlns:a16="http://schemas.microsoft.com/office/drawing/2014/main" id="{CE026D38-F0BE-DF4C-4A77-8615E7F21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048" y="204517"/>
            <a:ext cx="6121400" cy="2032000"/>
          </a:xfrm>
        </p:spPr>
      </p:pic>
      <p:pic>
        <p:nvPicPr>
          <p:cNvPr id="7" name="Picture 6" descr="A green and black label with black text&#10;&#10;AI-generated content may be incorrect.">
            <a:extLst>
              <a:ext uri="{FF2B5EF4-FFF2-40B4-BE49-F238E27FC236}">
                <a16:creationId xmlns:a16="http://schemas.microsoft.com/office/drawing/2014/main" id="{30F5512F-1AAE-F07E-072D-7F95913AB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53" y="153717"/>
            <a:ext cx="4445000" cy="2133600"/>
          </a:xfrm>
          <a:prstGeom prst="rect">
            <a:avLst/>
          </a:prstGeom>
        </p:spPr>
      </p:pic>
      <p:pic>
        <p:nvPicPr>
          <p:cNvPr id="9" name="Picture 8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9F73FF1B-541E-5B30-3DBF-4261D6B22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698" y="2287317"/>
            <a:ext cx="4102100" cy="584200"/>
          </a:xfrm>
          <a:prstGeom prst="rect">
            <a:avLst/>
          </a:prstGeom>
        </p:spPr>
      </p:pic>
      <p:pic>
        <p:nvPicPr>
          <p:cNvPr id="11" name="Picture 10" descr="A close-up of a word&#10;&#10;AI-generated content may be incorrect.">
            <a:extLst>
              <a:ext uri="{FF2B5EF4-FFF2-40B4-BE49-F238E27FC236}">
                <a16:creationId xmlns:a16="http://schemas.microsoft.com/office/drawing/2014/main" id="{C49ACDE2-D8FE-546B-2AC6-C2D80B664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6562" y="2287317"/>
            <a:ext cx="3556000" cy="698500"/>
          </a:xfrm>
          <a:prstGeom prst="rect">
            <a:avLst/>
          </a:prstGeom>
        </p:spPr>
      </p:pic>
      <p:pic>
        <p:nvPicPr>
          <p:cNvPr id="4" name="Picture 3" descr="A close-up of a chart&#10;&#10;AI-generated content may be incorrect.">
            <a:extLst>
              <a:ext uri="{FF2B5EF4-FFF2-40B4-BE49-F238E27FC236}">
                <a16:creationId xmlns:a16="http://schemas.microsoft.com/office/drawing/2014/main" id="{65FA1F5B-4693-F2F7-A311-5574805769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3357459"/>
            <a:ext cx="7772400" cy="329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9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D593F-D912-A96A-8174-FFBC2565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Functions and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7584E-E4A4-4EC1-8D30-4658B60D1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844"/>
            <a:ext cx="10515600" cy="4351338"/>
          </a:xfrm>
        </p:spPr>
        <p:txBody>
          <a:bodyPr/>
          <a:lstStyle/>
          <a:p>
            <a:r>
              <a:rPr lang="en-US" dirty="0"/>
              <a:t>Aggregation function takes a collection of values and returns a single value as a result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6F25476-3AEB-5CA8-D710-83AEB3BD3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431" y="2267212"/>
            <a:ext cx="3005562" cy="1574914"/>
          </a:xfrm>
          <a:prstGeom prst="rect">
            <a:avLst/>
          </a:prstGeom>
        </p:spPr>
      </p:pic>
      <p:pic>
        <p:nvPicPr>
          <p:cNvPr id="7" name="Picture 6" descr="A black and white text&#10;&#10;AI-generated content may be incorrect.">
            <a:extLst>
              <a:ext uri="{FF2B5EF4-FFF2-40B4-BE49-F238E27FC236}">
                <a16:creationId xmlns:a16="http://schemas.microsoft.com/office/drawing/2014/main" id="{EE8E8566-51C9-9382-19BE-FC4727697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912" y="4140200"/>
            <a:ext cx="76708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43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A6C77-93C4-0DD5-317F-CCD0D2B3E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Operation</a:t>
            </a:r>
          </a:p>
        </p:txBody>
      </p:sp>
      <p:pic>
        <p:nvPicPr>
          <p:cNvPr id="5" name="Content Placeholder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D5C9147-4B11-1DA9-162C-D33DB34496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659" y="1690688"/>
            <a:ext cx="4326569" cy="2068001"/>
          </a:xfrm>
        </p:spPr>
      </p:pic>
      <p:pic>
        <p:nvPicPr>
          <p:cNvPr id="7" name="Picture 6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8150438D-16E1-FB5E-4B69-4F9FDD080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334" y="4329112"/>
            <a:ext cx="6015016" cy="136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17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525791-743E-CD5D-BFCC-85863BB249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849" y="276692"/>
            <a:ext cx="8724900" cy="889000"/>
          </a:xfrm>
        </p:spPr>
      </p:pic>
      <p:pic>
        <p:nvPicPr>
          <p:cNvPr id="7" name="Picture 6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CCF11E13-9178-30B0-C6D0-CA1EBF150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415" y="1165692"/>
            <a:ext cx="5372100" cy="4813300"/>
          </a:xfrm>
          <a:prstGeom prst="rect">
            <a:avLst/>
          </a:prstGeom>
        </p:spPr>
      </p:pic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D57F386-3A89-1A44-8A37-B34835EA7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415" y="2315042"/>
            <a:ext cx="4038600" cy="838200"/>
          </a:xfrm>
          <a:prstGeom prst="rect">
            <a:avLst/>
          </a:prstGeom>
        </p:spPr>
      </p:pic>
      <p:pic>
        <p:nvPicPr>
          <p:cNvPr id="11" name="Picture 10" descr="A blue rectangular sign with black text&#10;&#10;AI-generated content may be incorrect.">
            <a:extLst>
              <a:ext uri="{FF2B5EF4-FFF2-40B4-BE49-F238E27FC236}">
                <a16:creationId xmlns:a16="http://schemas.microsoft.com/office/drawing/2014/main" id="{56411D98-3FF1-26FD-FD4E-92EB9F2B09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5007" y="3858092"/>
            <a:ext cx="15113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7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F72F4-039F-0B86-4370-668F28D99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BFE13-297D-4574-FEC0-34BB38361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 of aggregation </a:t>
            </a:r>
            <a:r>
              <a:rPr lang="en-US" dirty="0">
                <a:highlight>
                  <a:srgbClr val="FFFF00"/>
                </a:highlight>
              </a:rPr>
              <a:t>does not have a name</a:t>
            </a:r>
          </a:p>
          <a:p>
            <a:pPr lvl="1"/>
            <a:r>
              <a:rPr lang="en-US" dirty="0"/>
              <a:t>Can use </a:t>
            </a:r>
            <a:r>
              <a:rPr lang="en-US" dirty="0">
                <a:highlight>
                  <a:srgbClr val="FFFF00"/>
                </a:highlight>
              </a:rPr>
              <a:t>rename operation</a:t>
            </a:r>
            <a:r>
              <a:rPr lang="en-US" dirty="0"/>
              <a:t> to give it a name</a:t>
            </a:r>
          </a:p>
          <a:p>
            <a:pPr lvl="1"/>
            <a:r>
              <a:rPr lang="en-US" dirty="0"/>
              <a:t>For convenience, we permit renaming as part of aggregate operation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72BC13E-A61C-19A7-06E0-0A7E5D42A8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47"/>
          <a:stretch>
            <a:fillRect/>
          </a:stretch>
        </p:blipFill>
        <p:spPr>
          <a:xfrm>
            <a:off x="3419605" y="4001294"/>
            <a:ext cx="4615058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43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47099-4588-FF65-0B00-7A6A71AB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practice for final 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88FCF-30E9-8C54-61F1-3DD90242D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Book</a:t>
            </a:r>
            <a:r>
              <a:rPr lang="en-US" dirty="0"/>
              <a:t>: Database system concepts by Silberschatz (6</a:t>
            </a:r>
            <a:r>
              <a:rPr lang="en-US" baseline="30000" dirty="0"/>
              <a:t>th</a:t>
            </a:r>
            <a:r>
              <a:rPr lang="en-US" dirty="0"/>
              <a:t> edition)</a:t>
            </a:r>
          </a:p>
          <a:p>
            <a:pPr lvl="1"/>
            <a:r>
              <a:rPr lang="en-US" dirty="0"/>
              <a:t>6.1, 6.2, 6.8, 6.10, 6.11, 6.12, 6.14, 6.15, </a:t>
            </a:r>
          </a:p>
        </p:txBody>
      </p:sp>
    </p:spTree>
    <p:extLst>
      <p:ext uri="{BB962C8B-B14F-4D97-AF65-F5344CB8AC3E}">
        <p14:creationId xmlns:p14="http://schemas.microsoft.com/office/powerpoint/2010/main" val="177053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146</Words>
  <Application>Microsoft Macintosh PowerPoint</Application>
  <PresentationFormat>Widescreen</PresentationFormat>
  <Paragraphs>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Outer Join</vt:lpstr>
      <vt:lpstr>Outer Join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Aggregate Functions and Operations</vt:lpstr>
      <vt:lpstr>Aggregate Operation</vt:lpstr>
      <vt:lpstr>PowerPoint Presentation</vt:lpstr>
      <vt:lpstr>Aggregate Operation</vt:lpstr>
      <vt:lpstr>Recommended practice for final exam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 Amit Hasan</dc:creator>
  <cp:lastModifiedBy>Kazi Amit Hasan</cp:lastModifiedBy>
  <cp:revision>2</cp:revision>
  <dcterms:created xsi:type="dcterms:W3CDTF">2026-02-09T00:27:04Z</dcterms:created>
  <dcterms:modified xsi:type="dcterms:W3CDTF">2026-02-09T02:38:45Z</dcterms:modified>
</cp:coreProperties>
</file>