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01"/>
    <p:restoredTop sz="94692"/>
  </p:normalViewPr>
  <p:slideViewPr>
    <p:cSldViewPr snapToGrid="0">
      <p:cViewPr varScale="1">
        <p:scale>
          <a:sx n="136" d="100"/>
          <a:sy n="136" d="100"/>
        </p:scale>
        <p:origin x="24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2A45-B429-55E6-B67A-9F3FBD4E1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D0E05-4DB5-1B30-16E9-56F631169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84F2-90A4-EB44-E248-0CADA20D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54D3A-D1C9-DD70-6EBE-F9152014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34FCA-78D5-8585-4A80-38E1D57A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25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3B10-FF66-3535-D614-73086BE3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4A6C-96F7-F5E4-7422-92591D0D3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56B50-EA33-4480-905A-92EEAFEF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0E6A5-CBF7-CFDA-958F-360374750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3C326-B9F9-4CFA-A5DF-035BF879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22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F5E5-DEEF-A180-0EA4-24DC2AE24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41F45-F900-059C-1C0F-46FAA9F6D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0612-E637-5653-C934-C287BB5D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03C48-2F34-4377-B64C-8BFFFE5A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36F6E-B081-3B0B-0C1E-4A3C40AD6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49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D4BA-0DB2-0AD1-B85D-81C466D9A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11388-A4B7-7109-37EA-880C586BB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79E9C-13D0-DC3A-BD29-82EA40214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E31B2-FA16-C3D7-63BC-61762142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96C27-A05F-74D9-E64D-66F85C1F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8D1B0-A2B0-E4E7-1EA7-7E412B88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5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5111-2EDC-4A9E-4D33-20C3A47F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F014C-9D50-2248-1A3B-E9A795651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CF253-5ACF-8FA7-3FCB-32D9A870F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2FC24-4847-3E99-39A3-031BB088D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41A41-D33A-C087-37E6-C11270381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F0D80-CFEC-C98E-171E-4E4CE8AD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74F4C-D655-C4E3-6AA0-7B7B94C9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D5887A-B25D-CF53-B503-F86CE886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03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7E7B8-F481-3CE5-B7D8-CBE01725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2FE76-67A5-D59A-8089-EFA62B38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48E41-AF5C-28DC-393E-2DBF6E1A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255EF-B467-C7D2-9653-47ACB40C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9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33E00-4B85-F277-E336-44C60DC4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CA165-8B42-0A31-7B0C-4D527E3E6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6EE1F-F2F3-034C-7FB6-3764A235B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4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30FE-200C-392C-7FD2-D83687AC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1199-9A89-F64E-901B-763812D76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0FE57-1BCD-E801-FEEF-62E1065E8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42464-AE1B-9395-2324-B743936E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0651A-A178-A529-72C7-A09440AE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9AB64-871E-FAAC-3530-71C299C54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1F5A-DCEA-1843-0A3F-295D8747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C1200-C3CA-F97B-832E-6F4283195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1D9B1-06B2-5422-2383-E3569F154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AF095-EC7A-D49F-B1DD-BC12D20A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6DCED-91D5-7CC3-C9E4-8B2AC0B75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247D9-C883-6FC6-A3D8-CC4F9271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9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A07C-E4F6-DA2A-4B40-3FF66E671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80D1F-9C54-9747-1A1A-A442CED24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6ED0C-6281-46AE-0BAE-486F654D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40334-24D5-46A4-9E9A-C39E438D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14C68-5DE1-BB58-5259-776F1A09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0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041BD-8A21-BFEC-0198-B58D860F0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6E4EF-8B42-BEBE-CB06-057EF7477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33780-8786-5DA2-42C8-12C0BBFD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EC293-C181-9048-FB73-8143FAAC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C99E9-9326-4BC8-E7A5-30282F65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117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8E9B4-EA68-A2DD-9806-650F2DD1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62DBF-B8FD-BD5B-68F9-0D0778D9D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DDB0B-1FD5-A63B-A771-3EA1DA532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CB3DB-E7EB-D64D-910B-4173EC8788F6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F70C9-E745-60DB-FAA4-CFE05B5C2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68575-291B-EB90-0924-8C659C567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B94ED-8FCE-B847-B3B4-291626C96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4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A5F8F-F08F-C0FE-B4FB-0065180EB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EED6F-159B-079B-B7C6-E23C10118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414673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4055-6CB2-6AF5-2D39-186F6A12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By/Aggregate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7BF4-679F-3C16-EB92-0F01E9746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GROUP BY statement is </a:t>
            </a:r>
            <a:r>
              <a:rPr lang="en-US" dirty="0">
                <a:highlight>
                  <a:srgbClr val="FFFF00"/>
                </a:highlight>
              </a:rPr>
              <a:t>used to group rows</a:t>
            </a:r>
            <a:r>
              <a:rPr lang="en-US" dirty="0"/>
              <a:t> that have the same values</a:t>
            </a:r>
          </a:p>
          <a:p>
            <a:r>
              <a:rPr lang="en-US" dirty="0"/>
              <a:t>The GROUP BY statement is almost always used in conjunction with </a:t>
            </a:r>
            <a:r>
              <a:rPr lang="en-US" dirty="0">
                <a:highlight>
                  <a:srgbClr val="FFFF00"/>
                </a:highlight>
              </a:rPr>
              <a:t>aggregate functions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like COUNT(), </a:t>
            </a:r>
          </a:p>
          <a:p>
            <a:pPr lvl="1"/>
            <a:r>
              <a:rPr lang="en-US" dirty="0"/>
              <a:t>MAX(), MIN(), </a:t>
            </a:r>
          </a:p>
          <a:p>
            <a:pPr lvl="1"/>
            <a:r>
              <a:rPr lang="en-US" dirty="0"/>
              <a:t>SUM(), AVG(), to perform calculations on each group.</a:t>
            </a:r>
          </a:p>
        </p:txBody>
      </p:sp>
    </p:spTree>
    <p:extLst>
      <p:ext uri="{BB962C8B-B14F-4D97-AF65-F5344CB8AC3E}">
        <p14:creationId xmlns:p14="http://schemas.microsoft.com/office/powerpoint/2010/main" val="900744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F0E5-6660-BD21-90A6-CAFD4DAF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By/Aggregate Function</a:t>
            </a:r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B6B751F-1BC3-7345-ECBD-D4E7816068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2272" y="1957636"/>
            <a:ext cx="6794500" cy="17399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8A88A2-1814-B031-910C-EA3F15B412E0}"/>
              </a:ext>
            </a:extLst>
          </p:cNvPr>
          <p:cNvSpPr txBox="1"/>
          <p:nvPr/>
        </p:nvSpPr>
        <p:spPr>
          <a:xfrm>
            <a:off x="3033300" y="4326341"/>
            <a:ext cx="636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the number of students who took each course (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</p:txBody>
      </p:sp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98E6E0-9BE3-2686-6ACD-FB9300ABB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158" y="4988461"/>
            <a:ext cx="4381984" cy="150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81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F738-7A7B-46E1-9FE7-914BAD349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711BF-3EA4-CB82-FB73-A493FECB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By/Aggregate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E6148-10DE-8C6F-46BA-BE6916015514}"/>
              </a:ext>
            </a:extLst>
          </p:cNvPr>
          <p:cNvSpPr txBox="1"/>
          <p:nvPr/>
        </p:nvSpPr>
        <p:spPr>
          <a:xfrm>
            <a:off x="851848" y="1506022"/>
            <a:ext cx="636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the number of students who took each course (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</p:txBody>
      </p:sp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FE31A7E-85EA-217B-08F5-D8CAFF61F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10" y="5234121"/>
            <a:ext cx="4381984" cy="1504414"/>
          </a:xfrm>
          <a:prstGeom prst="rect">
            <a:avLst/>
          </a:prstGeom>
        </p:spPr>
      </p:pic>
      <p:pic>
        <p:nvPicPr>
          <p:cNvPr id="11" name="Picture 10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1FE92F9C-C962-7513-BE6F-B7FE77E3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943" y="2255499"/>
            <a:ext cx="4830110" cy="2598477"/>
          </a:xfrm>
          <a:prstGeom prst="rect">
            <a:avLst/>
          </a:prstGeom>
        </p:spPr>
      </p:pic>
      <p:pic>
        <p:nvPicPr>
          <p:cNvPr id="13" name="Picture 12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60079E2B-8EF2-BE9D-02A9-06C994B2D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006" y="3429000"/>
            <a:ext cx="4650380" cy="126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8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0CC94-6041-246C-CB9C-D90CA8843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– Group By</a:t>
            </a:r>
          </a:p>
        </p:txBody>
      </p:sp>
      <p:pic>
        <p:nvPicPr>
          <p:cNvPr id="5" name="Content Placeholder 4" descr="A table of numbers and numbers&#10;&#10;AI-generated content may be incorrect.">
            <a:extLst>
              <a:ext uri="{FF2B5EF4-FFF2-40B4-BE49-F238E27FC236}">
                <a16:creationId xmlns:a16="http://schemas.microsoft.com/office/drawing/2014/main" id="{D3950184-76C1-CCFC-FD53-8E7665803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377" y="1690688"/>
            <a:ext cx="4807526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6F4C00-1D4C-4452-C96F-F230060B1F3C}"/>
              </a:ext>
            </a:extLst>
          </p:cNvPr>
          <p:cNvSpPr txBox="1"/>
          <p:nvPr/>
        </p:nvSpPr>
        <p:spPr>
          <a:xfrm>
            <a:off x="6091452" y="5672694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 the average salary of instructors in each department</a:t>
            </a:r>
          </a:p>
        </p:txBody>
      </p:sp>
      <p:pic>
        <p:nvPicPr>
          <p:cNvPr id="10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7CDFAF0-FCB9-1A93-3247-F6E79418F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452" y="2693318"/>
            <a:ext cx="5745838" cy="147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778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3344-4716-DEA5-F9BD-ED23C581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84BD-D9ED-E780-15DA-92F4E1CB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average salary of instructors in each department</a:t>
            </a:r>
          </a:p>
        </p:txBody>
      </p:sp>
      <p:pic>
        <p:nvPicPr>
          <p:cNvPr id="5" name="Content Placeholder 4" descr="A table of numbers and numbers&#10;&#10;AI-generated content may be incorrect.">
            <a:extLst>
              <a:ext uri="{FF2B5EF4-FFF2-40B4-BE49-F238E27FC236}">
                <a16:creationId xmlns:a16="http://schemas.microsoft.com/office/drawing/2014/main" id="{E2A0CE65-632B-F2BE-B3B0-BCFC05CDE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377" y="1690688"/>
            <a:ext cx="4807526" cy="4351338"/>
          </a:xfrm>
        </p:spPr>
      </p:pic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1F7E8B1-4DC2-CF16-9F21-A2EE11BDD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463" y="3548062"/>
            <a:ext cx="3949700" cy="3238500"/>
          </a:xfrm>
          <a:prstGeom prst="rect">
            <a:avLst/>
          </a:prstGeom>
        </p:spPr>
      </p:pic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C91E193-7E8B-C5FD-01C5-CFB9143BF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327" y="1690688"/>
            <a:ext cx="6108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0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9DC9-CBCF-06C9-0915-C822E055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39582-7E22-9DB0-9B8A-10CC890CB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Attributes in select clause outside of aggregate functions must appear in group by list</a:t>
            </a:r>
          </a:p>
        </p:txBody>
      </p:sp>
      <p:pic>
        <p:nvPicPr>
          <p:cNvPr id="5" name="Picture 4" descr="A close-up of a name&#10;&#10;AI-generated content may be incorrect.">
            <a:extLst>
              <a:ext uri="{FF2B5EF4-FFF2-40B4-BE49-F238E27FC236}">
                <a16:creationId xmlns:a16="http://schemas.microsoft.com/office/drawing/2014/main" id="{97E91BD0-F769-4E6A-58D7-3A53CB409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3429000"/>
            <a:ext cx="4584700" cy="13462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B12BF6-1D0B-69CB-0FDA-F9D5FE89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28" y="2405063"/>
            <a:ext cx="4152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48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5985-5B76-25AC-E0A8-5A12AA54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</a:t>
            </a:r>
          </a:p>
        </p:txBody>
      </p:sp>
      <p:pic>
        <p:nvPicPr>
          <p:cNvPr id="5" name="Content Placeholder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B515846-5013-99A1-8171-DC2DE445B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526" y="2134868"/>
            <a:ext cx="3492500" cy="1003300"/>
          </a:xfrm>
        </p:spPr>
      </p:pic>
      <p:pic>
        <p:nvPicPr>
          <p:cNvPr id="7" name="Picture 6" descr="A close up of a number&#10;&#10;AI-generated content may be incorrect.">
            <a:extLst>
              <a:ext uri="{FF2B5EF4-FFF2-40B4-BE49-F238E27FC236}">
                <a16:creationId xmlns:a16="http://schemas.microsoft.com/office/drawing/2014/main" id="{6B39580A-8FA4-AD2C-E302-3216F360A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14" y="2312668"/>
            <a:ext cx="3022600" cy="825500"/>
          </a:xfrm>
          <a:prstGeom prst="rect">
            <a:avLst/>
          </a:prstGeom>
        </p:spPr>
      </p:pic>
      <p:pic>
        <p:nvPicPr>
          <p:cNvPr id="9" name="Picture 8" descr="A close-up of a name&#10;&#10;AI-generated content may be incorrect.">
            <a:extLst>
              <a:ext uri="{FF2B5EF4-FFF2-40B4-BE49-F238E27FC236}">
                <a16:creationId xmlns:a16="http://schemas.microsoft.com/office/drawing/2014/main" id="{041CA2D6-DDF1-0DE6-EFF3-0053C3CE2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640" y="4432963"/>
            <a:ext cx="3683000" cy="14859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10E11F-667C-8041-EB6E-6BA6A5363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814" y="3243049"/>
            <a:ext cx="1651000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CFCB73-DC35-835C-12AA-590053B565F1}"/>
              </a:ext>
            </a:extLst>
          </p:cNvPr>
          <p:cNvSpPr txBox="1"/>
          <p:nvPr/>
        </p:nvSpPr>
        <p:spPr>
          <a:xfrm>
            <a:off x="838200" y="1589613"/>
            <a:ext cx="5827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Find the name of the instructor making the most money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0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36F7B-4842-4EA8-50CA-A06AA3D7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3905-DAD0-B6D5-5D84-81D8DE6E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all students’ id as well as the total number of courses they have taken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E18879-B329-622B-80D7-DC03A8574F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891" y="1690688"/>
            <a:ext cx="4526211" cy="2021006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C0A3D6BE-3015-C977-C549-5D3BF5AE3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340" y="1690688"/>
            <a:ext cx="4025901" cy="2092409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7EF09C3-E70C-F48B-B66F-DF65A7C56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70076"/>
            <a:ext cx="3747448" cy="1163255"/>
          </a:xfrm>
          <a:prstGeom prst="rect">
            <a:avLst/>
          </a:prstGeom>
        </p:spPr>
      </p:pic>
      <p:pic>
        <p:nvPicPr>
          <p:cNvPr id="4" name="Picture 3" descr="A screenshot of a course&#10;&#10;AI-generated content may be incorrect.">
            <a:extLst>
              <a:ext uri="{FF2B5EF4-FFF2-40B4-BE49-F238E27FC236}">
                <a16:creationId xmlns:a16="http://schemas.microsoft.com/office/drawing/2014/main" id="{EE3A87D9-794F-9C31-04E2-58B78404B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372744"/>
            <a:ext cx="5621266" cy="2120131"/>
          </a:xfrm>
          <a:prstGeom prst="rect">
            <a:avLst/>
          </a:prstGeom>
        </p:spPr>
      </p:pic>
      <p:pic>
        <p:nvPicPr>
          <p:cNvPr id="8" name="Picture 7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6BFB1E82-62CC-8069-0F15-5C4317216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591714"/>
            <a:ext cx="2936543" cy="90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5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A3A0-393A-70E5-9918-09DA56E5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all students’ id and </a:t>
            </a:r>
            <a:r>
              <a:rPr lang="en-US" b="1" dirty="0"/>
              <a:t>name </a:t>
            </a:r>
            <a:r>
              <a:rPr lang="en-US" dirty="0"/>
              <a:t>as well as the total number of courses they have taken.</a:t>
            </a:r>
          </a:p>
        </p:txBody>
      </p:sp>
      <p:pic>
        <p:nvPicPr>
          <p:cNvPr id="5" name="Content Placeholder 4" descr="A close-up of a text&#10;&#10;AI-generated content may be incorrect.">
            <a:extLst>
              <a:ext uri="{FF2B5EF4-FFF2-40B4-BE49-F238E27FC236}">
                <a16:creationId xmlns:a16="http://schemas.microsoft.com/office/drawing/2014/main" id="{75D48039-2557-7647-C736-7F988A2EC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9950" y="2909094"/>
            <a:ext cx="7912100" cy="2184400"/>
          </a:xfrm>
        </p:spPr>
      </p:pic>
    </p:spTree>
    <p:extLst>
      <p:ext uri="{BB962C8B-B14F-4D97-AF65-F5344CB8AC3E}">
        <p14:creationId xmlns:p14="http://schemas.microsoft.com/office/powerpoint/2010/main" val="1051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6491-AFF3-4FAE-D15B-FD28F269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– Incorrect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DC25F-28AB-C31A-C19D-410104B4C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10148"/>
          </a:xfrm>
        </p:spPr>
        <p:txBody>
          <a:bodyPr/>
          <a:lstStyle/>
          <a:p>
            <a:r>
              <a:rPr lang="en-US" dirty="0"/>
              <a:t>Find the names and average salaries of all departments whose average salary is greater than 82000</a:t>
            </a:r>
          </a:p>
        </p:txBody>
      </p:sp>
      <p:pic>
        <p:nvPicPr>
          <p:cNvPr id="5" name="Picture 4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484CD0C9-71E4-87AA-C149-23CD0C429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706" y="2984689"/>
            <a:ext cx="3886200" cy="162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E52E0D-A24B-F886-315D-4E3AA6701DCB}"/>
              </a:ext>
            </a:extLst>
          </p:cNvPr>
          <p:cNvSpPr txBox="1"/>
          <p:nvPr/>
        </p:nvSpPr>
        <p:spPr>
          <a:xfrm>
            <a:off x="3098045" y="5158853"/>
            <a:ext cx="577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Aggregate Functions DO NOT belong in the where clause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Also, the where clause is applied before the aggregation in the select clause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51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13BC-D472-ABD5-286E-D123A8E3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 – Having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C25C-7337-9613-8E72-25914B285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names and average salaries of all departments whose average salary is greater than 82000</a:t>
            </a:r>
          </a:p>
        </p:txBody>
      </p:sp>
      <p:pic>
        <p:nvPicPr>
          <p:cNvPr id="5" name="Picture 4" descr="A close-up of a white card&#10;&#10;AI-generated content may be incorrect.">
            <a:extLst>
              <a:ext uri="{FF2B5EF4-FFF2-40B4-BE49-F238E27FC236}">
                <a16:creationId xmlns:a16="http://schemas.microsoft.com/office/drawing/2014/main" id="{60264DE9-64E7-44AD-2EF5-C0EB0CA7C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10" y="3064628"/>
            <a:ext cx="7772400" cy="1413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CFB1E0-87A4-0C3D-6D4D-52BC6D5913AC}"/>
              </a:ext>
            </a:extLst>
          </p:cNvPr>
          <p:cNvSpPr txBox="1"/>
          <p:nvPr/>
        </p:nvSpPr>
        <p:spPr>
          <a:xfrm>
            <a:off x="3035431" y="4958045"/>
            <a:ext cx="646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having clause is applied to groups not to individual tuples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81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1914-98CA-CE76-1C04-7399AC50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CACB8A17-FC9E-DB62-7A18-B2A377C85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154" y="1891613"/>
            <a:ext cx="4936195" cy="4351338"/>
          </a:xfrm>
        </p:spPr>
      </p:pic>
      <p:pic>
        <p:nvPicPr>
          <p:cNvPr id="7" name="Picture 6" descr="A close-up of a number&#10;&#10;AI-generated content may be incorrect.">
            <a:extLst>
              <a:ext uri="{FF2B5EF4-FFF2-40B4-BE49-F238E27FC236}">
                <a16:creationId xmlns:a16="http://schemas.microsoft.com/office/drawing/2014/main" id="{A8BB3B61-F0D3-284A-547A-A8C77A57D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388" y="1754319"/>
            <a:ext cx="3873500" cy="1524000"/>
          </a:xfrm>
          <a:prstGeom prst="rect">
            <a:avLst/>
          </a:prstGeom>
        </p:spPr>
      </p:pic>
      <p:pic>
        <p:nvPicPr>
          <p:cNvPr id="9" name="Picture 8" descr="A table of information with numbers and text&#10;&#10;AI-generated content may be incorrect.">
            <a:extLst>
              <a:ext uri="{FF2B5EF4-FFF2-40B4-BE49-F238E27FC236}">
                <a16:creationId xmlns:a16="http://schemas.microsoft.com/office/drawing/2014/main" id="{A2B90B03-06EF-0403-E76F-EA39E66E7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88" y="3341950"/>
            <a:ext cx="40005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98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D4F8-AB22-C575-2B6B-5DA810D7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Queries</a:t>
            </a:r>
          </a:p>
        </p:txBody>
      </p:sp>
      <p:pic>
        <p:nvPicPr>
          <p:cNvPr id="5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8099F72-9683-8F22-BACB-4D611505F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9858" y="2707746"/>
            <a:ext cx="5562600" cy="36576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D02FB-E72B-1EBB-E308-C91D6D51723C}"/>
              </a:ext>
            </a:extLst>
          </p:cNvPr>
          <p:cNvSpPr txBox="1"/>
          <p:nvPr/>
        </p:nvSpPr>
        <p:spPr>
          <a:xfrm>
            <a:off x="1215272" y="1675124"/>
            <a:ext cx="10030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Find courses offered in both Fall 2017 and in Spring 2018. (Not either/or, they must be offered in both terms)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07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F51B-CBBA-2220-ABBC-9C0A9C73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8748-AA35-F538-F445-612EC426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Find courses offered in both Fall 2017 and in Spring 2018. (Not either/or, they must be offered in both terms)</a:t>
            </a:r>
            <a:endParaRPr lang="en-US" dirty="0"/>
          </a:p>
        </p:txBody>
      </p:sp>
      <p:pic>
        <p:nvPicPr>
          <p:cNvPr id="5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3E76596-BF9C-D675-EA42-B36ACB7EE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810" y="2119800"/>
            <a:ext cx="3982148" cy="2618399"/>
          </a:xfrm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AFED7F3-6E24-D81F-D057-F8EFFED0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166" y="2584539"/>
            <a:ext cx="6273053" cy="1996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EF9350-6D6F-9235-5289-F6823BD3CCFE}"/>
              </a:ext>
            </a:extLst>
          </p:cNvPr>
          <p:cNvSpPr txBox="1"/>
          <p:nvPr/>
        </p:nvSpPr>
        <p:spPr>
          <a:xfrm>
            <a:off x="499621" y="4910056"/>
            <a:ext cx="5881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relational algebra operator does this correspond to?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8C0CFB-DDA4-CC5F-ADB6-9DE60ACFB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764" y="5279388"/>
            <a:ext cx="1498600" cy="1511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1B3921-D811-6CF5-6BDC-7B291DF2A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18" y="5735745"/>
            <a:ext cx="685211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47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CB49-440D-8FE2-3FD0-BD5C0DE1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B0855-540D-5477-43F6-604CA8CE4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Find courses offered in Fall 2017 but not in Spring 2018</a:t>
            </a:r>
            <a:endParaRPr lang="en-US" dirty="0"/>
          </a:p>
        </p:txBody>
      </p:sp>
      <p:pic>
        <p:nvPicPr>
          <p:cNvPr id="4" name="Content Placeholder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068B083-9A2B-1FBB-2EFD-7426C943C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7446"/>
            <a:ext cx="3982148" cy="2618399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9746C8D-E90B-25D6-42FC-B9677466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656" y="2692479"/>
            <a:ext cx="6113544" cy="1843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0EEAFD-5AB9-05A1-4780-50FD9C57C3A8}"/>
              </a:ext>
            </a:extLst>
          </p:cNvPr>
          <p:cNvSpPr txBox="1"/>
          <p:nvPr/>
        </p:nvSpPr>
        <p:spPr>
          <a:xfrm>
            <a:off x="431800" y="5218591"/>
            <a:ext cx="6099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relational algebra operator does this correspond to?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0B54F-198D-1D7F-A52D-905C9EDB1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5964868"/>
            <a:ext cx="6057900" cy="419100"/>
          </a:xfrm>
          <a:prstGeom prst="rect">
            <a:avLst/>
          </a:prstGeom>
        </p:spPr>
      </p:pic>
      <p:pic>
        <p:nvPicPr>
          <p:cNvPr id="12" name="Picture 11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0B7D10EB-6B2F-C38F-1411-BF4CEE403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093" y="5218591"/>
            <a:ext cx="11176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25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F797-C38B-693B-EA22-D8D6EDA19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Write a query that shows how many courses each professor taught in each year and each semester. Include professors who taught no courses. Your table should have 4 columns: ID, Year, Semester, </a:t>
            </a:r>
            <a:r>
              <a:rPr lang="en-US" sz="2400" dirty="0" err="1"/>
              <a:t>NumCourses</a:t>
            </a:r>
            <a:endParaRPr lang="en-US" sz="2400" dirty="0"/>
          </a:p>
        </p:txBody>
      </p:sp>
      <p:pic>
        <p:nvPicPr>
          <p:cNvPr id="5" name="Content Placeholder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1BBC99DC-0E6B-F706-388D-D16E0F316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43190" cy="2226400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BD54E8-58BB-AE19-F3BD-C35D1638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115" y="1775777"/>
            <a:ext cx="4805468" cy="2056222"/>
          </a:xfrm>
          <a:prstGeom prst="rect">
            <a:avLst/>
          </a:prstGeom>
        </p:spPr>
      </p:pic>
      <p:pic>
        <p:nvPicPr>
          <p:cNvPr id="9" name="Picture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B65D7B7-CDEE-CDDD-B0A8-2F4574305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4599691"/>
            <a:ext cx="74168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3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F6F7-923E-F452-7E89-94ADA88A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1108-1940-0BF3-278F-97B4D844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Write a query that lists the ID and names of all professors who are not advising any students.</a:t>
            </a:r>
          </a:p>
        </p:txBody>
      </p:sp>
      <p:pic>
        <p:nvPicPr>
          <p:cNvPr id="5" name="Content Placeholder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962843A4-1513-38A1-C2FB-42689293C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843190" cy="2226400"/>
          </a:xfrm>
        </p:spPr>
      </p:pic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C247074-575D-95CD-4092-75571EC64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932" y="1995465"/>
            <a:ext cx="3633902" cy="1616846"/>
          </a:xfrm>
          <a:prstGeom prst="rect">
            <a:avLst/>
          </a:prstGeom>
        </p:spPr>
      </p:pic>
      <p:pic>
        <p:nvPicPr>
          <p:cNvPr id="8" name="Picture 7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2107E082-47AC-9611-5E18-CB123332B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290" y="4335462"/>
            <a:ext cx="2451100" cy="1663700"/>
          </a:xfrm>
          <a:prstGeom prst="rect">
            <a:avLst/>
          </a:prstGeom>
        </p:spPr>
      </p:pic>
      <p:pic>
        <p:nvPicPr>
          <p:cNvPr id="11" name="Picture 10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DC3E3290-F25B-1BE2-A7ED-69A98D735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011" y="4335462"/>
            <a:ext cx="57404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10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398</Words>
  <Application>Microsoft Macintosh PowerPoint</Application>
  <PresentationFormat>Widescreen</PresentationFormat>
  <Paragraphs>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Advance SQL</vt:lpstr>
      <vt:lpstr>Group By/Aggregate Function</vt:lpstr>
      <vt:lpstr>Group By/Aggregate Function</vt:lpstr>
      <vt:lpstr>Group By/Aggregate Function</vt:lpstr>
      <vt:lpstr>Aggregate Functions – Group By</vt:lpstr>
      <vt:lpstr>Find the average salary of instructors in each department</vt:lpstr>
      <vt:lpstr>Important</vt:lpstr>
      <vt:lpstr>Important</vt:lpstr>
      <vt:lpstr>List all students’ id as well as the total number of courses they have taken</vt:lpstr>
      <vt:lpstr>List all students’ id and name as well as the total number of courses they have taken.</vt:lpstr>
      <vt:lpstr>Aggregate Functions – Incorrect Example</vt:lpstr>
      <vt:lpstr>Aggregate Functions – Having Clause</vt:lpstr>
      <vt:lpstr>PowerPoint Presentation</vt:lpstr>
      <vt:lpstr>Nested Queries</vt:lpstr>
      <vt:lpstr>Find courses offered in both Fall 2017 and in Spring 2018. (Not either/or, they must be offered in both terms)</vt:lpstr>
      <vt:lpstr>PowerPoint Presentation</vt:lpstr>
      <vt:lpstr>Write a query that shows how many courses each professor taught in each year and each semester. Include professors who taught no courses. Your table should have 4 columns: ID, Year, Semester, NumCourses</vt:lpstr>
      <vt:lpstr>Write a query that lists the ID and names of all professors who are not advising any students.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4</cp:revision>
  <dcterms:created xsi:type="dcterms:W3CDTF">2026-02-26T20:34:35Z</dcterms:created>
  <dcterms:modified xsi:type="dcterms:W3CDTF">2026-02-27T01:08:30Z</dcterms:modified>
</cp:coreProperties>
</file>