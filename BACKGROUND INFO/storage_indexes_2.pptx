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41"/>
    <p:restoredTop sz="94712"/>
  </p:normalViewPr>
  <p:slideViewPr>
    <p:cSldViewPr snapToGrid="0">
      <p:cViewPr varScale="1">
        <p:scale>
          <a:sx n="69" d="100"/>
          <a:sy n="69" d="100"/>
        </p:scale>
        <p:origin x="216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9979C-3AAF-86FB-60BB-BA6E67030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F3B13-E3FB-151C-A9BE-CF508708E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D3F52-4278-8784-24D5-055AADEF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D84D1-A888-55DA-7585-707F247D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749A5-CD77-8474-AE6A-B0EF4B01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415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64998-72E5-12A3-FCFD-EFF511A46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9A385-1A58-EDA4-DA97-EB288E945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4A90C-89A2-B134-083C-492F1DFA4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90C28-61DF-90CA-5A93-4452083C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E05E7-2BAE-39B9-07FF-0F594B0A4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6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DCDE-1645-8911-529F-7E200BA66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F5C29-D525-A9BE-6D0A-9282D0E02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29B58-BB01-F46C-8D2D-2C5765649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CD155-690F-DA60-E964-DDE74276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F43C3-C460-CDA9-830B-CABCDB28F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26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98AC-F8D9-966D-94F9-058BE50A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CCF27-0566-BA90-3378-E4AB441A4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67ACC-20A5-54DD-9379-C49838628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F0AEE-A4E9-395B-48B4-EA76ECA8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F0082-5BD0-AF3F-1345-21352AC79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7F17A-CEA7-B1D5-1253-9788F4DB6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66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CC356-5BE4-99CD-F249-ABC80FEE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174DC-10C7-FEA6-2B2E-326F80C5D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8FF15-E218-768C-8137-38DCDFF1C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BCE76E-A14A-A251-C1A2-30B12FB33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47030-069A-29E8-B2A1-90D6D655AB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5AEA6B-7E58-4757-FE2C-E0E2D78D8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04AC0-2CAD-B93F-6BC9-0621E762F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66470-A197-10D8-FFE5-1BA25AEA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2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B98A-82D0-C88F-7664-6D3586CD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8D76E3-754E-CE1E-B89A-6E4DEAE3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E79FF5-D07B-58BD-304A-2DC8DAE7A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6EB9B-1E82-AD94-717B-B345A6B9A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38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284C44-24BF-0AF5-9837-38F98ABD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FEB46-96C1-80A7-DDC6-4CA03A8B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2E812-7A25-E99F-3A1A-A9DA8A57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2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8200-9C1B-F146-E5C4-7F7F7FFD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5529-5C67-C737-D8EF-A7BF6E26A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4474C-3FFB-89E4-20E7-AFBB6C156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65578-9AFB-9ABF-3DAA-A7402B7F1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EB240-D9CB-9881-D440-0AAC69F1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F3C28-23B7-7733-E9C9-2E712CF5A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63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13B0-860D-6F99-5BF3-45290B01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496729-DEEA-C9E8-7637-0D4FA58B8E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BD38E-633B-AFBB-F19F-9E0C76045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FA4AF-E320-6FB5-73FC-6793C4F55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13C7C-D5D3-0B33-C4D1-96365EBE1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0A954-AA75-9763-5F2D-B8FBF34BD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503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3A9F-65EB-B97E-233D-703A0AFC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6FC11-28BA-4698-2385-73FA1D94C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7687F-11F9-9E6C-ED81-C99A8EF2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F95B6-C683-6D50-EB29-CA759E3B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6D448-64B0-49D8-3651-A2D4D827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47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52C868-72D4-F888-04B8-A30F834831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7D07E-B733-E17B-303F-D3CD622A3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70A0C-9CA6-CEAF-A392-569614FA9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AFB56-A138-0AF7-5BEA-0D197A48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B7C6E-26F9-3479-34B3-C46D1CA1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8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18CD15-12BC-7B0C-6C2F-EC7231461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9E2946-488A-CD67-AA8E-1207C2CE5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5088A-405A-2B83-58B3-D7B44C74A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564EDE-AFC2-364D-8455-BC8ABD064D85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A3E30-C328-0B3E-62A8-252A05690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3AD7E-4ED4-D2DE-0B35-2658388145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598FA-0DBC-8048-B8EF-B9365D5F0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0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8E5D-E4F3-3E70-64BA-1E6ABCEECD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Storage and Indexes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1E98D-2689-7B01-5C09-57DE12EAF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Instructor: Kazi Amit Hasan</a:t>
            </a:r>
          </a:p>
        </p:txBody>
      </p:sp>
    </p:spTree>
    <p:extLst>
      <p:ext uri="{BB962C8B-B14F-4D97-AF65-F5344CB8AC3E}">
        <p14:creationId xmlns:p14="http://schemas.microsoft.com/office/powerpoint/2010/main" val="2002355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0B01-ABA5-83EE-4BAC-A104C13E3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learned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851BA-A8AF-B437-579F-6EF79D623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storage</a:t>
            </a:r>
          </a:p>
          <a:p>
            <a:r>
              <a:rPr lang="en-US" dirty="0"/>
              <a:t>How data is being accessed from disk to MM for processing</a:t>
            </a:r>
          </a:p>
          <a:p>
            <a:r>
              <a:rPr lang="en-US" dirty="0"/>
              <a:t>Database files </a:t>
            </a:r>
          </a:p>
          <a:p>
            <a:r>
              <a:rPr lang="en-US" dirty="0"/>
              <a:t>Different types of organization of records in files </a:t>
            </a:r>
          </a:p>
        </p:txBody>
      </p:sp>
    </p:spTree>
    <p:extLst>
      <p:ext uri="{BB962C8B-B14F-4D97-AF65-F5344CB8AC3E}">
        <p14:creationId xmlns:p14="http://schemas.microsoft.com/office/powerpoint/2010/main" val="3375284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6E296-F9A4-0C3B-1545-BFD3680C6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Data</a:t>
            </a:r>
          </a:p>
        </p:txBody>
      </p:sp>
      <p:pic>
        <p:nvPicPr>
          <p:cNvPr id="5" name="Content Placeholder 4" descr="A colorful circular object with many lines&#10;&#10;AI-generated content may be incorrect.">
            <a:extLst>
              <a:ext uri="{FF2B5EF4-FFF2-40B4-BE49-F238E27FC236}">
                <a16:creationId xmlns:a16="http://schemas.microsoft.com/office/drawing/2014/main" id="{1AE41839-B899-8E86-60CA-95C04A46E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0693" y="1409989"/>
            <a:ext cx="8550613" cy="4351338"/>
          </a:xfrm>
        </p:spPr>
      </p:pic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D68B7F1-E5DD-AAB1-5354-2819E57FB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5431993"/>
            <a:ext cx="5644573" cy="13414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461278-89E1-9AB9-8A1C-FAED88B67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847" y="1027906"/>
            <a:ext cx="61722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79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249DF-622A-822D-99D0-7C78C7A6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49830-602D-CAAE-20E8-822F99F6A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Indexing mechanisms used to </a:t>
            </a:r>
            <a:r>
              <a:rPr lang="en-CA" dirty="0">
                <a:highlight>
                  <a:srgbClr val="FFFF00"/>
                </a:highlight>
              </a:rPr>
              <a:t>speed up access </a:t>
            </a:r>
            <a:r>
              <a:rPr lang="en-CA" dirty="0"/>
              <a:t>to desired data.</a:t>
            </a:r>
          </a:p>
          <a:p>
            <a:r>
              <a:rPr lang="en-CA" dirty="0"/>
              <a:t>Eg: index in the back of a book</a:t>
            </a:r>
          </a:p>
          <a:p>
            <a:pPr lvl="1"/>
            <a:r>
              <a:rPr lang="en-CA" dirty="0"/>
              <a:t>Topics are in sorted order</a:t>
            </a:r>
          </a:p>
          <a:p>
            <a:pPr lvl="1"/>
            <a:r>
              <a:rPr lang="en-CA" dirty="0"/>
              <a:t>Page Number “points to” where we find more information</a:t>
            </a:r>
          </a:p>
          <a:p>
            <a:pPr lvl="1"/>
            <a:r>
              <a:rPr lang="en-CA" dirty="0"/>
              <a:t>Significantly smaller than the book itself</a:t>
            </a:r>
          </a:p>
          <a:p>
            <a:pPr lvl="1"/>
            <a:r>
              <a:rPr lang="en-CA" dirty="0"/>
              <a:t>But adds some bulk to the book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34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7F2A-8550-9F69-7BAA-2AD2D4AF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5D2D6-EC05-230E-D2F2-FE4CBF7DF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indices play the same role</a:t>
            </a:r>
          </a:p>
          <a:p>
            <a:pPr lvl="1"/>
            <a:r>
              <a:rPr lang="en-US" dirty="0"/>
              <a:t>Build an index on student ID</a:t>
            </a:r>
          </a:p>
          <a:p>
            <a:pPr lvl="1"/>
            <a:r>
              <a:rPr lang="en-US" dirty="0"/>
              <a:t>To retrieve a student record with ID = 1001</a:t>
            </a:r>
          </a:p>
          <a:p>
            <a:pPr lvl="2"/>
            <a:r>
              <a:rPr lang="en-US" dirty="0"/>
              <a:t>Look in the index to find the appropriate disk block that contains the data</a:t>
            </a:r>
          </a:p>
          <a:p>
            <a:pPr lvl="3"/>
            <a:r>
              <a:rPr lang="en-US" dirty="0"/>
              <a:t>Retrieve the block</a:t>
            </a:r>
          </a:p>
        </p:txBody>
      </p:sp>
    </p:spTree>
    <p:extLst>
      <p:ext uri="{BB962C8B-B14F-4D97-AF65-F5344CB8AC3E}">
        <p14:creationId xmlns:p14="http://schemas.microsoft.com/office/powerpoint/2010/main" val="2005287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15DA-CB1E-32BC-3DDE-221C02FB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an Index Help?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6DFD4-2A24-9107-9FD2-FB66E44B3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index is in a different file than the data &amp; contains less data.</a:t>
            </a:r>
          </a:p>
          <a:p>
            <a:r>
              <a:rPr lang="en-CA" dirty="0"/>
              <a:t>Instead of scanning the full table, the </a:t>
            </a:r>
            <a:r>
              <a:rPr lang="en-CA" dirty="0">
                <a:highlight>
                  <a:srgbClr val="FFFF00"/>
                </a:highlight>
              </a:rPr>
              <a:t>DBMS first checks the index</a:t>
            </a:r>
            <a:r>
              <a:rPr lang="en-CA" dirty="0"/>
              <a:t>, finds where the needed rows are, and then reads only those specific data blocks.</a:t>
            </a:r>
          </a:p>
          <a:p>
            <a:r>
              <a:rPr lang="en-CA" dirty="0"/>
              <a:t>Often one (or just a few) disk accesses required to get the entire index into main memory</a:t>
            </a:r>
          </a:p>
          <a:p>
            <a:pPr lvl="1"/>
            <a:r>
              <a:rPr lang="en-CA" dirty="0"/>
              <a:t>Because the index is small, the DBMS can load most or all of it into </a:t>
            </a:r>
            <a:r>
              <a:rPr lang="en-CA" b="1" dirty="0"/>
              <a:t>RAM (main memory)</a:t>
            </a:r>
            <a:r>
              <a:rPr lang="en-CA" dirty="0"/>
              <a:t> quickly.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10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6A89C-C6A4-5946-E58F-DF544D8C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20DE-371D-CB2D-F2AF-AEB62EF3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an Index Help?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7DFB-BD0F-1AB8-769C-47BE22B25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CA" sz="2800" dirty="0"/>
              <a:t>A buffer pool (portion of main memory devoted to the DBMS) is</a:t>
            </a:r>
            <a:br>
              <a:rPr lang="en-CA" sz="2800" dirty="0"/>
            </a:br>
            <a:r>
              <a:rPr lang="en-CA" sz="2800" dirty="0"/>
              <a:t>often dedicated specifically for indices</a:t>
            </a:r>
          </a:p>
          <a:p>
            <a:pPr lvl="1"/>
            <a:r>
              <a:rPr lang="en-CA" sz="2800" dirty="0"/>
              <a:t>The index is then used to quickly locate the blocks on disk that are needed</a:t>
            </a:r>
          </a:p>
          <a:p>
            <a:pPr lvl="1"/>
            <a:r>
              <a:rPr lang="en-CA" sz="2800" dirty="0"/>
              <a:t>Only the blocks containing relevant data are then brought into</a:t>
            </a:r>
            <a:br>
              <a:rPr lang="en-CA" sz="2800" dirty="0"/>
            </a:br>
            <a:r>
              <a:rPr lang="en-CA" sz="2800" dirty="0"/>
              <a:t>memory</a:t>
            </a:r>
          </a:p>
          <a:p>
            <a:pPr lvl="1"/>
            <a:r>
              <a:rPr lang="en-CA" sz="2800" dirty="0"/>
              <a:t>The index is structured so that we can search for things very quickly</a:t>
            </a:r>
            <a:endParaRPr lang="en-CA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14426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08D74-E139-3555-1D91-8B8706C0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163BC-D16E-18F2-32FF-D410F6C29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Often have more than one index for a file</a:t>
            </a:r>
          </a:p>
          <a:p>
            <a:pPr lvl="1"/>
            <a:r>
              <a:rPr lang="en-CA" dirty="0"/>
              <a:t>Index on salary to find all </a:t>
            </a:r>
            <a:r>
              <a:rPr lang="en-CA" dirty="0" err="1"/>
              <a:t>empl</a:t>
            </a:r>
            <a:r>
              <a:rPr lang="en-CA" dirty="0"/>
              <a:t> with salaries between x &amp; y</a:t>
            </a:r>
          </a:p>
          <a:p>
            <a:pPr lvl="1"/>
            <a:r>
              <a:rPr lang="en-CA" dirty="0"/>
              <a:t>And ... an index on employee id</a:t>
            </a:r>
          </a:p>
          <a:p>
            <a:pPr lvl="1"/>
            <a:r>
              <a:rPr lang="en-CA" dirty="0"/>
              <a:t>And .. an index on department ....</a:t>
            </a:r>
            <a:br>
              <a:rPr lang="en-CA" dirty="0"/>
            </a:br>
            <a:endParaRPr lang="en-CA" dirty="0"/>
          </a:p>
          <a:p>
            <a:r>
              <a:rPr lang="en-CA" dirty="0"/>
              <a:t>Decisions on what indices to create depends on intended use of the database</a:t>
            </a:r>
          </a:p>
          <a:p>
            <a:r>
              <a:rPr lang="en-CA" dirty="0"/>
              <a:t>Most DBMSs have automated tools that will suggest which indices</a:t>
            </a:r>
            <a:br>
              <a:rPr lang="en-CA" dirty="0"/>
            </a:br>
            <a:r>
              <a:rPr lang="en-CA" dirty="0"/>
              <a:t>to build based on workload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857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4FD9C-C313-B8D8-673A-A67B8DAE5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Indices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6502F-9C53-D39F-2CED-C7DCED390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>
                <a:highlight>
                  <a:srgbClr val="FFFF00"/>
                </a:highlight>
              </a:rPr>
              <a:t>Primary Index </a:t>
            </a:r>
            <a:r>
              <a:rPr lang="en-CA" dirty="0"/>
              <a:t>– an index built on the primary key</a:t>
            </a:r>
          </a:p>
          <a:p>
            <a:pPr lvl="1"/>
            <a:r>
              <a:rPr lang="en-CA" dirty="0"/>
              <a:t>if </a:t>
            </a:r>
            <a:r>
              <a:rPr lang="en-CA" dirty="0" err="1"/>
              <a:t>employee_id</a:t>
            </a:r>
            <a:r>
              <a:rPr lang="en-CA" dirty="0"/>
              <a:t> is the primary key, then an index on </a:t>
            </a:r>
            <a:r>
              <a:rPr lang="en-CA" dirty="0" err="1"/>
              <a:t>employee_id</a:t>
            </a:r>
            <a:r>
              <a:rPr lang="en-CA" dirty="0"/>
              <a:t> is a primary index</a:t>
            </a:r>
          </a:p>
          <a:p>
            <a:r>
              <a:rPr lang="en-CA" dirty="0">
                <a:highlight>
                  <a:srgbClr val="FFFF00"/>
                </a:highlight>
              </a:rPr>
              <a:t>Clustered Index:</a:t>
            </a:r>
          </a:p>
          <a:p>
            <a:pPr lvl="1"/>
            <a:r>
              <a:rPr lang="en-CA" dirty="0"/>
              <a:t>the index is sorted on the search key and this determines the</a:t>
            </a:r>
            <a:br>
              <a:rPr lang="en-CA" dirty="0"/>
            </a:br>
            <a:r>
              <a:rPr lang="en-CA" dirty="0"/>
              <a:t>ordering of the tuples in the sequential data file</a:t>
            </a:r>
          </a:p>
          <a:p>
            <a:pPr lvl="1"/>
            <a:r>
              <a:rPr lang="en-CA" dirty="0"/>
              <a:t>(the index and data are sorted on the same attribute)</a:t>
            </a:r>
          </a:p>
          <a:p>
            <a:r>
              <a:rPr lang="en-CA" dirty="0">
                <a:highlight>
                  <a:srgbClr val="FFFF00"/>
                </a:highlight>
              </a:rPr>
              <a:t>Secondary index</a:t>
            </a:r>
            <a:r>
              <a:rPr lang="en-CA" dirty="0"/>
              <a:t>: an index whose search key specifies an</a:t>
            </a:r>
            <a:br>
              <a:rPr lang="en-CA" dirty="0">
                <a:effectLst/>
              </a:rPr>
            </a:br>
            <a:r>
              <a:rPr lang="en-CA" dirty="0"/>
              <a:t>order different from the sequential order of the file. Also called</a:t>
            </a:r>
            <a:br>
              <a:rPr lang="en-CA" dirty="0">
                <a:effectLst/>
              </a:rPr>
            </a:br>
            <a:r>
              <a:rPr lang="en-CA" dirty="0"/>
              <a:t>non-clustering index.</a:t>
            </a:r>
            <a:endParaRPr lang="en-CA" dirty="0">
              <a:effectLst/>
            </a:endParaRPr>
          </a:p>
          <a:p>
            <a:pPr marL="0" indent="0">
              <a:buNone/>
            </a:pPr>
            <a:br>
              <a:rPr lang="en-CA" dirty="0"/>
            </a:br>
            <a:endParaRPr lang="en-CA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28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34901-FAD7-9C5D-F369-7EDEF6DA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Clustered Index (sparse)</a:t>
            </a:r>
          </a:p>
        </p:txBody>
      </p:sp>
      <p:pic>
        <p:nvPicPr>
          <p:cNvPr id="5" name="Content Placeholder 4" descr="A screenshot of a data file&#10;&#10;AI-generated content may be incorrect.">
            <a:extLst>
              <a:ext uri="{FF2B5EF4-FFF2-40B4-BE49-F238E27FC236}">
                <a16:creationId xmlns:a16="http://schemas.microsoft.com/office/drawing/2014/main" id="{0CD1F599-C13D-48D7-C293-6A8DA7C3C0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0712" y="2101935"/>
            <a:ext cx="7490575" cy="475606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972E00-68C4-7856-0775-E81846E393B0}"/>
              </a:ext>
            </a:extLst>
          </p:cNvPr>
          <p:cNvSpPr txBox="1"/>
          <p:nvPr/>
        </p:nvSpPr>
        <p:spPr>
          <a:xfrm>
            <a:off x="1101011" y="1683905"/>
            <a:ext cx="6021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index entries (and data) are stored sorted on the search key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669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2A1C-5B8E-BB06-B13D-2181D96C2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A0348-B760-09BA-3120-EED3D9957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An index entry for only the first record of each block.</a:t>
            </a:r>
          </a:p>
          <a:p>
            <a:endParaRPr lang="en-US" dirty="0"/>
          </a:p>
        </p:txBody>
      </p:sp>
      <p:pic>
        <p:nvPicPr>
          <p:cNvPr id="5" name="Picture 4" descr="A diagram of a data flow&#10;&#10;AI-generated content may be incorrect.">
            <a:extLst>
              <a:ext uri="{FF2B5EF4-FFF2-40B4-BE49-F238E27FC236}">
                <a16:creationId xmlns:a16="http://schemas.microsoft.com/office/drawing/2014/main" id="{AC3B16E4-BA40-15B4-30C0-9E1A3A023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4300" y="2460206"/>
            <a:ext cx="6405875" cy="421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060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71263-44AA-37AC-F0C3-CB24871B8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Dense Index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1EA95-4321-BD3A-6D65-F96B0D9D2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17980" cy="4351338"/>
          </a:xfrm>
        </p:spPr>
        <p:txBody>
          <a:bodyPr>
            <a:normAutofit fontScale="92500" lnSpcReduction="10000"/>
          </a:bodyPr>
          <a:lstStyle/>
          <a:p>
            <a:r>
              <a:rPr lang="en-CA" dirty="0"/>
              <a:t>Dense index — Index record appears for every search-key</a:t>
            </a:r>
            <a:br>
              <a:rPr lang="en-CA" dirty="0"/>
            </a:br>
            <a:r>
              <a:rPr lang="en-CA" dirty="0"/>
              <a:t>value in the file</a:t>
            </a:r>
          </a:p>
          <a:p>
            <a:r>
              <a:rPr lang="en-CA" dirty="0"/>
              <a:t>Index is sorted for quick access but file may be sorted</a:t>
            </a:r>
            <a:br>
              <a:rPr lang="en-CA" dirty="0"/>
            </a:br>
            <a:r>
              <a:rPr lang="en-CA" dirty="0"/>
              <a:t>differently</a:t>
            </a:r>
          </a:p>
          <a:p>
            <a:r>
              <a:rPr lang="en-CA" dirty="0"/>
              <a:t>This is an </a:t>
            </a:r>
            <a:r>
              <a:rPr lang="en-CA" dirty="0" err="1"/>
              <a:t>unclustered</a:t>
            </a:r>
            <a:r>
              <a:rPr lang="en-CA" dirty="0"/>
              <a:t> index</a:t>
            </a:r>
            <a:br>
              <a:rPr lang="en-CA" dirty="0"/>
            </a:br>
            <a:endParaRPr lang="en-US" dirty="0"/>
          </a:p>
        </p:txBody>
      </p:sp>
      <p:pic>
        <p:nvPicPr>
          <p:cNvPr id="5" name="Picture 4" descr="A diagram of a data flow&#10;&#10;AI-generated content may be incorrect.">
            <a:extLst>
              <a:ext uri="{FF2B5EF4-FFF2-40B4-BE49-F238E27FC236}">
                <a16:creationId xmlns:a16="http://schemas.microsoft.com/office/drawing/2014/main" id="{6244597F-025A-4873-F2F5-1FAB167C2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195" y="1425575"/>
            <a:ext cx="73025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35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A489-FE52-33CD-CAAF-8CCE4F19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EBDB2-764E-F630-50BF-416763DBF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Indices offer substantial benefits when searching for records.</a:t>
            </a:r>
          </a:p>
          <a:p>
            <a:r>
              <a:rPr lang="en-CA" dirty="0"/>
              <a:t>BUT: indices impose overhead on database modification</a:t>
            </a:r>
          </a:p>
          <a:p>
            <a:pPr lvl="1"/>
            <a:r>
              <a:rPr lang="en-CA" dirty="0"/>
              <a:t>when a record is inserted or deleted, every index on the</a:t>
            </a:r>
            <a:br>
              <a:rPr lang="en-CA" dirty="0"/>
            </a:br>
            <a:r>
              <a:rPr lang="en-CA" dirty="0"/>
              <a:t>relation must be updated</a:t>
            </a:r>
          </a:p>
          <a:p>
            <a:pPr lvl="1"/>
            <a:r>
              <a:rPr lang="en-CA" dirty="0"/>
              <a:t>When a record is updated, any index on an updated</a:t>
            </a:r>
            <a:br>
              <a:rPr lang="en-CA" dirty="0">
                <a:effectLst/>
              </a:rPr>
            </a:br>
            <a:r>
              <a:rPr lang="en-CA" dirty="0"/>
              <a:t>attribute must be updated</a:t>
            </a:r>
            <a:br>
              <a:rPr lang="en-CA" dirty="0"/>
            </a:br>
            <a:endParaRPr lang="en-CA" dirty="0">
              <a:effectLst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99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5F6D-FA72-DDE0-DB08-425BA5ACE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Multilevel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C4693-CC30-2E8C-4EC7-246066B6E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An index is supposed to help us search fast.</a:t>
            </a:r>
          </a:p>
          <a:p>
            <a:r>
              <a:rPr lang="en-CA" dirty="0"/>
              <a:t>That works best when the index can stay in </a:t>
            </a:r>
            <a:r>
              <a:rPr lang="en-CA" b="1" dirty="0"/>
              <a:t>main memory (RAM)</a:t>
            </a:r>
            <a:r>
              <a:rPr lang="en-CA" dirty="0"/>
              <a:t>.</a:t>
            </a:r>
          </a:p>
          <a:p>
            <a:r>
              <a:rPr lang="en-CA" dirty="0"/>
              <a:t>But if the index itself becomes very large, then the DBMS must also read parts of the index from disk.</a:t>
            </a:r>
          </a:p>
          <a:p>
            <a:r>
              <a:rPr lang="en-CA" dirty="0"/>
              <a:t>That makes lookup slower again.</a:t>
            </a:r>
          </a:p>
          <a:p>
            <a:r>
              <a:rPr lang="en-CA" dirty="0"/>
              <a:t>Solution? &gt;&gt; Multilevel index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183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12DFF-1A74-7ED3-8935-B5DFDF6E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Multilevel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8C1E6-1651-036D-92BB-F2C8CF151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Index of index</a:t>
            </a:r>
          </a:p>
          <a:p>
            <a:r>
              <a:rPr lang="en-CA" dirty="0"/>
              <a:t>treat index kept on disk as a sequential file and construct a sparse index on it.</a:t>
            </a:r>
            <a:endParaRPr lang="en-US" dirty="0"/>
          </a:p>
        </p:txBody>
      </p:sp>
      <p:pic>
        <p:nvPicPr>
          <p:cNvPr id="7" name="Picture 6" descr="A screenshot of a white background&#10;&#10;AI-generated content may be incorrect.">
            <a:extLst>
              <a:ext uri="{FF2B5EF4-FFF2-40B4-BE49-F238E27FC236}">
                <a16:creationId xmlns:a16="http://schemas.microsoft.com/office/drawing/2014/main" id="{D80C213F-5FA8-6F0C-2AE5-25FB6A058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2941573"/>
            <a:ext cx="3429000" cy="2857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791E87-22C0-6CF8-872E-D1597FB5F45C}"/>
              </a:ext>
            </a:extLst>
          </p:cNvPr>
          <p:cNvSpPr txBox="1"/>
          <p:nvPr/>
        </p:nvSpPr>
        <p:spPr>
          <a:xfrm>
            <a:off x="3021280" y="5988734"/>
            <a:ext cx="5846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instead of searching one huge index, you search in layers.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3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998FA-7F9B-71BB-FD2F-D8972AA8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Example: B+-Tree Index Files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05F66-2D14-47F4-72CB-CBD30F7A3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Index is built using a B+ tree structure</a:t>
            </a:r>
          </a:p>
          <a:p>
            <a:r>
              <a:rPr lang="en-CA" dirty="0"/>
              <a:t>fast inserts, deletes and lookups if tree is kept balanced!</a:t>
            </a:r>
          </a:p>
          <a:p>
            <a:r>
              <a:rPr lang="en-CA" dirty="0"/>
              <a:t>index size is relatively small</a:t>
            </a:r>
            <a:br>
              <a:rPr lang="en-CA" dirty="0"/>
            </a:br>
            <a:br>
              <a:rPr lang="en-CA" dirty="0"/>
            </a:br>
            <a:endParaRPr lang="en-US" dirty="0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2E8F122F-7299-AD67-7080-B603AE088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147" y="3452055"/>
            <a:ext cx="2868256" cy="285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98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ata flow&#10;&#10;AI-generated content may be incorrect.">
            <a:extLst>
              <a:ext uri="{FF2B5EF4-FFF2-40B4-BE49-F238E27FC236}">
                <a16:creationId xmlns:a16="http://schemas.microsoft.com/office/drawing/2014/main" id="{27EB892C-5DDB-F925-7E2B-93A46838C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366" y="154571"/>
            <a:ext cx="10468948" cy="6548858"/>
          </a:xfrm>
        </p:spPr>
      </p:pic>
    </p:spTree>
    <p:extLst>
      <p:ext uri="{BB962C8B-B14F-4D97-AF65-F5344CB8AC3E}">
        <p14:creationId xmlns:p14="http://schemas.microsoft.com/office/powerpoint/2010/main" val="1171334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7033-D949-BAEE-1070-3A02634F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Index Concept</a:t>
            </a:r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C29316ED-4BEF-F53D-BE0B-26A002CC7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429" y="1690688"/>
            <a:ext cx="8880052" cy="4744987"/>
          </a:xfrm>
        </p:spPr>
      </p:pic>
    </p:spTree>
    <p:extLst>
      <p:ext uri="{BB962C8B-B14F-4D97-AF65-F5344CB8AC3E}">
        <p14:creationId xmlns:p14="http://schemas.microsoft.com/office/powerpoint/2010/main" val="4187797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CB7-E442-9EAF-EDCE-F2305858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Hash Index</a:t>
            </a:r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704A8691-E8A2-885B-067C-EE12A121A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2571" y="1537386"/>
            <a:ext cx="6738023" cy="5129702"/>
          </a:xfrm>
        </p:spPr>
      </p:pic>
    </p:spTree>
    <p:extLst>
      <p:ext uri="{BB962C8B-B14F-4D97-AF65-F5344CB8AC3E}">
        <p14:creationId xmlns:p14="http://schemas.microsoft.com/office/powerpoint/2010/main" val="3427819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</TotalTime>
  <Words>711</Words>
  <Application>Microsoft Macintosh PowerPoint</Application>
  <PresentationFormat>Widescreen</PresentationFormat>
  <Paragraphs>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Storage and Indexes 2</vt:lpstr>
      <vt:lpstr>We have learned so far</vt:lpstr>
      <vt:lpstr>Accessing Data</vt:lpstr>
      <vt:lpstr>Index Structures</vt:lpstr>
      <vt:lpstr>Index Structures</vt:lpstr>
      <vt:lpstr>How does an Index Help?</vt:lpstr>
      <vt:lpstr>How does an Index Help?</vt:lpstr>
      <vt:lpstr>Multiple Indices</vt:lpstr>
      <vt:lpstr>Ordered Indices</vt:lpstr>
      <vt:lpstr>Clustered Index (sparse)</vt:lpstr>
      <vt:lpstr>Sparse Index</vt:lpstr>
      <vt:lpstr>Dense Index Files</vt:lpstr>
      <vt:lpstr>Comments</vt:lpstr>
      <vt:lpstr>Multilevel Index</vt:lpstr>
      <vt:lpstr>Multilevel Index</vt:lpstr>
      <vt:lpstr>Example: B+-Tree Index Files</vt:lpstr>
      <vt:lpstr>PowerPoint Presentation</vt:lpstr>
      <vt:lpstr>Hash Index Concept</vt:lpstr>
      <vt:lpstr>Example of Hash Index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Kazi Amit Hasan</dc:creator>
  <cp:lastModifiedBy>Kazi Amit Hasan</cp:lastModifiedBy>
  <cp:revision>3</cp:revision>
  <dcterms:created xsi:type="dcterms:W3CDTF">2026-03-08T18:17:07Z</dcterms:created>
  <dcterms:modified xsi:type="dcterms:W3CDTF">2026-03-09T04:09:59Z</dcterms:modified>
</cp:coreProperties>
</file>