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6" r:id="rId19"/>
    <p:sldId id="277" r:id="rId20"/>
    <p:sldId id="278" r:id="rId21"/>
    <p:sldId id="279" r:id="rId22"/>
    <p:sldId id="280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12"/>
    <p:restoredTop sz="94609"/>
  </p:normalViewPr>
  <p:slideViewPr>
    <p:cSldViewPr snapToGrid="0">
      <p:cViewPr varScale="1">
        <p:scale>
          <a:sx n="76" d="100"/>
          <a:sy n="76" d="100"/>
        </p:scale>
        <p:origin x="200" y="1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8CEB8-EFB1-922E-F603-CBAE3EC81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CC327-CA44-E38D-92C7-4420A381E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4CD85-D369-2449-F832-7F922FA0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332F1-F434-A954-35CF-0D43D6FB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85AFF-6DFB-54F0-1889-4E6C00D2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93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89740-3861-441E-8F9C-EF40AD871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0351-8B60-7038-1DD4-155BC620A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BBFA9-452D-BE1C-0EDD-04924BBE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85900-15EF-F573-9D5C-2AF5A27B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D3134-8920-64F4-788C-3BAA2443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112AB-74AD-13B4-9A63-564F60D8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AF678-4513-03B1-993E-CE4EB78BE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1CEBC-F320-6FF6-5227-4BAF06DD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CD5B2-E372-1241-06D3-17F291DA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FB4A2-AC33-0B6A-0CAE-737AE3C8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39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C891-A118-D4F0-B976-F43B5DD97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9CFEC-BB4D-1FCB-5059-7417A1EF3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6D274-B4FF-FC64-CFAC-ABB004157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B1876-8CDA-5071-91FB-EEAFA778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A3240-F7C4-36EE-621A-83FE0102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3EE23-8A63-EB43-F741-2EA1C98C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0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A7372-394C-3FAE-0F36-9CC33EAC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6B80C-7F22-18E2-4E45-B6FA969B9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82D51-9AD3-B5E2-1B05-A2BC17535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24D7A9-71D7-5501-5099-33514A673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1367C2-5253-52BB-4BB2-9A503CE31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F6410-231E-4C07-298B-D0F7E45D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5B8FE4-8FF2-A12A-C3B4-C461143C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A0C5DE-FC51-54CC-7963-89068114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9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067D-8BAF-2BE7-03E4-04C943AC6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4A604-D1B1-185D-5E7D-B37127996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D2194-0302-B8F0-8060-0E679531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F1AA5-664B-9032-F8DA-59280493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6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CA36B-5B04-3A26-DE99-07B1AD2EB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920DE-E74D-50E2-FAC1-93DBBCC8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AB5D8-5D86-C67B-4312-DA61C786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5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5DE1-4C0D-0D47-84FC-C51B693AA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21597-4C4C-7546-EC2C-22D75990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FD882-AE5F-08C1-1869-280A3B662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9202B-DAB9-CB56-C982-B24051C7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50E07-87B8-505D-83A9-9CADFABA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4B026-5199-E146-FA02-A8375942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76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3FCD-7F37-DA5F-8020-62B34F12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ED367B-E11E-A443-B1DB-A07E9AC319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1063F-AC72-5770-33AC-80D07A264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FBEB4-A81E-E1C7-EB26-1F1F7B71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B494E-B7C6-E773-AFC4-DF4F2DAD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09D6D-CA83-E070-E9FD-6D3862F2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9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08F0B-17C4-8042-DACA-95A84C193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26F11-38EF-9489-54F9-1169DBA91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080A5-0931-1B2F-4CD7-F269EE4E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7B8F6-E041-B864-A312-A2677966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BF88B-5B75-0DDD-B4A4-4D0D7B72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8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9FC7BF-D38C-BB7C-594C-5E79AC34A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95E72-E9DD-0692-1C03-F4630F382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8B07F-55CE-8793-A675-18B7E040E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5157F-C423-0058-3F81-6F4ECC7A4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31A6C-BEBB-0EB7-B060-37475FF6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2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99462-D604-B196-3AEC-BDDE73C4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C217D-D724-1DF8-AFF6-86C9E31D2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35C47-EB59-D971-E3A2-44C72B708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6E7BC-244A-5242-A590-5CD2FC98B85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29868-5DD8-6F34-4B7C-6501D0E62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49612-A62D-C587-D4DE-8F9F1858A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57294-E97E-1D40-92E5-93CC09429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8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8A4C2-A1F4-A3C1-A50E-0788E7AB83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FC18E-A804-5983-6FEA-0C31A6148C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585668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7E93-807C-F4B0-D43E-C6048FAC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96F87-2F06-1F78-0B9B-62BAAD907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some entities would not be in the database </a:t>
            </a:r>
            <a:r>
              <a:rPr lang="en-US" dirty="0"/>
              <a:t>unless it is </a:t>
            </a:r>
            <a:r>
              <a:rPr lang="en-US" dirty="0">
                <a:highlight>
                  <a:srgbClr val="FFFF00"/>
                </a:highlight>
              </a:rPr>
              <a:t>related to some other entity that is in the database. </a:t>
            </a:r>
          </a:p>
          <a:p>
            <a:r>
              <a:rPr lang="en-US" dirty="0"/>
              <a:t>we call the </a:t>
            </a:r>
            <a:r>
              <a:rPr lang="en-US" dirty="0">
                <a:highlight>
                  <a:srgbClr val="FFFF00"/>
                </a:highlight>
              </a:rPr>
              <a:t>dependent entity a “weak entity”. </a:t>
            </a:r>
          </a:p>
          <a:p>
            <a:r>
              <a:rPr lang="en-US" dirty="0"/>
              <a:t>weak entity has </a:t>
            </a:r>
            <a:r>
              <a:rPr lang="en-US" dirty="0">
                <a:highlight>
                  <a:srgbClr val="FFFF00"/>
                </a:highlight>
              </a:rPr>
              <a:t>no primary key </a:t>
            </a:r>
            <a:r>
              <a:rPr lang="en-US" dirty="0"/>
              <a:t>but can be uniquely identify </a:t>
            </a:r>
            <a:r>
              <a:rPr lang="en-US" dirty="0">
                <a:highlight>
                  <a:srgbClr val="FFFF00"/>
                </a:highlight>
              </a:rPr>
              <a:t>by association with another strong entity</a:t>
            </a:r>
          </a:p>
        </p:txBody>
      </p:sp>
    </p:spTree>
    <p:extLst>
      <p:ext uri="{BB962C8B-B14F-4D97-AF65-F5344CB8AC3E}">
        <p14:creationId xmlns:p14="http://schemas.microsoft.com/office/powerpoint/2010/main" val="303504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C3B9-1D8A-BE29-04C1-7833697C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8B55A-36C9-F758-FFC2-F3A11FBA6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Weak entities </a:t>
            </a:r>
            <a:r>
              <a:rPr lang="en-US" dirty="0">
                <a:highlight>
                  <a:srgbClr val="FFFF00"/>
                </a:highlight>
              </a:rPr>
              <a:t>do not have any primary key</a:t>
            </a:r>
          </a:p>
          <a:p>
            <a:r>
              <a:rPr lang="en-US" dirty="0"/>
              <a:t>They cannot be identified on their own, so they depend on some other entity (known as </a:t>
            </a:r>
            <a:r>
              <a:rPr lang="en-US" dirty="0">
                <a:highlight>
                  <a:srgbClr val="FFFF00"/>
                </a:highlight>
              </a:rPr>
              <a:t>owner entity</a:t>
            </a:r>
            <a:r>
              <a:rPr lang="en-US" dirty="0"/>
              <a:t>)</a:t>
            </a:r>
          </a:p>
          <a:p>
            <a:r>
              <a:rPr lang="en-US" dirty="0"/>
              <a:t>The weak entities </a:t>
            </a:r>
            <a:r>
              <a:rPr lang="en-US" dirty="0">
                <a:highlight>
                  <a:srgbClr val="FFFF00"/>
                </a:highlight>
              </a:rPr>
              <a:t>have total participation </a:t>
            </a:r>
            <a:r>
              <a:rPr lang="en-US" dirty="0"/>
              <a:t>constraints (existence dependency) in its identifying relationship with owner identity</a:t>
            </a:r>
          </a:p>
          <a:p>
            <a:r>
              <a:rPr lang="en-US" dirty="0"/>
              <a:t>Weak entity types have partial keys. Partial keys are set of attributes, with the help of which the tuples of weak entities can be identified and distinguished. </a:t>
            </a:r>
          </a:p>
        </p:txBody>
      </p:sp>
    </p:spTree>
    <p:extLst>
      <p:ext uri="{BB962C8B-B14F-4D97-AF65-F5344CB8AC3E}">
        <p14:creationId xmlns:p14="http://schemas.microsoft.com/office/powerpoint/2010/main" val="134819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D40B-8CE4-EB79-CC9C-FCD16019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6A923-C15B-81B4-BBC6-9892F43AB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Weak entities are represented with </a:t>
            </a:r>
            <a:r>
              <a:rPr lang="en-US" dirty="0">
                <a:highlight>
                  <a:srgbClr val="FFFF00"/>
                </a:highlight>
              </a:rPr>
              <a:t>double rectangular </a:t>
            </a:r>
            <a:r>
              <a:rPr lang="en-US" dirty="0"/>
              <a:t>box in the ER diagram</a:t>
            </a:r>
          </a:p>
          <a:p>
            <a:r>
              <a:rPr lang="en-US" dirty="0"/>
              <a:t>The identifying relationships are represented with </a:t>
            </a:r>
            <a:r>
              <a:rPr lang="en-US" dirty="0">
                <a:highlight>
                  <a:srgbClr val="FFFF00"/>
                </a:highlight>
              </a:rPr>
              <a:t>double diamond</a:t>
            </a:r>
          </a:p>
          <a:p>
            <a:r>
              <a:rPr lang="en-US" dirty="0"/>
              <a:t>Partial key attributes are represented with </a:t>
            </a:r>
            <a:r>
              <a:rPr lang="en-US" dirty="0">
                <a:highlight>
                  <a:srgbClr val="FFFF00"/>
                </a:highlight>
              </a:rPr>
              <a:t>dotted lines</a:t>
            </a:r>
          </a:p>
        </p:txBody>
      </p:sp>
    </p:spTree>
    <p:extLst>
      <p:ext uri="{BB962C8B-B14F-4D97-AF65-F5344CB8AC3E}">
        <p14:creationId xmlns:p14="http://schemas.microsoft.com/office/powerpoint/2010/main" val="126173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46AEE7-91F4-A0EB-3597-0DB2F337CF6E}"/>
              </a:ext>
            </a:extLst>
          </p:cNvPr>
          <p:cNvSpPr/>
          <p:nvPr/>
        </p:nvSpPr>
        <p:spPr>
          <a:xfrm>
            <a:off x="665017" y="3186545"/>
            <a:ext cx="1953491" cy="7273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Employee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9021C6-7FB7-1451-6451-76D3DADDF6E2}"/>
              </a:ext>
            </a:extLst>
          </p:cNvPr>
          <p:cNvSpPr/>
          <p:nvPr/>
        </p:nvSpPr>
        <p:spPr>
          <a:xfrm>
            <a:off x="9573492" y="3262745"/>
            <a:ext cx="1953491" cy="7273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Dependent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BC2907-590B-AF72-D9A3-EE954D318A7D}"/>
              </a:ext>
            </a:extLst>
          </p:cNvPr>
          <p:cNvSpPr/>
          <p:nvPr/>
        </p:nvSpPr>
        <p:spPr>
          <a:xfrm>
            <a:off x="9393382" y="3186545"/>
            <a:ext cx="2313710" cy="87976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Dependent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AE4526E-F897-75AE-01AF-09CB57C039C9}"/>
              </a:ext>
            </a:extLst>
          </p:cNvPr>
          <p:cNvSpPr/>
          <p:nvPr/>
        </p:nvSpPr>
        <p:spPr>
          <a:xfrm>
            <a:off x="4710545" y="2514600"/>
            <a:ext cx="3054927" cy="178757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D9CDB407-6B0B-2BEB-46C1-A7CDF85BFD05}"/>
              </a:ext>
            </a:extLst>
          </p:cNvPr>
          <p:cNvSpPr/>
          <p:nvPr/>
        </p:nvSpPr>
        <p:spPr>
          <a:xfrm>
            <a:off x="5077691" y="2854036"/>
            <a:ext cx="2327564" cy="1212273"/>
          </a:xfrm>
          <a:prstGeom prst="diamond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1F4D4F-91C7-735F-EF94-B195F5A4ED50}"/>
              </a:ext>
            </a:extLst>
          </p:cNvPr>
          <p:cNvSpPr/>
          <p:nvPr/>
        </p:nvSpPr>
        <p:spPr>
          <a:xfrm>
            <a:off x="5167747" y="644237"/>
            <a:ext cx="2237508" cy="76892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Amount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BEB5A2-03C8-5058-FBC0-0AAB1156DC14}"/>
              </a:ext>
            </a:extLst>
          </p:cNvPr>
          <p:cNvSpPr/>
          <p:nvPr/>
        </p:nvSpPr>
        <p:spPr>
          <a:xfrm>
            <a:off x="2618507" y="1028700"/>
            <a:ext cx="1530929" cy="7273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DD7614-F041-73C6-957D-859CBA7404B2}"/>
              </a:ext>
            </a:extLst>
          </p:cNvPr>
          <p:cNvSpPr/>
          <p:nvPr/>
        </p:nvSpPr>
        <p:spPr>
          <a:xfrm>
            <a:off x="110833" y="1028699"/>
            <a:ext cx="1530929" cy="7273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 err="1"/>
              <a:t>E_id</a:t>
            </a:r>
            <a:endParaRPr lang="en-US" u="sng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DC8F0C-87C8-13B1-3C54-802CE256D17D}"/>
              </a:ext>
            </a:extLst>
          </p:cNvPr>
          <p:cNvSpPr/>
          <p:nvPr/>
        </p:nvSpPr>
        <p:spPr>
          <a:xfrm>
            <a:off x="665017" y="4987636"/>
            <a:ext cx="1530929" cy="7273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address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ACB67F-FF0A-2C5D-7F1C-3A550A834252}"/>
              </a:ext>
            </a:extLst>
          </p:cNvPr>
          <p:cNvSpPr/>
          <p:nvPr/>
        </p:nvSpPr>
        <p:spPr>
          <a:xfrm>
            <a:off x="8627917" y="1392381"/>
            <a:ext cx="1530929" cy="7273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D175B4-D40F-77F2-9ECB-CCC4E0299D6F}"/>
              </a:ext>
            </a:extLst>
          </p:cNvPr>
          <p:cNvSpPr/>
          <p:nvPr/>
        </p:nvSpPr>
        <p:spPr>
          <a:xfrm>
            <a:off x="10616043" y="1392380"/>
            <a:ext cx="1530929" cy="7273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8A650F-E5BF-7CF7-BB17-1E02601BE59E}"/>
              </a:ext>
            </a:extLst>
          </p:cNvPr>
          <p:cNvCxnSpPr>
            <a:stCxn id="15" idx="4"/>
            <a:endCxn id="6" idx="0"/>
          </p:cNvCxnSpPr>
          <p:nvPr/>
        </p:nvCxnSpPr>
        <p:spPr>
          <a:xfrm>
            <a:off x="9393382" y="2119746"/>
            <a:ext cx="1156855" cy="1066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B0EEF9-58F7-4420-7008-5FA9D41A2A31}"/>
              </a:ext>
            </a:extLst>
          </p:cNvPr>
          <p:cNvCxnSpPr>
            <a:stCxn id="16" idx="4"/>
            <a:endCxn id="6" idx="0"/>
          </p:cNvCxnSpPr>
          <p:nvPr/>
        </p:nvCxnSpPr>
        <p:spPr>
          <a:xfrm flipH="1">
            <a:off x="10550237" y="2119745"/>
            <a:ext cx="831271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E03043-A1B8-F304-751E-0CB101021FF9}"/>
              </a:ext>
            </a:extLst>
          </p:cNvPr>
          <p:cNvCxnSpPr>
            <a:cxnSpLocks/>
            <a:stCxn id="11" idx="4"/>
            <a:endCxn id="7" idx="0"/>
          </p:cNvCxnSpPr>
          <p:nvPr/>
        </p:nvCxnSpPr>
        <p:spPr>
          <a:xfrm flipH="1">
            <a:off x="6238009" y="1413164"/>
            <a:ext cx="48492" cy="1101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6D49D3F-399C-2DD2-BCE8-FC1EEA0582BA}"/>
              </a:ext>
            </a:extLst>
          </p:cNvPr>
          <p:cNvCxnSpPr>
            <a:stCxn id="13" idx="4"/>
            <a:endCxn id="4" idx="0"/>
          </p:cNvCxnSpPr>
          <p:nvPr/>
        </p:nvCxnSpPr>
        <p:spPr>
          <a:xfrm>
            <a:off x="876298" y="1756064"/>
            <a:ext cx="765465" cy="1430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BAA3D3-79F8-9725-D486-FFF3AA942D4F}"/>
              </a:ext>
            </a:extLst>
          </p:cNvPr>
          <p:cNvCxnSpPr>
            <a:stCxn id="12" idx="4"/>
            <a:endCxn id="4" idx="0"/>
          </p:cNvCxnSpPr>
          <p:nvPr/>
        </p:nvCxnSpPr>
        <p:spPr>
          <a:xfrm flipH="1">
            <a:off x="1641763" y="1756065"/>
            <a:ext cx="1742209" cy="1430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B2FF02-ABAF-90BF-87A8-9D2EEC4BE7C4}"/>
              </a:ext>
            </a:extLst>
          </p:cNvPr>
          <p:cNvCxnSpPr>
            <a:stCxn id="4" idx="2"/>
            <a:endCxn id="14" idx="0"/>
          </p:cNvCxnSpPr>
          <p:nvPr/>
        </p:nvCxnSpPr>
        <p:spPr>
          <a:xfrm flipH="1">
            <a:off x="1430482" y="3913909"/>
            <a:ext cx="211281" cy="10737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CDBBAFE-1104-CCCE-2546-125F6FA5D635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2618508" y="3408389"/>
            <a:ext cx="2092037" cy="141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C0A3100-D9CB-360B-FC58-3B6562710CA1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7765472" y="3408389"/>
            <a:ext cx="1627910" cy="218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6CAEE01-83DD-1AA9-969D-0720AF42D73A}"/>
              </a:ext>
            </a:extLst>
          </p:cNvPr>
          <p:cNvSpPr txBox="1"/>
          <p:nvPr/>
        </p:nvSpPr>
        <p:spPr>
          <a:xfrm>
            <a:off x="1382004" y="2176531"/>
            <a:ext cx="84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Owner</a:t>
            </a:r>
          </a:p>
          <a:p>
            <a:r>
              <a:rPr lang="en-US" dirty="0">
                <a:highlight>
                  <a:srgbClr val="FFFF00"/>
                </a:highlight>
              </a:rPr>
              <a:t>entity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C2EC4E-0ADB-21D8-9935-8F44AA91D2DB}"/>
              </a:ext>
            </a:extLst>
          </p:cNvPr>
          <p:cNvSpPr txBox="1"/>
          <p:nvPr/>
        </p:nvSpPr>
        <p:spPr>
          <a:xfrm>
            <a:off x="6885234" y="2148138"/>
            <a:ext cx="1367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Identifying </a:t>
            </a:r>
          </a:p>
          <a:p>
            <a:r>
              <a:rPr lang="en-US" dirty="0">
                <a:highlight>
                  <a:srgbClr val="FFFF00"/>
                </a:highlight>
              </a:rPr>
              <a:t>relationship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FA1883-1202-97C1-BC45-5C4C25C36890}"/>
              </a:ext>
            </a:extLst>
          </p:cNvPr>
          <p:cNvSpPr txBox="1"/>
          <p:nvPr/>
        </p:nvSpPr>
        <p:spPr>
          <a:xfrm>
            <a:off x="9943102" y="4081440"/>
            <a:ext cx="1345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Weak entity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4495CA9-F257-AE95-FF0C-A810BE4A1B46}"/>
              </a:ext>
            </a:extLst>
          </p:cNvPr>
          <p:cNvCxnSpPr>
            <a:cxnSpLocks/>
          </p:cNvCxnSpPr>
          <p:nvPr/>
        </p:nvCxnSpPr>
        <p:spPr>
          <a:xfrm>
            <a:off x="7585365" y="3537195"/>
            <a:ext cx="1808016" cy="247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58402EE-898F-0B37-EB17-50DC26675E11}"/>
              </a:ext>
            </a:extLst>
          </p:cNvPr>
          <p:cNvSpPr txBox="1"/>
          <p:nvPr/>
        </p:nvSpPr>
        <p:spPr>
          <a:xfrm>
            <a:off x="2383441" y="5186594"/>
            <a:ext cx="4363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</a:t>
            </a:r>
            <a:br>
              <a:rPr lang="en-US" dirty="0"/>
            </a:br>
            <a:r>
              <a:rPr lang="en-US" dirty="0"/>
              <a:t>E2</a:t>
            </a:r>
            <a:br>
              <a:rPr lang="en-US" dirty="0"/>
            </a:br>
            <a:r>
              <a:rPr lang="en-US" dirty="0"/>
              <a:t>E3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73F0B2-95F9-4C09-6EBE-EB6F77D7225E}"/>
              </a:ext>
            </a:extLst>
          </p:cNvPr>
          <p:cNvSpPr txBox="1"/>
          <p:nvPr/>
        </p:nvSpPr>
        <p:spPr>
          <a:xfrm>
            <a:off x="2937624" y="5186594"/>
            <a:ext cx="1004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Alex</a:t>
            </a:r>
            <a:br>
              <a:rPr lang="en-US" dirty="0"/>
            </a:br>
            <a:r>
              <a:rPr lang="en-US" dirty="0"/>
              <a:t>Nick</a:t>
            </a:r>
            <a:br>
              <a:rPr lang="en-US" dirty="0"/>
            </a:br>
            <a:r>
              <a:rPr lang="en-US" dirty="0"/>
              <a:t>Marcos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A6B87D-0A04-4FFD-7D4C-99DFFB6ADAF3}"/>
              </a:ext>
            </a:extLst>
          </p:cNvPr>
          <p:cNvSpPr txBox="1"/>
          <p:nvPr/>
        </p:nvSpPr>
        <p:spPr>
          <a:xfrm>
            <a:off x="3904492" y="5186594"/>
            <a:ext cx="1004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Toronto</a:t>
            </a:r>
            <a:br>
              <a:rPr lang="en-US" dirty="0"/>
            </a:br>
            <a:r>
              <a:rPr lang="en-US" dirty="0"/>
              <a:t>Perth</a:t>
            </a:r>
            <a:br>
              <a:rPr lang="en-US" dirty="0"/>
            </a:br>
            <a:r>
              <a:rPr lang="en-US" dirty="0"/>
              <a:t>Ottawa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5C6495-8E57-603E-2F4A-B0FB6AC2DE17}"/>
              </a:ext>
            </a:extLst>
          </p:cNvPr>
          <p:cNvSpPr txBox="1"/>
          <p:nvPr/>
        </p:nvSpPr>
        <p:spPr>
          <a:xfrm>
            <a:off x="5249685" y="5186594"/>
            <a:ext cx="4363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</a:t>
            </a:r>
            <a:br>
              <a:rPr lang="en-US" dirty="0"/>
            </a:br>
            <a:r>
              <a:rPr lang="en-US" dirty="0"/>
              <a:t>E1</a:t>
            </a:r>
            <a:br>
              <a:rPr lang="en-US" dirty="0"/>
            </a:br>
            <a:r>
              <a:rPr lang="en-US" dirty="0"/>
              <a:t>E3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4A2DD6-966D-7A6B-25DF-2E798E64A640}"/>
              </a:ext>
            </a:extLst>
          </p:cNvPr>
          <p:cNvSpPr txBox="1"/>
          <p:nvPr/>
        </p:nvSpPr>
        <p:spPr>
          <a:xfrm>
            <a:off x="5703755" y="5186594"/>
            <a:ext cx="10047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Kate</a:t>
            </a:r>
            <a:br>
              <a:rPr lang="en-US" dirty="0"/>
            </a:br>
            <a:r>
              <a:rPr lang="en-US" dirty="0"/>
              <a:t>Sophia</a:t>
            </a:r>
            <a:br>
              <a:rPr lang="en-US" dirty="0"/>
            </a:br>
            <a:r>
              <a:rPr lang="en-US" dirty="0"/>
              <a:t>Kate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E874E4-4BB1-3979-66EF-3C357C3BB764}"/>
              </a:ext>
            </a:extLst>
          </p:cNvPr>
          <p:cNvSpPr txBox="1"/>
          <p:nvPr/>
        </p:nvSpPr>
        <p:spPr>
          <a:xfrm>
            <a:off x="6585230" y="5186594"/>
            <a:ext cx="595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</a:t>
            </a:r>
            <a:br>
              <a:rPr lang="en-US" dirty="0"/>
            </a:br>
            <a:r>
              <a:rPr lang="en-US" dirty="0"/>
              <a:t>6</a:t>
            </a:r>
            <a:br>
              <a:rPr lang="en-US" dirty="0"/>
            </a:br>
            <a:r>
              <a:rPr lang="en-US" dirty="0"/>
              <a:t>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D7F07F-4339-86B3-F48A-FD0E9BE39A86}"/>
              </a:ext>
            </a:extLst>
          </p:cNvPr>
          <p:cNvSpPr txBox="1"/>
          <p:nvPr/>
        </p:nvSpPr>
        <p:spPr>
          <a:xfrm>
            <a:off x="7989757" y="4916774"/>
            <a:ext cx="4157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Dependent always </a:t>
            </a:r>
            <a:r>
              <a:rPr lang="en-US" dirty="0">
                <a:highlight>
                  <a:srgbClr val="FFFF00"/>
                </a:highlight>
              </a:rPr>
              <a:t>participate totally. </a:t>
            </a:r>
            <a:r>
              <a:rPr lang="en-US" dirty="0"/>
              <a:t>Kate and Sophia would only exist if Employee table has E1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2581660-0DBF-8F52-0D4C-C9B7B0B280B0}"/>
              </a:ext>
            </a:extLst>
          </p:cNvPr>
          <p:cNvCxnSpPr/>
          <p:nvPr/>
        </p:nvCxnSpPr>
        <p:spPr>
          <a:xfrm>
            <a:off x="9080973" y="1918741"/>
            <a:ext cx="624815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06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36" grpId="0"/>
      <p:bldP spid="38" grpId="0"/>
      <p:bldP spid="39" grpId="0"/>
      <p:bldP spid="46" grpId="0"/>
      <p:bldP spid="47" grpId="0"/>
      <p:bldP spid="48" grpId="0"/>
      <p:bldP spid="49" grpId="0"/>
      <p:bldP spid="50" grpId="0"/>
      <p:bldP spid="51" grpId="0"/>
      <p:bldP spid="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BBF304F5-C40F-1C0C-4D87-40F594687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698500"/>
            <a:ext cx="3975100" cy="5461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1DF36E-CE12-83D8-68F8-53D4CE8DE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711607"/>
              </p:ext>
            </p:extLst>
          </p:nvPr>
        </p:nvGraphicFramePr>
        <p:xfrm>
          <a:off x="525379" y="698500"/>
          <a:ext cx="3449721" cy="1097280"/>
        </p:xfrm>
        <a:graphic>
          <a:graphicData uri="http://schemas.openxmlformats.org/drawingml/2006/table">
            <a:tbl>
              <a:tblPr/>
              <a:tblGrid>
                <a:gridCol w="1149907">
                  <a:extLst>
                    <a:ext uri="{9D8B030D-6E8A-4147-A177-3AD203B41FA5}">
                      <a16:colId xmlns:a16="http://schemas.microsoft.com/office/drawing/2014/main" val="1409542037"/>
                    </a:ext>
                  </a:extLst>
                </a:gridCol>
                <a:gridCol w="1149907">
                  <a:extLst>
                    <a:ext uri="{9D8B030D-6E8A-4147-A177-3AD203B41FA5}">
                      <a16:colId xmlns:a16="http://schemas.microsoft.com/office/drawing/2014/main" val="3436918627"/>
                    </a:ext>
                  </a:extLst>
                </a:gridCol>
                <a:gridCol w="1149907">
                  <a:extLst>
                    <a:ext uri="{9D8B030D-6E8A-4147-A177-3AD203B41FA5}">
                      <a16:colId xmlns:a16="http://schemas.microsoft.com/office/drawing/2014/main" val="3045344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facId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573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Dr. Smith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Professor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050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Dr. Khan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Lecturer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3972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16BDCB9-89F2-47C0-AD91-3F46FD6A9513}"/>
              </a:ext>
            </a:extLst>
          </p:cNvPr>
          <p:cNvSpPr txBox="1"/>
          <p:nvPr/>
        </p:nvSpPr>
        <p:spPr>
          <a:xfrm>
            <a:off x="325838" y="2052863"/>
            <a:ext cx="42588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Dr. Smith was evaluated:</a:t>
            </a:r>
          </a:p>
          <a:p>
            <a:pPr lvl="1"/>
            <a:r>
              <a:rPr lang="en-CA" dirty="0"/>
              <a:t>On </a:t>
            </a:r>
            <a:r>
              <a:rPr lang="en-CA" b="1" dirty="0"/>
              <a:t>2025-01-10</a:t>
            </a:r>
            <a:r>
              <a:rPr lang="en-CA" dirty="0"/>
              <a:t> by </a:t>
            </a:r>
            <a:r>
              <a:rPr lang="en-CA" b="1" dirty="0" err="1"/>
              <a:t>StudentA</a:t>
            </a:r>
            <a:r>
              <a:rPr lang="en-CA" dirty="0"/>
              <a:t>, rating </a:t>
            </a:r>
            <a:r>
              <a:rPr lang="en-CA" b="1" dirty="0"/>
              <a:t>4</a:t>
            </a:r>
            <a:endParaRPr lang="en-CA" dirty="0"/>
          </a:p>
          <a:p>
            <a:pPr lvl="1"/>
            <a:r>
              <a:rPr lang="en-CA" dirty="0"/>
              <a:t>On </a:t>
            </a:r>
            <a:r>
              <a:rPr lang="en-CA" b="1" dirty="0"/>
              <a:t>2025-01-10</a:t>
            </a:r>
            <a:r>
              <a:rPr lang="en-CA" dirty="0"/>
              <a:t> by </a:t>
            </a:r>
            <a:r>
              <a:rPr lang="en-CA" b="1" dirty="0" err="1"/>
              <a:t>StudentB</a:t>
            </a:r>
            <a:r>
              <a:rPr lang="en-CA" dirty="0"/>
              <a:t>, rating </a:t>
            </a:r>
            <a:r>
              <a:rPr lang="en-CA" b="1" dirty="0"/>
              <a:t>5</a:t>
            </a:r>
            <a:endParaRPr lang="en-CA" dirty="0"/>
          </a:p>
          <a:p>
            <a:r>
              <a:rPr lang="en-CA" dirty="0"/>
              <a:t>Dr. Khan was evaluated:</a:t>
            </a:r>
          </a:p>
          <a:p>
            <a:pPr lvl="1"/>
            <a:r>
              <a:rPr lang="en-CA" dirty="0"/>
              <a:t>On </a:t>
            </a:r>
            <a:r>
              <a:rPr lang="en-CA" b="1" dirty="0"/>
              <a:t>2025-01-10</a:t>
            </a:r>
            <a:r>
              <a:rPr lang="en-CA" dirty="0"/>
              <a:t> by </a:t>
            </a:r>
            <a:r>
              <a:rPr lang="en-CA" b="1" dirty="0" err="1"/>
              <a:t>StudentA</a:t>
            </a:r>
            <a:r>
              <a:rPr lang="en-CA" dirty="0"/>
              <a:t>, rating </a:t>
            </a:r>
            <a:r>
              <a:rPr lang="en-CA" b="1" dirty="0"/>
              <a:t>3</a:t>
            </a:r>
            <a:endParaRPr lang="en-CA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F7ED6E-0491-4103-0F70-E953A5D41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023278"/>
              </p:ext>
            </p:extLst>
          </p:nvPr>
        </p:nvGraphicFramePr>
        <p:xfrm>
          <a:off x="1955796" y="3807189"/>
          <a:ext cx="5257800" cy="146304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58153103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45354269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71251934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931836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facId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796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F101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2025-01-10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430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2025-01-10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870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F102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2025-01-10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StudentA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9835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C294DD-D29A-C3D9-FDE2-20B5D3D354ED}"/>
              </a:ext>
            </a:extLst>
          </p:cNvPr>
          <p:cNvSpPr txBox="1"/>
          <p:nvPr/>
        </p:nvSpPr>
        <p:spPr>
          <a:xfrm>
            <a:off x="3414401" y="5376849"/>
            <a:ext cx="178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Evaluation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F66FF-16AC-4E34-5971-D0DC4A543CBD}"/>
              </a:ext>
            </a:extLst>
          </p:cNvPr>
          <p:cNvSpPr txBox="1"/>
          <p:nvPr/>
        </p:nvSpPr>
        <p:spPr>
          <a:xfrm>
            <a:off x="3559742" y="6159500"/>
            <a:ext cx="4093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What will happen if one faculty quits?</a:t>
            </a:r>
          </a:p>
        </p:txBody>
      </p:sp>
    </p:spTree>
    <p:extLst>
      <p:ext uri="{BB962C8B-B14F-4D97-AF65-F5344CB8AC3E}">
        <p14:creationId xmlns:p14="http://schemas.microsoft.com/office/powerpoint/2010/main" val="268508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EA74-41FA-463E-405B-FFBC4C04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(extended ER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4478C-A949-41B9-F310-EC3EECB8F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37354" cy="4351338"/>
          </a:xfrm>
        </p:spPr>
        <p:txBody>
          <a:bodyPr/>
          <a:lstStyle/>
          <a:p>
            <a:r>
              <a:rPr lang="en-CA" b="1" dirty="0"/>
              <a:t>Specialization</a:t>
            </a:r>
            <a:r>
              <a:rPr lang="en-CA" dirty="0"/>
              <a:t> focuses on dividing a general entity type, or superclass, into smaller, more specific categories called </a:t>
            </a:r>
            <a:r>
              <a:rPr lang="en-CA" b="1" dirty="0"/>
              <a:t>subclasses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0F5B3C12-4784-7C98-5690-9C96A431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554" y="1871342"/>
            <a:ext cx="5301729" cy="212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46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B67D-E8FB-AC55-9E4D-E4569E00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Constraints on Specialization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2B688-BC86-726F-BF52-455AFEA2D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While working on specializations, we face some constraints.</a:t>
            </a:r>
          </a:p>
          <a:p>
            <a:pPr lvl="1"/>
            <a:r>
              <a:rPr lang="en-CA" dirty="0">
                <a:highlight>
                  <a:srgbClr val="FFFF00"/>
                </a:highlight>
              </a:rPr>
              <a:t>Disjoint</a:t>
            </a:r>
            <a:r>
              <a:rPr lang="en-CA" dirty="0"/>
              <a:t>: </a:t>
            </a:r>
          </a:p>
          <a:p>
            <a:pPr lvl="2"/>
            <a:r>
              <a:rPr lang="en-CA" dirty="0"/>
              <a:t>Entities can belong to only one subclass</a:t>
            </a:r>
          </a:p>
          <a:p>
            <a:pPr lvl="2"/>
            <a:r>
              <a:rPr lang="en-CA" dirty="0"/>
              <a:t>an EMPLOYEE cannot simultaneously be a TECHNICIAN and an ENGINEER.</a:t>
            </a:r>
            <a:br>
              <a:rPr lang="en-CA" dirty="0"/>
            </a:br>
            <a:endParaRPr lang="en-CA" dirty="0"/>
          </a:p>
          <a:p>
            <a:pPr lvl="1"/>
            <a:r>
              <a:rPr lang="en-CA" dirty="0">
                <a:highlight>
                  <a:srgbClr val="FFFF00"/>
                </a:highlight>
              </a:rPr>
              <a:t>Overlapping</a:t>
            </a:r>
            <a:r>
              <a:rPr lang="en-CA" dirty="0"/>
              <a:t>: </a:t>
            </a:r>
          </a:p>
          <a:p>
            <a:pPr lvl="2"/>
            <a:r>
              <a:rPr lang="en-CA" dirty="0"/>
              <a:t>Entities can belong to multiple subclasses.</a:t>
            </a:r>
          </a:p>
          <a:p>
            <a:pPr lvl="2"/>
            <a:r>
              <a:rPr lang="en-CA" dirty="0"/>
              <a:t>a salaried engineer could belong to both SALARIED_EMPLOYEE and ENGINEER.</a:t>
            </a:r>
          </a:p>
        </p:txBody>
      </p:sp>
    </p:spTree>
    <p:extLst>
      <p:ext uri="{BB962C8B-B14F-4D97-AF65-F5344CB8AC3E}">
        <p14:creationId xmlns:p14="http://schemas.microsoft.com/office/powerpoint/2010/main" val="237484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FC8E-067C-3A1B-8F33-20B7683A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Constraints on Specialization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AD69-3B32-A14D-198D-60312C877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Completeness constraint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	</a:t>
            </a:r>
            <a:endParaRPr lang="en-CA" dirty="0"/>
          </a:p>
          <a:p>
            <a:pPr lvl="1"/>
            <a:r>
              <a:rPr lang="en-CA" dirty="0">
                <a:highlight>
                  <a:srgbClr val="FFFF00"/>
                </a:highlight>
              </a:rPr>
              <a:t>Total</a:t>
            </a:r>
            <a:r>
              <a:rPr lang="en-CA" dirty="0"/>
              <a:t>:   Every entity in the superclass must belong to at least one subclass.</a:t>
            </a:r>
          </a:p>
          <a:p>
            <a:pPr lvl="2"/>
            <a:r>
              <a:rPr lang="en-CA" dirty="0"/>
              <a:t>For example, all EMPLOYEES are either HOURLY_EMPLOYEES or SALARIED_EMPLOYEES.</a:t>
            </a:r>
          </a:p>
          <a:p>
            <a:pPr lvl="1"/>
            <a:r>
              <a:rPr lang="en-CA" dirty="0">
                <a:highlight>
                  <a:srgbClr val="FFFF00"/>
                </a:highlight>
              </a:rPr>
              <a:t>Partial</a:t>
            </a:r>
            <a:r>
              <a:rPr lang="en-CA" dirty="0"/>
              <a:t>:  Some entities may not belong to any subclass.</a:t>
            </a:r>
          </a:p>
          <a:p>
            <a:pPr lvl="2"/>
            <a:r>
              <a:rPr lang="en-CA" dirty="0"/>
              <a:t>For example, not every EMPLOYEE is a SECRETARY, ENGINEER, or TECHNICIAN.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34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19B4-A033-6AC7-AFCD-CB1B79B6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have covered so far:</a:t>
            </a:r>
          </a:p>
        </p:txBody>
      </p:sp>
      <p:pic>
        <p:nvPicPr>
          <p:cNvPr id="5" name="Content Placeholder 4" descr="A diagram of a model&#10;&#10;AI-generated content may be incorrect.">
            <a:extLst>
              <a:ext uri="{FF2B5EF4-FFF2-40B4-BE49-F238E27FC236}">
                <a16:creationId xmlns:a16="http://schemas.microsoft.com/office/drawing/2014/main" id="{ABAC2AC2-4A41-F04D-4242-E8985E3D7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8352" y="2700405"/>
            <a:ext cx="9075295" cy="1457190"/>
          </a:xfrm>
        </p:spPr>
      </p:pic>
    </p:spTree>
    <p:extLst>
      <p:ext uri="{BB962C8B-B14F-4D97-AF65-F5344CB8AC3E}">
        <p14:creationId xmlns:p14="http://schemas.microsoft.com/office/powerpoint/2010/main" val="306776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6C4A-2D8F-FD6C-E0F9-4C0D7D57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CA" b="1" dirty="0"/>
              <a:t>Symbols Used in ER Model</a:t>
            </a:r>
            <a:endParaRPr lang="en-US" dirty="0"/>
          </a:p>
        </p:txBody>
      </p:sp>
      <p:pic>
        <p:nvPicPr>
          <p:cNvPr id="9" name="Content Placeholder 8" descr="A chart of a structure&#10;&#10;AI-generated content may be incorrect.">
            <a:extLst>
              <a:ext uri="{FF2B5EF4-FFF2-40B4-BE49-F238E27FC236}">
                <a16:creationId xmlns:a16="http://schemas.microsoft.com/office/drawing/2014/main" id="{718BB0C1-7CF8-08F0-EE62-3B8374BEB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2688" y="1615421"/>
            <a:ext cx="4104299" cy="487745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DFF9D9-1C46-4B01-1017-6F7BDE47D88B}"/>
              </a:ext>
            </a:extLst>
          </p:cNvPr>
          <p:cNvSpPr txBox="1"/>
          <p:nvPr/>
        </p:nvSpPr>
        <p:spPr>
          <a:xfrm>
            <a:off x="8034728" y="6362070"/>
            <a:ext cx="40142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tutorials.freshersnow.com</a:t>
            </a:r>
            <a:r>
              <a:rPr lang="en-US" sz="1100" dirty="0"/>
              <a:t>/entity-relationship-diagram/</a:t>
            </a:r>
          </a:p>
        </p:txBody>
      </p:sp>
    </p:spTree>
    <p:extLst>
      <p:ext uri="{BB962C8B-B14F-4D97-AF65-F5344CB8AC3E}">
        <p14:creationId xmlns:p14="http://schemas.microsoft.com/office/powerpoint/2010/main" val="206620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CD55-4497-36F6-BC28-A640888A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draw 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8760-7F73-9040-383B-7C587BAD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Read the question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Read the question </a:t>
            </a:r>
            <a:r>
              <a:rPr lang="en-US" dirty="0">
                <a:highlight>
                  <a:srgbClr val="FFFF00"/>
                </a:highlight>
              </a:rPr>
              <a:t>(again)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Read the question</a:t>
            </a:r>
            <a:r>
              <a:rPr lang="en-US" dirty="0">
                <a:highlight>
                  <a:srgbClr val="FFFF00"/>
                </a:highlight>
              </a:rPr>
              <a:t>(again)</a:t>
            </a:r>
          </a:p>
          <a:p>
            <a:pPr marL="514350" indent="-514350">
              <a:buAutoNum type="arabicPeriod"/>
            </a:pPr>
            <a:r>
              <a:rPr lang="en-US" dirty="0"/>
              <a:t>Identify the entity sets</a:t>
            </a:r>
          </a:p>
          <a:p>
            <a:pPr marL="514350" indent="-514350">
              <a:buAutoNum type="arabicPeriod"/>
            </a:pPr>
            <a:r>
              <a:rPr lang="en-US" dirty="0"/>
              <a:t>Identify the relevant attributes</a:t>
            </a:r>
          </a:p>
          <a:p>
            <a:pPr marL="514350" indent="-514350">
              <a:buAutoNum type="arabicPeriod"/>
            </a:pPr>
            <a:r>
              <a:rPr lang="en-US" dirty="0"/>
              <a:t>Identify the primary keys (and any other keys)</a:t>
            </a:r>
          </a:p>
          <a:p>
            <a:pPr marL="514350" indent="-514350">
              <a:buAutoNum type="arabicPeriod"/>
            </a:pPr>
            <a:r>
              <a:rPr lang="en-US" dirty="0"/>
              <a:t>Identify the relationships</a:t>
            </a:r>
          </a:p>
          <a:p>
            <a:pPr marL="514350" indent="-514350">
              <a:buAutoNum type="arabicPeriod"/>
            </a:pPr>
            <a:r>
              <a:rPr lang="en-US" dirty="0"/>
              <a:t>Complete the diagram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44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5145-044B-3B59-0B65-B138498F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3232B-E395-4FF8-FC23-F2E45FC94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Suppose you are given the following requirements for a simple database for the National Hockey League (NHL):</a:t>
            </a:r>
          </a:p>
          <a:p>
            <a:pPr lvl="1"/>
            <a:r>
              <a:rPr lang="en-US" dirty="0"/>
              <a:t>the NHL has many teams</a:t>
            </a:r>
          </a:p>
          <a:p>
            <a:pPr lvl="1"/>
            <a:r>
              <a:rPr lang="en-US" dirty="0"/>
              <a:t>each team has a name, a city, a coach, a captain, and a set of players,</a:t>
            </a:r>
          </a:p>
          <a:p>
            <a:pPr lvl="1"/>
            <a:r>
              <a:rPr lang="en-US" dirty="0"/>
              <a:t>each player belongs to only one team,</a:t>
            </a:r>
          </a:p>
          <a:p>
            <a:pPr lvl="1"/>
            <a:r>
              <a:rPr lang="en-US" dirty="0"/>
              <a:t>each player has a name, a position (such as left wing or goalie), a skill level, and a set of injury records,</a:t>
            </a:r>
          </a:p>
          <a:p>
            <a:pPr lvl="1"/>
            <a:r>
              <a:rPr lang="en-US" dirty="0"/>
              <a:t>a team captain is also a player,</a:t>
            </a:r>
          </a:p>
          <a:p>
            <a:pPr lvl="1"/>
            <a:r>
              <a:rPr lang="en-US" dirty="0"/>
              <a:t>a game is played between two teams (referred to as host team and </a:t>
            </a:r>
            <a:r>
              <a:rPr lang="en-US" dirty="0" err="1"/>
              <a:t>guest_team</a:t>
            </a:r>
            <a:r>
              <a:rPr lang="en-US" dirty="0"/>
              <a:t>) and has a date (such as May 11th, 1999) and a score (such as 4 to 2).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Construct a clean and concise ER diagram for the NHL database</a:t>
            </a:r>
          </a:p>
        </p:txBody>
      </p:sp>
    </p:spTree>
    <p:extLst>
      <p:ext uri="{BB962C8B-B14F-4D97-AF65-F5344CB8AC3E}">
        <p14:creationId xmlns:p14="http://schemas.microsoft.com/office/powerpoint/2010/main" val="125866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1E7D7-DAE2-44EC-BC83-17DAFE85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3D11F-24C0-2FA8-195C-60AEEB8F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A8C03-59ED-71FC-17EE-BF7680B0C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Suppose you are given the following requirements for a simple database for the National Hockey League (NHL):</a:t>
            </a:r>
          </a:p>
          <a:p>
            <a:pPr lvl="1"/>
            <a:r>
              <a:rPr lang="en-US" dirty="0"/>
              <a:t>the NHL has many </a:t>
            </a:r>
            <a:r>
              <a:rPr lang="en-US" dirty="0">
                <a:highlight>
                  <a:srgbClr val="FFFF00"/>
                </a:highlight>
              </a:rPr>
              <a:t>teams</a:t>
            </a:r>
          </a:p>
          <a:p>
            <a:pPr lvl="1"/>
            <a:r>
              <a:rPr lang="en-US" dirty="0"/>
              <a:t>each team has </a:t>
            </a:r>
            <a:r>
              <a:rPr lang="en-US" dirty="0">
                <a:highlight>
                  <a:srgbClr val="00FF00"/>
                </a:highlight>
              </a:rPr>
              <a:t>a name, a city, a coach, a captain, and a set of players,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highlight>
                  <a:srgbClr val="FFFF00"/>
                </a:highlight>
              </a:rPr>
              <a:t>player</a:t>
            </a:r>
            <a:r>
              <a:rPr lang="en-US" dirty="0"/>
              <a:t> belongs to only one team,</a:t>
            </a:r>
          </a:p>
          <a:p>
            <a:pPr lvl="1"/>
            <a:r>
              <a:rPr lang="en-US" dirty="0"/>
              <a:t>each player has </a:t>
            </a:r>
            <a:r>
              <a:rPr lang="en-US" dirty="0">
                <a:highlight>
                  <a:srgbClr val="00FF00"/>
                </a:highlight>
              </a:rPr>
              <a:t>a name, a position (such as left wing or goalie), a skill level,</a:t>
            </a:r>
            <a:r>
              <a:rPr lang="en-US" dirty="0"/>
              <a:t> and a set of </a:t>
            </a:r>
            <a:r>
              <a:rPr lang="en-US" dirty="0">
                <a:highlight>
                  <a:srgbClr val="FFFF00"/>
                </a:highlight>
              </a:rPr>
              <a:t>injury records</a:t>
            </a:r>
            <a:r>
              <a:rPr lang="en-US" dirty="0"/>
              <a:t>,</a:t>
            </a:r>
          </a:p>
          <a:p>
            <a:pPr lvl="1"/>
            <a:r>
              <a:rPr lang="en-US" dirty="0">
                <a:highlight>
                  <a:srgbClr val="FF0000"/>
                </a:highlight>
              </a:rPr>
              <a:t>a team captain is also a player,</a:t>
            </a:r>
          </a:p>
          <a:p>
            <a:pPr lvl="1"/>
            <a:r>
              <a:rPr lang="en-US" dirty="0">
                <a:highlight>
                  <a:srgbClr val="FF0000"/>
                </a:highlight>
              </a:rPr>
              <a:t>a game is played between two teams </a:t>
            </a:r>
            <a:r>
              <a:rPr lang="en-US" dirty="0"/>
              <a:t>(referred to as host team and </a:t>
            </a:r>
            <a:r>
              <a:rPr lang="en-US" dirty="0" err="1"/>
              <a:t>guest_team</a:t>
            </a:r>
            <a:r>
              <a:rPr lang="en-US" dirty="0"/>
              <a:t>) and has a date (such as May 11th, 1999) and a score (such as 4 to 2).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Construct a clean and concise ER diagram for the NHL database</a:t>
            </a:r>
          </a:p>
        </p:txBody>
      </p:sp>
    </p:spTree>
    <p:extLst>
      <p:ext uri="{BB962C8B-B14F-4D97-AF65-F5344CB8AC3E}">
        <p14:creationId xmlns:p14="http://schemas.microsoft.com/office/powerpoint/2010/main" val="1944570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5C90-F159-2B8A-71DF-DB69813FF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entity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4920-3C43-B91D-336C-8C6F781F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  <a:p>
            <a:r>
              <a:rPr lang="en-US" dirty="0"/>
              <a:t>PLAYER</a:t>
            </a:r>
          </a:p>
          <a:p>
            <a:r>
              <a:rPr lang="en-US" dirty="0"/>
              <a:t>INJURY_RECORD</a:t>
            </a:r>
          </a:p>
        </p:txBody>
      </p:sp>
    </p:spTree>
    <p:extLst>
      <p:ext uri="{BB962C8B-B14F-4D97-AF65-F5344CB8AC3E}">
        <p14:creationId xmlns:p14="http://schemas.microsoft.com/office/powerpoint/2010/main" val="395056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746D3-7BD7-B224-1E5B-F028CD13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relevant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723E9-54CC-3A00-C50A-CBACB0026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Team: </a:t>
            </a:r>
            <a:r>
              <a:rPr lang="en-US" dirty="0" err="1"/>
              <a:t>tname</a:t>
            </a:r>
            <a:r>
              <a:rPr lang="en-US" dirty="0"/>
              <a:t>, city, coach</a:t>
            </a:r>
          </a:p>
          <a:p>
            <a:r>
              <a:rPr lang="en-US" dirty="0"/>
              <a:t>Player:  </a:t>
            </a:r>
            <a:r>
              <a:rPr lang="en-US" dirty="0" err="1"/>
              <a:t>pid</a:t>
            </a:r>
            <a:r>
              <a:rPr lang="en-US" dirty="0"/>
              <a:t>, </a:t>
            </a:r>
            <a:r>
              <a:rPr lang="en-US" dirty="0" err="1"/>
              <a:t>pname</a:t>
            </a:r>
            <a:r>
              <a:rPr lang="en-US" dirty="0"/>
              <a:t>, position, </a:t>
            </a:r>
            <a:r>
              <a:rPr lang="en-US" dirty="0" err="1"/>
              <a:t>skill_level</a:t>
            </a:r>
            <a:endParaRPr lang="en-US" dirty="0"/>
          </a:p>
          <a:p>
            <a:r>
              <a:rPr lang="en-US" dirty="0"/>
              <a:t>Injury records: </a:t>
            </a:r>
            <a:r>
              <a:rPr lang="en-US" dirty="0" err="1"/>
              <a:t>injury_id</a:t>
            </a:r>
            <a:r>
              <a:rPr lang="en-US" dirty="0"/>
              <a:t>, description</a:t>
            </a:r>
          </a:p>
        </p:txBody>
      </p:sp>
    </p:spTree>
    <p:extLst>
      <p:ext uri="{BB962C8B-B14F-4D97-AF65-F5344CB8AC3E}">
        <p14:creationId xmlns:p14="http://schemas.microsoft.com/office/powerpoint/2010/main" val="159332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0CC8-475F-1C5E-7F7A-0A2B041D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primary keys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928C4-E4F6-7E93-FE76-F294DF228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TEAM: </a:t>
            </a:r>
            <a:r>
              <a:rPr lang="en-US" dirty="0" err="1"/>
              <a:t>t_name</a:t>
            </a:r>
            <a:endParaRPr lang="en-US" dirty="0"/>
          </a:p>
          <a:p>
            <a:r>
              <a:rPr lang="en-US" dirty="0"/>
              <a:t>PLAYER: </a:t>
            </a:r>
            <a:r>
              <a:rPr lang="en-US" dirty="0" err="1"/>
              <a:t>pid</a:t>
            </a:r>
            <a:endParaRPr lang="en-US" dirty="0"/>
          </a:p>
          <a:p>
            <a:r>
              <a:rPr lang="en-US" dirty="0"/>
              <a:t>INJURY_RECORD: {</a:t>
            </a:r>
            <a:r>
              <a:rPr lang="en-US" dirty="0" err="1"/>
              <a:t>pid,injury_id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0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D4198-CE82-01D9-9FC3-028E8BAD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CBB5-ECA5-E917-6F3D-70A39EEE5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team has a name, a city, a coach, a captain, and a set of players, </a:t>
            </a:r>
          </a:p>
          <a:p>
            <a:r>
              <a:rPr lang="en-US" dirty="0"/>
              <a:t>each player belongs to only one team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BCADF2-256F-994F-6AAF-421D87F7A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39086" y="1068787"/>
            <a:ext cx="2713827" cy="77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6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80D9A-190A-D7DB-9951-38CCF8821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6569-C940-1DD6-D48C-1EF9762E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5020E-A0E1-9C48-07D2-819179424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team has a name, a city, a coach, a captain, and a set of players, </a:t>
            </a:r>
          </a:p>
          <a:p>
            <a:r>
              <a:rPr lang="en-US" dirty="0"/>
              <a:t>a team captain is also a player,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CB992C-E3D7-81FD-A803-653FD3DDA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853608" y="1357486"/>
            <a:ext cx="2484783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8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5193C-D34C-CAB2-BB73-12DC6C29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8E0F-78A7-EFA9-4EBD-F19307002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CBA33-9CED-595F-5BD5-3C0317192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player has a name, a position (such as left wing or goalie), a skill level, and a set of injury records,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6FA94-F2B3-F8F8-8222-271C51701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689873" y="884637"/>
            <a:ext cx="2812252" cy="77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9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09F7F-64F7-4CF9-485F-B0943B6E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5ADC0-FE30-A899-3D37-2CB49C10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BBA2F-CF17-789F-BFD6-D2153B88F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game is played between two teams (referred to as host team and </a:t>
            </a:r>
            <a:r>
              <a:rPr lang="en-US" dirty="0" err="1"/>
              <a:t>guest_team</a:t>
            </a:r>
            <a:r>
              <a:rPr lang="en-US" dirty="0"/>
              <a:t>) and has a date (such as May 11th, 1999) and a score (such as 4 to 2).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B5F270-5539-B361-AACD-32815FF26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216" y="3301089"/>
            <a:ext cx="4507675" cy="3321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047555-C9FA-B7B8-98E3-A55704A72F37}"/>
              </a:ext>
            </a:extLst>
          </p:cNvPr>
          <p:cNvSpPr txBox="1"/>
          <p:nvPr/>
        </p:nvSpPr>
        <p:spPr>
          <a:xfrm>
            <a:off x="8963466" y="5147734"/>
            <a:ext cx="2390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Recursive relationship</a:t>
            </a:r>
          </a:p>
        </p:txBody>
      </p:sp>
    </p:spTree>
    <p:extLst>
      <p:ext uri="{BB962C8B-B14F-4D97-AF65-F5344CB8AC3E}">
        <p14:creationId xmlns:p14="http://schemas.microsoft.com/office/powerpoint/2010/main" val="226614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C8A3D-93B6-D3D6-3F9C-C7A68116C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525" y="-469"/>
            <a:ext cx="10515600" cy="1325563"/>
          </a:xfrm>
        </p:spPr>
        <p:txBody>
          <a:bodyPr/>
          <a:lstStyle/>
          <a:p>
            <a:r>
              <a:rPr lang="en-US" dirty="0"/>
              <a:t>Connect them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5960D-5A93-5392-0860-40848E775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427667" y="-277268"/>
            <a:ext cx="1501922" cy="43015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D59238-0D66-23C1-C24D-908BE2590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245965" y="437168"/>
            <a:ext cx="1865327" cy="58347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9259CB-B4E0-EA2D-48A6-5D1ACBB49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426637" y="2305703"/>
            <a:ext cx="2224992" cy="6149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38F99B-3F09-1C19-0FD3-AB17C1F31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867" y="1693642"/>
            <a:ext cx="4507675" cy="332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0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7425-6419-740D-D7F2-16369C89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ER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4A36A8-10F5-B87B-1CEC-2BEE2844E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3777919" y="-1699535"/>
            <a:ext cx="4877627" cy="1150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9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998</Words>
  <Application>Microsoft Macintosh PowerPoint</Application>
  <PresentationFormat>Widescreen</PresentationFormat>
  <Paragraphs>142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ER models</vt:lpstr>
      <vt:lpstr>Weak Entities</vt:lpstr>
      <vt:lpstr>Weak Entities</vt:lpstr>
      <vt:lpstr>Weak Entities</vt:lpstr>
      <vt:lpstr>PowerPoint Presentation</vt:lpstr>
      <vt:lpstr>PowerPoint Presentation</vt:lpstr>
      <vt:lpstr>Specialization (extended ER model)</vt:lpstr>
      <vt:lpstr>Constraints on Specialization</vt:lpstr>
      <vt:lpstr>Constraints on Specialization</vt:lpstr>
      <vt:lpstr>What we have covered so far:</vt:lpstr>
      <vt:lpstr>Symbols Used in ER Model</vt:lpstr>
      <vt:lpstr>Steps to draw ER diagram</vt:lpstr>
      <vt:lpstr>Question</vt:lpstr>
      <vt:lpstr>Question</vt:lpstr>
      <vt:lpstr>Identify the entity set</vt:lpstr>
      <vt:lpstr>Identify the relevant attributes</vt:lpstr>
      <vt:lpstr>Identify the primary keys </vt:lpstr>
      <vt:lpstr>Identify the relationships</vt:lpstr>
      <vt:lpstr>Identify the relationships</vt:lpstr>
      <vt:lpstr>Identify the relationships</vt:lpstr>
      <vt:lpstr>Identify the relationships</vt:lpstr>
      <vt:lpstr>Connect them</vt:lpstr>
      <vt:lpstr>Complete ER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2</cp:revision>
  <dcterms:created xsi:type="dcterms:W3CDTF">2026-01-13T21:51:42Z</dcterms:created>
  <dcterms:modified xsi:type="dcterms:W3CDTF">2026-01-14T03:35:14Z</dcterms:modified>
</cp:coreProperties>
</file>