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4"/>
    <p:sldId id="258"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4"/>
    <p:restoredTop sz="94645"/>
  </p:normalViewPr>
  <p:slideViewPr>
    <p:cSldViewPr snapToGrid="0">
      <p:cViewPr varScale="1">
        <p:scale>
          <a:sx n="102" d="100"/>
          <a:sy n="102" d="100"/>
        </p:scale>
        <p:origin x="200" y="9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FF49-68C5-B3F8-8971-6B4E5ABA69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F62CAC-DE89-E8F1-9606-3FD619F12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643E92-97FD-7746-C60E-32F862028D56}"/>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3F276459-933B-8548-DA1B-E4B81D199B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DE5E20-671D-8777-A582-00F0999F5364}"/>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1023178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AAC3-6E69-0C4D-28DD-A8D317D7E4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E24F80-6CE0-CAE7-92E6-DA4BF39FDF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CE5EE2-07D8-8E12-300D-1A50435AC638}"/>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6688DD0B-4BE1-1DAD-0793-7AD34A1AB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F86CB-5F2F-2558-0B92-5261B8620A5B}"/>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4000324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A8D4-AB1E-1919-995F-0580F69EA6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7E9FAD-7E95-0C81-9D38-6F49744211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8CAD81-17AE-AD44-3E7B-AC50CBED0B8D}"/>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8BCE4E9F-0794-C1BE-629A-3D711CA79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4B3686-B3CC-1C90-C7AE-A40AE4E47EB4}"/>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2920146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C964-5803-DAFE-8976-5F96E68AF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D96BB-6F8D-A137-C67C-063B2394D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A784EC-B40C-6FE1-157A-0FB6068B6F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82988B-C464-2456-F101-404697E238EC}"/>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6" name="Footer Placeholder 5">
            <a:extLst>
              <a:ext uri="{FF2B5EF4-FFF2-40B4-BE49-F238E27FC236}">
                <a16:creationId xmlns:a16="http://schemas.microsoft.com/office/drawing/2014/main" id="{81236803-D0D7-CD60-7ECB-E8EED809F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CF387F-F5E9-A5E0-C30D-E1A924D7119A}"/>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3740445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8A8BE-DFB8-D4F3-9EA1-8760DB32CD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3AA55D-6D8D-20B2-FEBC-3060D10950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50B4C1-1F1B-99AB-D690-9749E17439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0E7098-1793-464D-6FB2-2267494484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21309-4FCB-9321-3223-27E82608E2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D3C501-3036-E894-BE3D-657EB82F08CE}"/>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8" name="Footer Placeholder 7">
            <a:extLst>
              <a:ext uri="{FF2B5EF4-FFF2-40B4-BE49-F238E27FC236}">
                <a16:creationId xmlns:a16="http://schemas.microsoft.com/office/drawing/2014/main" id="{82E8D384-906F-DFE9-3238-9CA8B80A49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31BD5-256D-927C-8381-0A76A38A72DB}"/>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167949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49E4B-0A37-2DBA-BDB2-04CB432C54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D3B005-5C2D-147D-7C61-63970374693E}"/>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4" name="Footer Placeholder 3">
            <a:extLst>
              <a:ext uri="{FF2B5EF4-FFF2-40B4-BE49-F238E27FC236}">
                <a16:creationId xmlns:a16="http://schemas.microsoft.com/office/drawing/2014/main" id="{00E81EE1-E118-4498-24CE-94322C97C1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63F8AB-3B1A-9164-FCA4-54E9279B8A3B}"/>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155859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B4FE9A-3D25-B333-B023-E0C308BBD203}"/>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3" name="Footer Placeholder 2">
            <a:extLst>
              <a:ext uri="{FF2B5EF4-FFF2-40B4-BE49-F238E27FC236}">
                <a16:creationId xmlns:a16="http://schemas.microsoft.com/office/drawing/2014/main" id="{58F3F419-669C-BF5A-BF2C-9D4D91696B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C04739-8C0E-9CA7-F938-7DBD3AC43D7A}"/>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124724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15F1-23E2-8235-01A7-98A259107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EECFEB-8273-4115-95A9-D37C7050B2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57B27C-00C8-4008-44E1-26C23C8E2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8EE5C9-0CCD-B1B8-C1A0-32BAF15BB3F6}"/>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6" name="Footer Placeholder 5">
            <a:extLst>
              <a:ext uri="{FF2B5EF4-FFF2-40B4-BE49-F238E27FC236}">
                <a16:creationId xmlns:a16="http://schemas.microsoft.com/office/drawing/2014/main" id="{31413784-4907-A0F9-2ECC-5E54774BB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47078C-0B4A-2259-2A8F-E82501D2CF17}"/>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3399878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D36B-C6F5-C9C8-B87D-E4628B5F4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76534-AF4B-A93C-932C-18C22B620F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353B85-C09B-3C5F-A568-C889CA54D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799D1-B923-531B-FD63-1D3DAADEDCE5}"/>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6" name="Footer Placeholder 5">
            <a:extLst>
              <a:ext uri="{FF2B5EF4-FFF2-40B4-BE49-F238E27FC236}">
                <a16:creationId xmlns:a16="http://schemas.microsoft.com/office/drawing/2014/main" id="{E32387FE-3CC7-D611-C0F3-EAE95AA62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2FA86-C270-DC71-66A9-096C31E6F416}"/>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175256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9E340-3B74-CA8C-C7D0-CCD8E74ED6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204AAC-4FE3-9601-51FD-A46F7EB7FA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CC228B-563F-03CA-45C3-B5708DC1A177}"/>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A28C438C-2A17-0791-8A93-8C4F802FB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79BEF-605F-6038-68D3-D792D830AFF9}"/>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254368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211E86-EC8B-A7E3-44C7-61C5A84427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4E6852-6112-4628-A887-2414A4DD10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BB5460-8AB1-5B37-E3D0-A4982CE6C122}"/>
              </a:ext>
            </a:extLst>
          </p:cNvPr>
          <p:cNvSpPr>
            <a:spLocks noGrp="1"/>
          </p:cNvSpPr>
          <p:nvPr>
            <p:ph type="dt" sz="half" idx="10"/>
          </p:nvPr>
        </p:nvSpPr>
        <p:spPr/>
        <p:txBody>
          <a:body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BA109A78-63C1-940C-6B15-51EC36B2F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17ED2-CF39-FDB7-BDA9-4E898DB6F66F}"/>
              </a:ext>
            </a:extLst>
          </p:cNvPr>
          <p:cNvSpPr>
            <a:spLocks noGrp="1"/>
          </p:cNvSpPr>
          <p:nvPr>
            <p:ph type="sldNum" sz="quarter" idx="12"/>
          </p:nvPr>
        </p:nvSpPr>
        <p:spPr/>
        <p:txBody>
          <a:bodyPr/>
          <a:lstStyle/>
          <a:p>
            <a:fld id="{A6D313ED-B28D-8C4B-BD16-E504A664E1AC}" type="slidenum">
              <a:rPr lang="en-US" smtClean="0"/>
              <a:t>‹#›</a:t>
            </a:fld>
            <a:endParaRPr lang="en-US"/>
          </a:p>
        </p:txBody>
      </p:sp>
    </p:spTree>
    <p:extLst>
      <p:ext uri="{BB962C8B-B14F-4D97-AF65-F5344CB8AC3E}">
        <p14:creationId xmlns:p14="http://schemas.microsoft.com/office/powerpoint/2010/main" val="2764774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1D22F-69BD-277E-4DA5-EEC311AEAB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B09175-DF31-A96F-0D29-EA9704420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881CB-F249-BB77-E284-75BFD62D6F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4B898B-4FA8-B44E-B840-3CCE25F413DF}" type="datetimeFigureOut">
              <a:rPr lang="en-US" smtClean="0"/>
              <a:t>3/15/26</a:t>
            </a:fld>
            <a:endParaRPr lang="en-US"/>
          </a:p>
        </p:txBody>
      </p:sp>
      <p:sp>
        <p:nvSpPr>
          <p:cNvPr id="5" name="Footer Placeholder 4">
            <a:extLst>
              <a:ext uri="{FF2B5EF4-FFF2-40B4-BE49-F238E27FC236}">
                <a16:creationId xmlns:a16="http://schemas.microsoft.com/office/drawing/2014/main" id="{C717D279-1CA0-52A6-AD39-ADB68CC7E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CB76D7-E8FA-3E24-CBE7-DF5801320C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D313ED-B28D-8C4B-BD16-E504A664E1AC}" type="slidenum">
              <a:rPr lang="en-US" smtClean="0"/>
              <a:t>‹#›</a:t>
            </a:fld>
            <a:endParaRPr lang="en-US"/>
          </a:p>
        </p:txBody>
      </p:sp>
    </p:spTree>
    <p:extLst>
      <p:ext uri="{BB962C8B-B14F-4D97-AF65-F5344CB8AC3E}">
        <p14:creationId xmlns:p14="http://schemas.microsoft.com/office/powerpoint/2010/main" val="217777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FE99D-A5C4-39C7-36C5-E177A94355D1}"/>
              </a:ext>
            </a:extLst>
          </p:cNvPr>
          <p:cNvSpPr>
            <a:spLocks noGrp="1"/>
          </p:cNvSpPr>
          <p:nvPr>
            <p:ph type="ctrTitle"/>
          </p:nvPr>
        </p:nvSpPr>
        <p:spPr/>
        <p:txBody>
          <a:bodyPr/>
          <a:lstStyle/>
          <a:p>
            <a:r>
              <a:rPr lang="en-US" dirty="0"/>
              <a:t>Review Class 1</a:t>
            </a:r>
          </a:p>
        </p:txBody>
      </p:sp>
      <p:sp>
        <p:nvSpPr>
          <p:cNvPr id="3" name="Subtitle 2">
            <a:extLst>
              <a:ext uri="{FF2B5EF4-FFF2-40B4-BE49-F238E27FC236}">
                <a16:creationId xmlns:a16="http://schemas.microsoft.com/office/drawing/2014/main" id="{E5879FCA-DFDC-0E6C-1F11-A799EABD9CF2}"/>
              </a:ext>
            </a:extLst>
          </p:cNvPr>
          <p:cNvSpPr>
            <a:spLocks noGrp="1"/>
          </p:cNvSpPr>
          <p:nvPr>
            <p:ph type="subTitle" idx="1"/>
          </p:nvPr>
        </p:nvSpPr>
        <p:spPr/>
        <p:txBody>
          <a:bodyPr/>
          <a:lstStyle/>
          <a:p>
            <a:r>
              <a:rPr lang="en-US" dirty="0"/>
              <a:t>Kazi Amit Hasan</a:t>
            </a:r>
          </a:p>
        </p:txBody>
      </p:sp>
    </p:spTree>
    <p:extLst>
      <p:ext uri="{BB962C8B-B14F-4D97-AF65-F5344CB8AC3E}">
        <p14:creationId xmlns:p14="http://schemas.microsoft.com/office/powerpoint/2010/main" val="3559360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A7A2D-9F94-060A-61E7-2516F609ECFC}"/>
              </a:ext>
            </a:extLst>
          </p:cNvPr>
          <p:cNvSpPr>
            <a:spLocks noGrp="1"/>
          </p:cNvSpPr>
          <p:nvPr>
            <p:ph type="title"/>
          </p:nvPr>
        </p:nvSpPr>
        <p:spPr/>
        <p:txBody>
          <a:bodyPr/>
          <a:lstStyle/>
          <a:p>
            <a:r>
              <a:rPr lang="en-US" dirty="0"/>
              <a:t>Upcoming schedule</a:t>
            </a:r>
          </a:p>
        </p:txBody>
      </p:sp>
      <p:sp>
        <p:nvSpPr>
          <p:cNvPr id="3" name="Content Placeholder 2">
            <a:extLst>
              <a:ext uri="{FF2B5EF4-FFF2-40B4-BE49-F238E27FC236}">
                <a16:creationId xmlns:a16="http://schemas.microsoft.com/office/drawing/2014/main" id="{FD4DA005-DE3C-5E0F-A319-0D1D0963482C}"/>
              </a:ext>
            </a:extLst>
          </p:cNvPr>
          <p:cNvSpPr>
            <a:spLocks noGrp="1"/>
          </p:cNvSpPr>
          <p:nvPr>
            <p:ph idx="1"/>
          </p:nvPr>
        </p:nvSpPr>
        <p:spPr/>
        <p:txBody>
          <a:bodyPr>
            <a:normAutofit lnSpcReduction="10000"/>
          </a:bodyPr>
          <a:lstStyle/>
          <a:p>
            <a:r>
              <a:rPr lang="en-CA" dirty="0">
                <a:highlight>
                  <a:srgbClr val="FFFF00"/>
                </a:highlight>
              </a:rPr>
              <a:t>March 16th</a:t>
            </a:r>
            <a:r>
              <a:rPr lang="en-CA" dirty="0"/>
              <a:t> &gt;&gt; </a:t>
            </a:r>
            <a:r>
              <a:rPr lang="en-CA" b="1" dirty="0"/>
              <a:t>Review class 1</a:t>
            </a:r>
            <a:r>
              <a:rPr lang="en-CA" dirty="0"/>
              <a:t>. I highly encourage you to attend this session, as I will highlight the most important topics and questions likely to appear on the final exam. Please use the Google Form or email me to let me know which topics you would like me to cover again. I plan to hold a couple of review classes before the final. </a:t>
            </a:r>
          </a:p>
          <a:p>
            <a:r>
              <a:rPr lang="en-CA" dirty="0">
                <a:highlight>
                  <a:srgbClr val="FFFF00"/>
                </a:highlight>
              </a:rPr>
              <a:t>March 18th </a:t>
            </a:r>
            <a:r>
              <a:rPr lang="en-CA" dirty="0"/>
              <a:t>&gt;&gt; NoSQL. This class will be led by our graduate TA, </a:t>
            </a:r>
            <a:r>
              <a:rPr lang="en-CA" dirty="0" err="1"/>
              <a:t>Ashfi</a:t>
            </a:r>
            <a:r>
              <a:rPr lang="en-CA" dirty="0"/>
              <a:t>.</a:t>
            </a:r>
          </a:p>
          <a:p>
            <a:r>
              <a:rPr lang="en-CA" dirty="0"/>
              <a:t>March 20</a:t>
            </a:r>
            <a:r>
              <a:rPr lang="en-CA" baseline="30000" dirty="0"/>
              <a:t>th</a:t>
            </a:r>
            <a:r>
              <a:rPr lang="en-CA" dirty="0"/>
              <a:t> &gt;&gt; NoSQL by </a:t>
            </a:r>
            <a:r>
              <a:rPr lang="en-CA" dirty="0" err="1"/>
              <a:t>Ashfi</a:t>
            </a:r>
            <a:endParaRPr lang="en-CA" dirty="0"/>
          </a:p>
          <a:p>
            <a:r>
              <a:rPr lang="en-CA" dirty="0"/>
              <a:t>March 23 &gt;&gt; NoSQL by </a:t>
            </a:r>
            <a:r>
              <a:rPr lang="en-CA" dirty="0" err="1"/>
              <a:t>Ashfi</a:t>
            </a:r>
            <a:br>
              <a:rPr lang="en-CA" dirty="0"/>
            </a:br>
            <a:endParaRPr lang="en-US" dirty="0"/>
          </a:p>
        </p:txBody>
      </p:sp>
    </p:spTree>
    <p:extLst>
      <p:ext uri="{BB962C8B-B14F-4D97-AF65-F5344CB8AC3E}">
        <p14:creationId xmlns:p14="http://schemas.microsoft.com/office/powerpoint/2010/main" val="11106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D9F87-8E02-72C4-4FFD-4F3C08B58D12}"/>
              </a:ext>
            </a:extLst>
          </p:cNvPr>
          <p:cNvSpPr>
            <a:spLocks noGrp="1"/>
          </p:cNvSpPr>
          <p:nvPr>
            <p:ph type="title"/>
          </p:nvPr>
        </p:nvSpPr>
        <p:spPr/>
        <p:txBody>
          <a:bodyPr/>
          <a:lstStyle/>
          <a:p>
            <a:r>
              <a:rPr lang="en-US" dirty="0"/>
              <a:t>Feedback</a:t>
            </a:r>
          </a:p>
        </p:txBody>
      </p:sp>
      <p:pic>
        <p:nvPicPr>
          <p:cNvPr id="5" name="Content Placeholder 4" descr="A qr code on a white background&#10;&#10;AI-generated content may be incorrect.">
            <a:extLst>
              <a:ext uri="{FF2B5EF4-FFF2-40B4-BE49-F238E27FC236}">
                <a16:creationId xmlns:a16="http://schemas.microsoft.com/office/drawing/2014/main" id="{C3602F48-68FC-78D2-1313-7FC32E582EE2}"/>
              </a:ext>
            </a:extLst>
          </p:cNvPr>
          <p:cNvPicPr>
            <a:picLocks noGrp="1" noChangeAspect="1"/>
          </p:cNvPicPr>
          <p:nvPr>
            <p:ph idx="1"/>
          </p:nvPr>
        </p:nvPicPr>
        <p:blipFill>
          <a:blip r:embed="rId2"/>
          <a:stretch>
            <a:fillRect/>
          </a:stretch>
        </p:blipFill>
        <p:spPr>
          <a:xfrm>
            <a:off x="1039659" y="1697625"/>
            <a:ext cx="4501019" cy="4632299"/>
          </a:xfrm>
          <a:prstGeom prst="rect">
            <a:avLst/>
          </a:prstGeom>
        </p:spPr>
      </p:pic>
      <p:sp>
        <p:nvSpPr>
          <p:cNvPr id="6" name="TextBox 5">
            <a:extLst>
              <a:ext uri="{FF2B5EF4-FFF2-40B4-BE49-F238E27FC236}">
                <a16:creationId xmlns:a16="http://schemas.microsoft.com/office/drawing/2014/main" id="{2924DA79-BB32-6AD5-FA6A-34684016A3FB}"/>
              </a:ext>
            </a:extLst>
          </p:cNvPr>
          <p:cNvSpPr txBox="1"/>
          <p:nvPr/>
        </p:nvSpPr>
        <p:spPr>
          <a:xfrm>
            <a:off x="6453619" y="3429000"/>
            <a:ext cx="4698722" cy="584775"/>
          </a:xfrm>
          <a:prstGeom prst="rect">
            <a:avLst/>
          </a:prstGeom>
          <a:noFill/>
        </p:spPr>
        <p:txBody>
          <a:bodyPr wrap="none" rtlCol="0">
            <a:spAutoFit/>
          </a:bodyPr>
          <a:lstStyle/>
          <a:p>
            <a:r>
              <a:rPr lang="en-US" sz="3200" dirty="0">
                <a:highlight>
                  <a:srgbClr val="FFFF00"/>
                </a:highlight>
              </a:rPr>
              <a:t>Scan to put the feedback!</a:t>
            </a:r>
          </a:p>
        </p:txBody>
      </p:sp>
    </p:spTree>
    <p:extLst>
      <p:ext uri="{BB962C8B-B14F-4D97-AF65-F5344CB8AC3E}">
        <p14:creationId xmlns:p14="http://schemas.microsoft.com/office/powerpoint/2010/main" val="2544990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D605B-C212-354E-31C6-4F197374631A}"/>
              </a:ext>
            </a:extLst>
          </p:cNvPr>
          <p:cNvSpPr>
            <a:spLocks noGrp="1"/>
          </p:cNvSpPr>
          <p:nvPr>
            <p:ph type="title"/>
          </p:nvPr>
        </p:nvSpPr>
        <p:spPr/>
        <p:txBody>
          <a:bodyPr/>
          <a:lstStyle/>
          <a:p>
            <a:r>
              <a:rPr lang="en-US" dirty="0"/>
              <a:t>What we have covered so far</a:t>
            </a:r>
          </a:p>
        </p:txBody>
      </p:sp>
      <p:sp>
        <p:nvSpPr>
          <p:cNvPr id="3" name="Content Placeholder 2">
            <a:extLst>
              <a:ext uri="{FF2B5EF4-FFF2-40B4-BE49-F238E27FC236}">
                <a16:creationId xmlns:a16="http://schemas.microsoft.com/office/drawing/2014/main" id="{A9579E42-6917-9F54-72C2-778C2B361193}"/>
              </a:ext>
            </a:extLst>
          </p:cNvPr>
          <p:cNvSpPr>
            <a:spLocks noGrp="1"/>
          </p:cNvSpPr>
          <p:nvPr>
            <p:ph idx="1"/>
          </p:nvPr>
        </p:nvSpPr>
        <p:spPr/>
        <p:txBody>
          <a:bodyPr>
            <a:normAutofit lnSpcReduction="10000"/>
          </a:bodyPr>
          <a:lstStyle/>
          <a:p>
            <a:r>
              <a:rPr lang="en-US" dirty="0"/>
              <a:t>Introduction to Database and ER models</a:t>
            </a:r>
          </a:p>
          <a:p>
            <a:r>
              <a:rPr lang="en-US" dirty="0"/>
              <a:t>Relational models</a:t>
            </a:r>
          </a:p>
          <a:p>
            <a:r>
              <a:rPr lang="en-US" dirty="0"/>
              <a:t>Translation from ER to Relational</a:t>
            </a:r>
          </a:p>
          <a:p>
            <a:r>
              <a:rPr lang="en-US" dirty="0"/>
              <a:t>Relational Algebra</a:t>
            </a:r>
          </a:p>
          <a:p>
            <a:r>
              <a:rPr lang="en-US" dirty="0"/>
              <a:t>SQL</a:t>
            </a:r>
          </a:p>
          <a:p>
            <a:r>
              <a:rPr lang="en-US" dirty="0"/>
              <a:t>Application development</a:t>
            </a:r>
          </a:p>
          <a:p>
            <a:r>
              <a:rPr lang="en-US" dirty="0"/>
              <a:t>Storage and indexing</a:t>
            </a:r>
          </a:p>
          <a:p>
            <a:r>
              <a:rPr lang="en-US" dirty="0"/>
              <a:t>Security</a:t>
            </a:r>
          </a:p>
          <a:p>
            <a:r>
              <a:rPr lang="en-US" dirty="0"/>
              <a:t>NoSQL</a:t>
            </a:r>
          </a:p>
        </p:txBody>
      </p:sp>
    </p:spTree>
    <p:extLst>
      <p:ext uri="{BB962C8B-B14F-4D97-AF65-F5344CB8AC3E}">
        <p14:creationId xmlns:p14="http://schemas.microsoft.com/office/powerpoint/2010/main" val="191080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54675-4F40-1BB8-DE44-BCE44017874B}"/>
              </a:ext>
            </a:extLst>
          </p:cNvPr>
          <p:cNvSpPr>
            <a:spLocks noGrp="1"/>
          </p:cNvSpPr>
          <p:nvPr>
            <p:ph type="title"/>
          </p:nvPr>
        </p:nvSpPr>
        <p:spPr/>
        <p:txBody>
          <a:bodyPr/>
          <a:lstStyle/>
          <a:p>
            <a:r>
              <a:rPr lang="en-US" dirty="0"/>
              <a:t>Final Exam Format</a:t>
            </a:r>
          </a:p>
        </p:txBody>
      </p:sp>
      <p:sp>
        <p:nvSpPr>
          <p:cNvPr id="3" name="Content Placeholder 2">
            <a:extLst>
              <a:ext uri="{FF2B5EF4-FFF2-40B4-BE49-F238E27FC236}">
                <a16:creationId xmlns:a16="http://schemas.microsoft.com/office/drawing/2014/main" id="{C68DD043-83B1-AE9A-140F-7FAE39D0CDB1}"/>
              </a:ext>
            </a:extLst>
          </p:cNvPr>
          <p:cNvSpPr>
            <a:spLocks noGrp="1"/>
          </p:cNvSpPr>
          <p:nvPr>
            <p:ph idx="1"/>
          </p:nvPr>
        </p:nvSpPr>
        <p:spPr/>
        <p:txBody>
          <a:bodyPr/>
          <a:lstStyle/>
          <a:p>
            <a:r>
              <a:rPr lang="en-US" dirty="0"/>
              <a:t>Three sections</a:t>
            </a:r>
          </a:p>
          <a:p>
            <a:pPr lvl="1"/>
            <a:r>
              <a:rPr lang="en-US" dirty="0"/>
              <a:t>Multiple choice, true/false and short answers: 15 marks</a:t>
            </a:r>
          </a:p>
          <a:p>
            <a:pPr lvl="1"/>
            <a:r>
              <a:rPr lang="en-US" dirty="0"/>
              <a:t>ER diagrams: 10 marks</a:t>
            </a:r>
          </a:p>
          <a:p>
            <a:pPr lvl="1"/>
            <a:r>
              <a:rPr lang="en-US" dirty="0"/>
              <a:t>Query language: 20 marks</a:t>
            </a:r>
          </a:p>
        </p:txBody>
      </p:sp>
    </p:spTree>
    <p:extLst>
      <p:ext uri="{BB962C8B-B14F-4D97-AF65-F5344CB8AC3E}">
        <p14:creationId xmlns:p14="http://schemas.microsoft.com/office/powerpoint/2010/main" val="161966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35AAC-1AE2-B6D2-FCB4-3FB909EA6A5E}"/>
              </a:ext>
            </a:extLst>
          </p:cNvPr>
          <p:cNvSpPr>
            <a:spLocks noGrp="1"/>
          </p:cNvSpPr>
          <p:nvPr>
            <p:ph type="title"/>
          </p:nvPr>
        </p:nvSpPr>
        <p:spPr/>
        <p:txBody>
          <a:bodyPr/>
          <a:lstStyle/>
          <a:p>
            <a:r>
              <a:rPr lang="en-US" dirty="0"/>
              <a:t>Sample Questions</a:t>
            </a:r>
          </a:p>
        </p:txBody>
      </p:sp>
      <p:pic>
        <p:nvPicPr>
          <p:cNvPr id="5" name="Content Placeholder 4" descr="A screenshot of a document&#10;&#10;AI-generated content may be incorrect.">
            <a:extLst>
              <a:ext uri="{FF2B5EF4-FFF2-40B4-BE49-F238E27FC236}">
                <a16:creationId xmlns:a16="http://schemas.microsoft.com/office/drawing/2014/main" id="{AB27C8DA-FA3D-7309-2D79-34D18BEAC204}"/>
              </a:ext>
            </a:extLst>
          </p:cNvPr>
          <p:cNvPicPr>
            <a:picLocks noGrp="1" noChangeAspect="1"/>
          </p:cNvPicPr>
          <p:nvPr>
            <p:ph idx="1"/>
          </p:nvPr>
        </p:nvPicPr>
        <p:blipFill>
          <a:blip r:embed="rId2"/>
          <a:stretch>
            <a:fillRect/>
          </a:stretch>
        </p:blipFill>
        <p:spPr>
          <a:xfrm>
            <a:off x="3079750" y="2267744"/>
            <a:ext cx="6032500" cy="3467100"/>
          </a:xfrm>
          <a:prstGeom prst="rect">
            <a:avLst/>
          </a:prstGeom>
        </p:spPr>
      </p:pic>
    </p:spTree>
    <p:extLst>
      <p:ext uri="{BB962C8B-B14F-4D97-AF65-F5344CB8AC3E}">
        <p14:creationId xmlns:p14="http://schemas.microsoft.com/office/powerpoint/2010/main" val="3861940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920D-1989-9EBE-2C85-E1FC02BBF50E}"/>
              </a:ext>
            </a:extLst>
          </p:cNvPr>
          <p:cNvSpPr>
            <a:spLocks noGrp="1"/>
          </p:cNvSpPr>
          <p:nvPr>
            <p:ph type="title"/>
          </p:nvPr>
        </p:nvSpPr>
        <p:spPr/>
        <p:txBody>
          <a:bodyPr/>
          <a:lstStyle/>
          <a:p>
            <a:r>
              <a:rPr lang="en-US" dirty="0"/>
              <a:t>MUST do things</a:t>
            </a:r>
          </a:p>
        </p:txBody>
      </p:sp>
      <p:sp>
        <p:nvSpPr>
          <p:cNvPr id="3" name="Content Placeholder 2">
            <a:extLst>
              <a:ext uri="{FF2B5EF4-FFF2-40B4-BE49-F238E27FC236}">
                <a16:creationId xmlns:a16="http://schemas.microsoft.com/office/drawing/2014/main" id="{EF735A5B-3CE5-DA3A-77D0-BF23D9EB2BFA}"/>
              </a:ext>
            </a:extLst>
          </p:cNvPr>
          <p:cNvSpPr>
            <a:spLocks noGrp="1"/>
          </p:cNvSpPr>
          <p:nvPr>
            <p:ph idx="1"/>
          </p:nvPr>
        </p:nvSpPr>
        <p:spPr/>
        <p:txBody>
          <a:bodyPr/>
          <a:lstStyle/>
          <a:p>
            <a:r>
              <a:rPr lang="en-US" dirty="0"/>
              <a:t>ER diagrams</a:t>
            </a:r>
          </a:p>
          <a:p>
            <a:pPr lvl="1"/>
            <a:r>
              <a:rPr lang="en-US" dirty="0"/>
              <a:t>Careful while selecting the keys</a:t>
            </a:r>
          </a:p>
          <a:p>
            <a:pPr lvl="1"/>
            <a:r>
              <a:rPr lang="en-US" dirty="0"/>
              <a:t>READ question multiple times</a:t>
            </a:r>
          </a:p>
          <a:p>
            <a:pPr lvl="1"/>
            <a:r>
              <a:rPr lang="en-US" dirty="0"/>
              <a:t>You must denote the weak entity. If you forcefully make a weak entity to strong by assuming primary key. </a:t>
            </a:r>
            <a:r>
              <a:rPr lang="en-US" dirty="0">
                <a:highlight>
                  <a:srgbClr val="FFFF00"/>
                </a:highlight>
              </a:rPr>
              <a:t>Marks will be deducted! </a:t>
            </a:r>
          </a:p>
          <a:p>
            <a:pPr lvl="1"/>
            <a:r>
              <a:rPr lang="en-US" dirty="0">
                <a:highlight>
                  <a:srgbClr val="FFFF00"/>
                </a:highlight>
              </a:rPr>
              <a:t>Careful with the shapes. </a:t>
            </a:r>
            <a:r>
              <a:rPr lang="en-US" dirty="0"/>
              <a:t>Weak entities are different than regular entities.</a:t>
            </a:r>
          </a:p>
          <a:p>
            <a:pPr lvl="1"/>
            <a:r>
              <a:rPr lang="en-US" dirty="0"/>
              <a:t>Solve all solved examples in the class again</a:t>
            </a:r>
          </a:p>
        </p:txBody>
      </p:sp>
    </p:spTree>
    <p:extLst>
      <p:ext uri="{BB962C8B-B14F-4D97-AF65-F5344CB8AC3E}">
        <p14:creationId xmlns:p14="http://schemas.microsoft.com/office/powerpoint/2010/main" val="63455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E17A-8AB3-639A-B9E8-037897728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64996-F3CE-D0A0-2DC0-AAD960B0DB43}"/>
              </a:ext>
            </a:extLst>
          </p:cNvPr>
          <p:cNvSpPr>
            <a:spLocks noGrp="1"/>
          </p:cNvSpPr>
          <p:nvPr>
            <p:ph type="title"/>
          </p:nvPr>
        </p:nvSpPr>
        <p:spPr/>
        <p:txBody>
          <a:bodyPr/>
          <a:lstStyle/>
          <a:p>
            <a:r>
              <a:rPr lang="en-US" dirty="0"/>
              <a:t>MUST do things</a:t>
            </a:r>
          </a:p>
        </p:txBody>
      </p:sp>
      <p:sp>
        <p:nvSpPr>
          <p:cNvPr id="3" name="Content Placeholder 2">
            <a:extLst>
              <a:ext uri="{FF2B5EF4-FFF2-40B4-BE49-F238E27FC236}">
                <a16:creationId xmlns:a16="http://schemas.microsoft.com/office/drawing/2014/main" id="{2B38BD12-03E5-30E7-0E10-6ACC25BA9690}"/>
              </a:ext>
            </a:extLst>
          </p:cNvPr>
          <p:cNvSpPr>
            <a:spLocks noGrp="1"/>
          </p:cNvSpPr>
          <p:nvPr>
            <p:ph idx="1"/>
          </p:nvPr>
        </p:nvSpPr>
        <p:spPr/>
        <p:txBody>
          <a:bodyPr/>
          <a:lstStyle/>
          <a:p>
            <a:r>
              <a:rPr lang="en-US" dirty="0"/>
              <a:t>SQL queries:</a:t>
            </a:r>
          </a:p>
          <a:p>
            <a:pPr lvl="1"/>
            <a:r>
              <a:rPr lang="en-US" dirty="0"/>
              <a:t>Must read the questions</a:t>
            </a:r>
          </a:p>
          <a:p>
            <a:pPr lvl="1"/>
            <a:r>
              <a:rPr lang="en-US" dirty="0"/>
              <a:t>Must solve all solved problems in the class.</a:t>
            </a:r>
          </a:p>
          <a:p>
            <a:pPr lvl="1"/>
            <a:r>
              <a:rPr lang="en-US" dirty="0"/>
              <a:t>Recommended exercise: </a:t>
            </a:r>
          </a:p>
          <a:p>
            <a:pPr lvl="2"/>
            <a:r>
              <a:rPr lang="en-US" dirty="0"/>
              <a:t>Chapter 3, 4, 5 &gt;&gt; all exercise of Database system concepts 6</a:t>
            </a:r>
            <a:r>
              <a:rPr lang="en-US" baseline="30000" dirty="0"/>
              <a:t>th</a:t>
            </a:r>
            <a:r>
              <a:rPr lang="en-US" dirty="0"/>
              <a:t> edition</a:t>
            </a:r>
          </a:p>
          <a:p>
            <a:pPr lvl="1"/>
            <a:endParaRPr lang="en-US" dirty="0"/>
          </a:p>
        </p:txBody>
      </p:sp>
    </p:spTree>
    <p:extLst>
      <p:ext uri="{BB962C8B-B14F-4D97-AF65-F5344CB8AC3E}">
        <p14:creationId xmlns:p14="http://schemas.microsoft.com/office/powerpoint/2010/main" val="182643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C8591-FA83-7A4C-1862-383EF5F6B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241FB-84A4-0378-53D4-45699B0AE381}"/>
              </a:ext>
            </a:extLst>
          </p:cNvPr>
          <p:cNvSpPr>
            <a:spLocks noGrp="1"/>
          </p:cNvSpPr>
          <p:nvPr>
            <p:ph type="title"/>
          </p:nvPr>
        </p:nvSpPr>
        <p:spPr/>
        <p:txBody>
          <a:bodyPr/>
          <a:lstStyle/>
          <a:p>
            <a:r>
              <a:rPr lang="en-US" dirty="0"/>
              <a:t>MUST do things</a:t>
            </a:r>
          </a:p>
        </p:txBody>
      </p:sp>
      <p:sp>
        <p:nvSpPr>
          <p:cNvPr id="3" name="Content Placeholder 2">
            <a:extLst>
              <a:ext uri="{FF2B5EF4-FFF2-40B4-BE49-F238E27FC236}">
                <a16:creationId xmlns:a16="http://schemas.microsoft.com/office/drawing/2014/main" id="{DDDC67DD-420E-577F-027A-BF3327F49A32}"/>
              </a:ext>
            </a:extLst>
          </p:cNvPr>
          <p:cNvSpPr>
            <a:spLocks noGrp="1"/>
          </p:cNvSpPr>
          <p:nvPr>
            <p:ph idx="1"/>
          </p:nvPr>
        </p:nvSpPr>
        <p:spPr/>
        <p:txBody>
          <a:bodyPr/>
          <a:lstStyle/>
          <a:p>
            <a:r>
              <a:rPr lang="en-US" dirty="0"/>
              <a:t>Relational Algebra:</a:t>
            </a:r>
          </a:p>
          <a:p>
            <a:pPr lvl="1"/>
            <a:r>
              <a:rPr lang="en-US" dirty="0"/>
              <a:t>Must read the questions</a:t>
            </a:r>
          </a:p>
          <a:p>
            <a:pPr lvl="1"/>
            <a:r>
              <a:rPr lang="en-US" dirty="0"/>
              <a:t>Must solve all solved problems in the class.</a:t>
            </a:r>
          </a:p>
          <a:p>
            <a:pPr lvl="1"/>
            <a:r>
              <a:rPr lang="en-US" dirty="0"/>
              <a:t>Recommended exercise: </a:t>
            </a:r>
          </a:p>
          <a:p>
            <a:pPr lvl="2"/>
            <a:r>
              <a:rPr lang="en-US" dirty="0"/>
              <a:t>Chapter 6&gt;&gt; all exercise of Database system concepts 6</a:t>
            </a:r>
            <a:r>
              <a:rPr lang="en-US" baseline="30000" dirty="0"/>
              <a:t>th</a:t>
            </a:r>
            <a:r>
              <a:rPr lang="en-US" dirty="0"/>
              <a:t> edition</a:t>
            </a:r>
          </a:p>
          <a:p>
            <a:pPr lvl="1"/>
            <a:endParaRPr lang="en-US" dirty="0"/>
          </a:p>
        </p:txBody>
      </p:sp>
    </p:spTree>
    <p:extLst>
      <p:ext uri="{BB962C8B-B14F-4D97-AF65-F5344CB8AC3E}">
        <p14:creationId xmlns:p14="http://schemas.microsoft.com/office/powerpoint/2010/main" val="124727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605FE-58BD-AE41-0A66-04FE560E5096}"/>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208F2165-B0CD-E072-18AC-74272374A9EB}"/>
              </a:ext>
            </a:extLst>
          </p:cNvPr>
          <p:cNvSpPr>
            <a:spLocks noGrp="1"/>
          </p:cNvSpPr>
          <p:nvPr>
            <p:ph idx="1"/>
          </p:nvPr>
        </p:nvSpPr>
        <p:spPr/>
        <p:txBody>
          <a:bodyPr/>
          <a:lstStyle/>
          <a:p>
            <a:r>
              <a:rPr lang="en-US" dirty="0"/>
              <a:t>Time and data of Review class 2 will be announced in </a:t>
            </a:r>
            <a:r>
              <a:rPr lang="en-US" dirty="0" err="1"/>
              <a:t>OnQ</a:t>
            </a:r>
            <a:endParaRPr lang="en-US" dirty="0"/>
          </a:p>
          <a:p>
            <a:r>
              <a:rPr lang="en-US" dirty="0"/>
              <a:t>QSSET!</a:t>
            </a:r>
          </a:p>
        </p:txBody>
      </p:sp>
    </p:spTree>
    <p:extLst>
      <p:ext uri="{BB962C8B-B14F-4D97-AF65-F5344CB8AC3E}">
        <p14:creationId xmlns:p14="http://schemas.microsoft.com/office/powerpoint/2010/main" val="4219704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319</Words>
  <Application>Microsoft Macintosh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Review Class 1</vt:lpstr>
      <vt:lpstr>Upcoming schedule</vt:lpstr>
      <vt:lpstr>Feedback</vt:lpstr>
      <vt:lpstr>What we have covered so far</vt:lpstr>
      <vt:lpstr>Final Exam Format</vt:lpstr>
      <vt:lpstr>Sample Questions</vt:lpstr>
      <vt:lpstr>MUST do things</vt:lpstr>
      <vt:lpstr>MUST do things</vt:lpstr>
      <vt:lpstr>MUST do things</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Kazi Amit Hasan</dc:creator>
  <cp:lastModifiedBy>Kazi Amit Hasan</cp:lastModifiedBy>
  <cp:revision>4</cp:revision>
  <dcterms:created xsi:type="dcterms:W3CDTF">2026-03-16T03:18:07Z</dcterms:created>
  <dcterms:modified xsi:type="dcterms:W3CDTF">2026-03-16T04:03:21Z</dcterms:modified>
</cp:coreProperties>
</file>