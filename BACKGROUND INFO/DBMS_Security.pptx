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79" r:id="rId3"/>
    <p:sldId id="265" r:id="rId4"/>
    <p:sldId id="264" r:id="rId5"/>
    <p:sldId id="257" r:id="rId6"/>
    <p:sldId id="258" r:id="rId7"/>
    <p:sldId id="259" r:id="rId8"/>
    <p:sldId id="260" r:id="rId9"/>
    <p:sldId id="261" r:id="rId10"/>
    <p:sldId id="262" r:id="rId11"/>
    <p:sldId id="263"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670"/>
    <p:restoredTop sz="71883"/>
  </p:normalViewPr>
  <p:slideViewPr>
    <p:cSldViewPr snapToGrid="0">
      <p:cViewPr varScale="1">
        <p:scale>
          <a:sx n="70" d="100"/>
          <a:sy n="70" d="100"/>
        </p:scale>
        <p:origin x="184" y="8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174455-DB9C-4644-AA3D-CA96FA8B8D40}" type="datetimeFigureOut">
              <a:rPr lang="en-US" smtClean="0"/>
              <a:t>3/12/26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6B8AA3-DA02-D84A-B4F3-78E1D0108ECD}" type="slidenum">
              <a:rPr lang="en-US" smtClean="0"/>
              <a:t>‹#›</a:t>
            </a:fld>
            <a:endParaRPr lang="en-US"/>
          </a:p>
        </p:txBody>
      </p:sp>
    </p:spTree>
    <p:extLst>
      <p:ext uri="{BB962C8B-B14F-4D97-AF65-F5344CB8AC3E}">
        <p14:creationId xmlns:p14="http://schemas.microsoft.com/office/powerpoint/2010/main" val="3482779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Suppose a hospital database stores patient records. A doctor needs to access a patient’s allergies before giving medicine.</a:t>
            </a:r>
          </a:p>
          <a:p>
            <a:r>
              <a:rPr lang="en-CA" dirty="0"/>
              <a:t>But the database server crashes, or the system is overloaded, or ransomware locks the files.</a:t>
            </a:r>
          </a:p>
          <a:p>
            <a:r>
              <a:rPr lang="en-CA" dirty="0"/>
              <a:t>The doctor cannot get the record in time.</a:t>
            </a:r>
          </a:p>
          <a:p>
            <a:r>
              <a:rPr lang="en-CA" dirty="0"/>
              <a:t>That is a </a:t>
            </a:r>
            <a:r>
              <a:rPr lang="en-CA" b="1" dirty="0"/>
              <a:t>loss of availability</a:t>
            </a:r>
            <a:r>
              <a:rPr lang="en-CA" dirty="0"/>
              <a:t>.</a:t>
            </a:r>
          </a:p>
          <a:p>
            <a:endParaRPr lang="en-US" dirty="0"/>
          </a:p>
        </p:txBody>
      </p:sp>
      <p:sp>
        <p:nvSpPr>
          <p:cNvPr id="4" name="Slide Number Placeholder 3"/>
          <p:cNvSpPr>
            <a:spLocks noGrp="1"/>
          </p:cNvSpPr>
          <p:nvPr>
            <p:ph type="sldNum" sz="quarter" idx="5"/>
          </p:nvPr>
        </p:nvSpPr>
        <p:spPr/>
        <p:txBody>
          <a:bodyPr/>
          <a:lstStyle/>
          <a:p>
            <a:fld id="{DE6B8AA3-DA02-D84A-B4F3-78E1D0108ECD}" type="slidenum">
              <a:rPr lang="en-US" smtClean="0"/>
              <a:t>7</a:t>
            </a:fld>
            <a:endParaRPr lang="en-US"/>
          </a:p>
        </p:txBody>
      </p:sp>
    </p:spTree>
    <p:extLst>
      <p:ext uri="{BB962C8B-B14F-4D97-AF65-F5344CB8AC3E}">
        <p14:creationId xmlns:p14="http://schemas.microsoft.com/office/powerpoint/2010/main" val="3914487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The key lesson is that database security is not only about stopping hackers. It is also about preventing human error, permission mistakes, software bugs, and storage problems.”</a:t>
            </a:r>
          </a:p>
          <a:p>
            <a:endParaRPr lang="en-US" dirty="0"/>
          </a:p>
        </p:txBody>
      </p:sp>
      <p:sp>
        <p:nvSpPr>
          <p:cNvPr id="4" name="Slide Number Placeholder 3"/>
          <p:cNvSpPr>
            <a:spLocks noGrp="1"/>
          </p:cNvSpPr>
          <p:nvPr>
            <p:ph type="sldNum" sz="quarter" idx="5"/>
          </p:nvPr>
        </p:nvSpPr>
        <p:spPr/>
        <p:txBody>
          <a:bodyPr/>
          <a:lstStyle/>
          <a:p>
            <a:fld id="{DE6B8AA3-DA02-D84A-B4F3-78E1D0108ECD}" type="slidenum">
              <a:rPr lang="en-US" smtClean="0"/>
              <a:t>8</a:t>
            </a:fld>
            <a:endParaRPr lang="en-US"/>
          </a:p>
        </p:txBody>
      </p:sp>
    </p:spTree>
    <p:extLst>
      <p:ext uri="{BB962C8B-B14F-4D97-AF65-F5344CB8AC3E}">
        <p14:creationId xmlns:p14="http://schemas.microsoft.com/office/powerpoint/2010/main" val="22188559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81FBA-76A2-8B73-F756-8843DFB882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ED46506-ED8C-C1C2-2E42-D73ACB299C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1D4508-0566-5304-1B4A-EB5B99BF2758}"/>
              </a:ext>
            </a:extLst>
          </p:cNvPr>
          <p:cNvSpPr>
            <a:spLocks noGrp="1"/>
          </p:cNvSpPr>
          <p:nvPr>
            <p:ph type="dt" sz="half" idx="10"/>
          </p:nvPr>
        </p:nvSpPr>
        <p:spPr/>
        <p:txBody>
          <a:bodyPr/>
          <a:lstStyle/>
          <a:p>
            <a:fld id="{E42BB059-EDDB-5346-AA14-A916A9EE38BE}" type="datetimeFigureOut">
              <a:rPr lang="en-US" smtClean="0"/>
              <a:t>3/12/26</a:t>
            </a:fld>
            <a:endParaRPr lang="en-US"/>
          </a:p>
        </p:txBody>
      </p:sp>
      <p:sp>
        <p:nvSpPr>
          <p:cNvPr id="5" name="Footer Placeholder 4">
            <a:extLst>
              <a:ext uri="{FF2B5EF4-FFF2-40B4-BE49-F238E27FC236}">
                <a16:creationId xmlns:a16="http://schemas.microsoft.com/office/drawing/2014/main" id="{7079ADED-C9CB-D4DA-2C85-C98C8AFFA5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348CE3-FB2E-B3F6-787E-391980C43EC1}"/>
              </a:ext>
            </a:extLst>
          </p:cNvPr>
          <p:cNvSpPr>
            <a:spLocks noGrp="1"/>
          </p:cNvSpPr>
          <p:nvPr>
            <p:ph type="sldNum" sz="quarter" idx="12"/>
          </p:nvPr>
        </p:nvSpPr>
        <p:spPr/>
        <p:txBody>
          <a:bodyPr/>
          <a:lstStyle/>
          <a:p>
            <a:fld id="{020E12A0-658C-D041-9CD3-4BEDF2D64CA1}" type="slidenum">
              <a:rPr lang="en-US" smtClean="0"/>
              <a:t>‹#›</a:t>
            </a:fld>
            <a:endParaRPr lang="en-US"/>
          </a:p>
        </p:txBody>
      </p:sp>
    </p:spTree>
    <p:extLst>
      <p:ext uri="{BB962C8B-B14F-4D97-AF65-F5344CB8AC3E}">
        <p14:creationId xmlns:p14="http://schemas.microsoft.com/office/powerpoint/2010/main" val="1828310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42F0A-8429-3266-F6B6-2DDE3D7006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91268E-D710-C869-C27F-6B3D74B3CB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BF3838-D7F4-4F9A-4D0D-55F7A8563B2C}"/>
              </a:ext>
            </a:extLst>
          </p:cNvPr>
          <p:cNvSpPr>
            <a:spLocks noGrp="1"/>
          </p:cNvSpPr>
          <p:nvPr>
            <p:ph type="dt" sz="half" idx="10"/>
          </p:nvPr>
        </p:nvSpPr>
        <p:spPr/>
        <p:txBody>
          <a:bodyPr/>
          <a:lstStyle/>
          <a:p>
            <a:fld id="{E42BB059-EDDB-5346-AA14-A916A9EE38BE}" type="datetimeFigureOut">
              <a:rPr lang="en-US" smtClean="0"/>
              <a:t>3/12/26</a:t>
            </a:fld>
            <a:endParaRPr lang="en-US"/>
          </a:p>
        </p:txBody>
      </p:sp>
      <p:sp>
        <p:nvSpPr>
          <p:cNvPr id="5" name="Footer Placeholder 4">
            <a:extLst>
              <a:ext uri="{FF2B5EF4-FFF2-40B4-BE49-F238E27FC236}">
                <a16:creationId xmlns:a16="http://schemas.microsoft.com/office/drawing/2014/main" id="{95975D29-EF0D-D019-3F31-AE6040B9DA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D777AD-29E2-61E9-B07F-B37908014B0B}"/>
              </a:ext>
            </a:extLst>
          </p:cNvPr>
          <p:cNvSpPr>
            <a:spLocks noGrp="1"/>
          </p:cNvSpPr>
          <p:nvPr>
            <p:ph type="sldNum" sz="quarter" idx="12"/>
          </p:nvPr>
        </p:nvSpPr>
        <p:spPr/>
        <p:txBody>
          <a:bodyPr/>
          <a:lstStyle/>
          <a:p>
            <a:fld id="{020E12A0-658C-D041-9CD3-4BEDF2D64CA1}" type="slidenum">
              <a:rPr lang="en-US" smtClean="0"/>
              <a:t>‹#›</a:t>
            </a:fld>
            <a:endParaRPr lang="en-US"/>
          </a:p>
        </p:txBody>
      </p:sp>
    </p:spTree>
    <p:extLst>
      <p:ext uri="{BB962C8B-B14F-4D97-AF65-F5344CB8AC3E}">
        <p14:creationId xmlns:p14="http://schemas.microsoft.com/office/powerpoint/2010/main" val="4053795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40223-6BA3-EFD3-2C0C-B3F6189F7E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B5655A5-5ADC-C034-71FC-E140EF94E6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D4A37D-68CA-E6EF-6B8D-2EE64050F33C}"/>
              </a:ext>
            </a:extLst>
          </p:cNvPr>
          <p:cNvSpPr>
            <a:spLocks noGrp="1"/>
          </p:cNvSpPr>
          <p:nvPr>
            <p:ph type="dt" sz="half" idx="10"/>
          </p:nvPr>
        </p:nvSpPr>
        <p:spPr/>
        <p:txBody>
          <a:bodyPr/>
          <a:lstStyle/>
          <a:p>
            <a:fld id="{E42BB059-EDDB-5346-AA14-A916A9EE38BE}" type="datetimeFigureOut">
              <a:rPr lang="en-US" smtClean="0"/>
              <a:t>3/12/26</a:t>
            </a:fld>
            <a:endParaRPr lang="en-US"/>
          </a:p>
        </p:txBody>
      </p:sp>
      <p:sp>
        <p:nvSpPr>
          <p:cNvPr id="5" name="Footer Placeholder 4">
            <a:extLst>
              <a:ext uri="{FF2B5EF4-FFF2-40B4-BE49-F238E27FC236}">
                <a16:creationId xmlns:a16="http://schemas.microsoft.com/office/drawing/2014/main" id="{02F491FC-4CB4-2671-35A6-C32F6E1070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D0D307-4A9F-8817-81CC-8272B19D2288}"/>
              </a:ext>
            </a:extLst>
          </p:cNvPr>
          <p:cNvSpPr>
            <a:spLocks noGrp="1"/>
          </p:cNvSpPr>
          <p:nvPr>
            <p:ph type="sldNum" sz="quarter" idx="12"/>
          </p:nvPr>
        </p:nvSpPr>
        <p:spPr/>
        <p:txBody>
          <a:bodyPr/>
          <a:lstStyle/>
          <a:p>
            <a:fld id="{020E12A0-658C-D041-9CD3-4BEDF2D64CA1}" type="slidenum">
              <a:rPr lang="en-US" smtClean="0"/>
              <a:t>‹#›</a:t>
            </a:fld>
            <a:endParaRPr lang="en-US"/>
          </a:p>
        </p:txBody>
      </p:sp>
    </p:spTree>
    <p:extLst>
      <p:ext uri="{BB962C8B-B14F-4D97-AF65-F5344CB8AC3E}">
        <p14:creationId xmlns:p14="http://schemas.microsoft.com/office/powerpoint/2010/main" val="32432513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24F98-BC89-79F5-C692-7704C56613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E7A532-33CE-D063-3922-20AA7E19EE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2464EC-8F3E-B8DB-1C2F-9FC9B17836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7DBDA13-1584-A84F-1673-354C11FB3FDE}"/>
              </a:ext>
            </a:extLst>
          </p:cNvPr>
          <p:cNvSpPr>
            <a:spLocks noGrp="1"/>
          </p:cNvSpPr>
          <p:nvPr>
            <p:ph type="dt" sz="half" idx="10"/>
          </p:nvPr>
        </p:nvSpPr>
        <p:spPr/>
        <p:txBody>
          <a:bodyPr/>
          <a:lstStyle/>
          <a:p>
            <a:fld id="{E42BB059-EDDB-5346-AA14-A916A9EE38BE}" type="datetimeFigureOut">
              <a:rPr lang="en-US" smtClean="0"/>
              <a:t>3/12/26</a:t>
            </a:fld>
            <a:endParaRPr lang="en-US"/>
          </a:p>
        </p:txBody>
      </p:sp>
      <p:sp>
        <p:nvSpPr>
          <p:cNvPr id="6" name="Footer Placeholder 5">
            <a:extLst>
              <a:ext uri="{FF2B5EF4-FFF2-40B4-BE49-F238E27FC236}">
                <a16:creationId xmlns:a16="http://schemas.microsoft.com/office/drawing/2014/main" id="{20A3E777-1C71-5316-2E38-E9730F7354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28E7FD-4AE9-D082-4B4A-0BBF7D19EEDA}"/>
              </a:ext>
            </a:extLst>
          </p:cNvPr>
          <p:cNvSpPr>
            <a:spLocks noGrp="1"/>
          </p:cNvSpPr>
          <p:nvPr>
            <p:ph type="sldNum" sz="quarter" idx="12"/>
          </p:nvPr>
        </p:nvSpPr>
        <p:spPr/>
        <p:txBody>
          <a:bodyPr/>
          <a:lstStyle/>
          <a:p>
            <a:fld id="{020E12A0-658C-D041-9CD3-4BEDF2D64CA1}" type="slidenum">
              <a:rPr lang="en-US" smtClean="0"/>
              <a:t>‹#›</a:t>
            </a:fld>
            <a:endParaRPr lang="en-US"/>
          </a:p>
        </p:txBody>
      </p:sp>
    </p:spTree>
    <p:extLst>
      <p:ext uri="{BB962C8B-B14F-4D97-AF65-F5344CB8AC3E}">
        <p14:creationId xmlns:p14="http://schemas.microsoft.com/office/powerpoint/2010/main" val="491684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8F230-A9F2-6BBE-D584-EFFB231EF5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42A25B4-1576-6126-7BF6-9F209FB9BC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8A017A-0644-3991-0C91-C64423A4AA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11B455-435F-3E58-249C-605D4DAD06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2D2EB6-390E-71E1-656F-94D9FF47B2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5E425DD-86E1-86A3-569B-3C2A706CF03F}"/>
              </a:ext>
            </a:extLst>
          </p:cNvPr>
          <p:cNvSpPr>
            <a:spLocks noGrp="1"/>
          </p:cNvSpPr>
          <p:nvPr>
            <p:ph type="dt" sz="half" idx="10"/>
          </p:nvPr>
        </p:nvSpPr>
        <p:spPr/>
        <p:txBody>
          <a:bodyPr/>
          <a:lstStyle/>
          <a:p>
            <a:fld id="{E42BB059-EDDB-5346-AA14-A916A9EE38BE}" type="datetimeFigureOut">
              <a:rPr lang="en-US" smtClean="0"/>
              <a:t>3/12/26</a:t>
            </a:fld>
            <a:endParaRPr lang="en-US"/>
          </a:p>
        </p:txBody>
      </p:sp>
      <p:sp>
        <p:nvSpPr>
          <p:cNvPr id="8" name="Footer Placeholder 7">
            <a:extLst>
              <a:ext uri="{FF2B5EF4-FFF2-40B4-BE49-F238E27FC236}">
                <a16:creationId xmlns:a16="http://schemas.microsoft.com/office/drawing/2014/main" id="{BF960520-DD4E-7C3D-2EF5-81C379B7DE0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004B89C-231D-FEDD-5095-DD054F3B8CB6}"/>
              </a:ext>
            </a:extLst>
          </p:cNvPr>
          <p:cNvSpPr>
            <a:spLocks noGrp="1"/>
          </p:cNvSpPr>
          <p:nvPr>
            <p:ph type="sldNum" sz="quarter" idx="12"/>
          </p:nvPr>
        </p:nvSpPr>
        <p:spPr/>
        <p:txBody>
          <a:bodyPr/>
          <a:lstStyle/>
          <a:p>
            <a:fld id="{020E12A0-658C-D041-9CD3-4BEDF2D64CA1}" type="slidenum">
              <a:rPr lang="en-US" smtClean="0"/>
              <a:t>‹#›</a:t>
            </a:fld>
            <a:endParaRPr lang="en-US"/>
          </a:p>
        </p:txBody>
      </p:sp>
    </p:spTree>
    <p:extLst>
      <p:ext uri="{BB962C8B-B14F-4D97-AF65-F5344CB8AC3E}">
        <p14:creationId xmlns:p14="http://schemas.microsoft.com/office/powerpoint/2010/main" val="341973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09EA6-FC3D-FC39-765F-2CD27E3E614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D19AF3B-7898-D6CE-451B-5573A740D4FD}"/>
              </a:ext>
            </a:extLst>
          </p:cNvPr>
          <p:cNvSpPr>
            <a:spLocks noGrp="1"/>
          </p:cNvSpPr>
          <p:nvPr>
            <p:ph type="dt" sz="half" idx="10"/>
          </p:nvPr>
        </p:nvSpPr>
        <p:spPr/>
        <p:txBody>
          <a:bodyPr/>
          <a:lstStyle/>
          <a:p>
            <a:fld id="{E42BB059-EDDB-5346-AA14-A916A9EE38BE}" type="datetimeFigureOut">
              <a:rPr lang="en-US" smtClean="0"/>
              <a:t>3/12/26</a:t>
            </a:fld>
            <a:endParaRPr lang="en-US"/>
          </a:p>
        </p:txBody>
      </p:sp>
      <p:sp>
        <p:nvSpPr>
          <p:cNvPr id="4" name="Footer Placeholder 3">
            <a:extLst>
              <a:ext uri="{FF2B5EF4-FFF2-40B4-BE49-F238E27FC236}">
                <a16:creationId xmlns:a16="http://schemas.microsoft.com/office/drawing/2014/main" id="{20D51D9A-DADB-571B-2431-167171AEFEA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93D7F6-EB5F-B266-E930-F5CD366DEF60}"/>
              </a:ext>
            </a:extLst>
          </p:cNvPr>
          <p:cNvSpPr>
            <a:spLocks noGrp="1"/>
          </p:cNvSpPr>
          <p:nvPr>
            <p:ph type="sldNum" sz="quarter" idx="12"/>
          </p:nvPr>
        </p:nvSpPr>
        <p:spPr/>
        <p:txBody>
          <a:bodyPr/>
          <a:lstStyle/>
          <a:p>
            <a:fld id="{020E12A0-658C-D041-9CD3-4BEDF2D64CA1}" type="slidenum">
              <a:rPr lang="en-US" smtClean="0"/>
              <a:t>‹#›</a:t>
            </a:fld>
            <a:endParaRPr lang="en-US"/>
          </a:p>
        </p:txBody>
      </p:sp>
    </p:spTree>
    <p:extLst>
      <p:ext uri="{BB962C8B-B14F-4D97-AF65-F5344CB8AC3E}">
        <p14:creationId xmlns:p14="http://schemas.microsoft.com/office/powerpoint/2010/main" val="3724938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FB57AC-30D2-1152-5EDD-CB7200BFECD1}"/>
              </a:ext>
            </a:extLst>
          </p:cNvPr>
          <p:cNvSpPr>
            <a:spLocks noGrp="1"/>
          </p:cNvSpPr>
          <p:nvPr>
            <p:ph type="dt" sz="half" idx="10"/>
          </p:nvPr>
        </p:nvSpPr>
        <p:spPr/>
        <p:txBody>
          <a:bodyPr/>
          <a:lstStyle/>
          <a:p>
            <a:fld id="{E42BB059-EDDB-5346-AA14-A916A9EE38BE}" type="datetimeFigureOut">
              <a:rPr lang="en-US" smtClean="0"/>
              <a:t>3/12/26</a:t>
            </a:fld>
            <a:endParaRPr lang="en-US"/>
          </a:p>
        </p:txBody>
      </p:sp>
      <p:sp>
        <p:nvSpPr>
          <p:cNvPr id="3" name="Footer Placeholder 2">
            <a:extLst>
              <a:ext uri="{FF2B5EF4-FFF2-40B4-BE49-F238E27FC236}">
                <a16:creationId xmlns:a16="http://schemas.microsoft.com/office/drawing/2014/main" id="{A42C4710-AF6D-09BB-C3EC-28CCEB0B11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E61C0D-A020-4861-1924-C5054F422C26}"/>
              </a:ext>
            </a:extLst>
          </p:cNvPr>
          <p:cNvSpPr>
            <a:spLocks noGrp="1"/>
          </p:cNvSpPr>
          <p:nvPr>
            <p:ph type="sldNum" sz="quarter" idx="12"/>
          </p:nvPr>
        </p:nvSpPr>
        <p:spPr/>
        <p:txBody>
          <a:bodyPr/>
          <a:lstStyle/>
          <a:p>
            <a:fld id="{020E12A0-658C-D041-9CD3-4BEDF2D64CA1}" type="slidenum">
              <a:rPr lang="en-US" smtClean="0"/>
              <a:t>‹#›</a:t>
            </a:fld>
            <a:endParaRPr lang="en-US"/>
          </a:p>
        </p:txBody>
      </p:sp>
    </p:spTree>
    <p:extLst>
      <p:ext uri="{BB962C8B-B14F-4D97-AF65-F5344CB8AC3E}">
        <p14:creationId xmlns:p14="http://schemas.microsoft.com/office/powerpoint/2010/main" val="15561800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10720-C857-3FFD-C2C5-2A6741D2BE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643BB4-0DF3-3007-4277-D74F0FEB6A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3811AA-8A85-2702-F4F6-7F54817CDD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C4197C-11A2-5990-44FD-469E48C1A423}"/>
              </a:ext>
            </a:extLst>
          </p:cNvPr>
          <p:cNvSpPr>
            <a:spLocks noGrp="1"/>
          </p:cNvSpPr>
          <p:nvPr>
            <p:ph type="dt" sz="half" idx="10"/>
          </p:nvPr>
        </p:nvSpPr>
        <p:spPr/>
        <p:txBody>
          <a:bodyPr/>
          <a:lstStyle/>
          <a:p>
            <a:fld id="{E42BB059-EDDB-5346-AA14-A916A9EE38BE}" type="datetimeFigureOut">
              <a:rPr lang="en-US" smtClean="0"/>
              <a:t>3/12/26</a:t>
            </a:fld>
            <a:endParaRPr lang="en-US"/>
          </a:p>
        </p:txBody>
      </p:sp>
      <p:sp>
        <p:nvSpPr>
          <p:cNvPr id="6" name="Footer Placeholder 5">
            <a:extLst>
              <a:ext uri="{FF2B5EF4-FFF2-40B4-BE49-F238E27FC236}">
                <a16:creationId xmlns:a16="http://schemas.microsoft.com/office/drawing/2014/main" id="{A59F7EA9-7070-5C34-8C1E-BC5E6DB113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7EB3AE-CBCB-3F96-0138-035BE6302216}"/>
              </a:ext>
            </a:extLst>
          </p:cNvPr>
          <p:cNvSpPr>
            <a:spLocks noGrp="1"/>
          </p:cNvSpPr>
          <p:nvPr>
            <p:ph type="sldNum" sz="quarter" idx="12"/>
          </p:nvPr>
        </p:nvSpPr>
        <p:spPr/>
        <p:txBody>
          <a:bodyPr/>
          <a:lstStyle/>
          <a:p>
            <a:fld id="{020E12A0-658C-D041-9CD3-4BEDF2D64CA1}" type="slidenum">
              <a:rPr lang="en-US" smtClean="0"/>
              <a:t>‹#›</a:t>
            </a:fld>
            <a:endParaRPr lang="en-US"/>
          </a:p>
        </p:txBody>
      </p:sp>
    </p:spTree>
    <p:extLst>
      <p:ext uri="{BB962C8B-B14F-4D97-AF65-F5344CB8AC3E}">
        <p14:creationId xmlns:p14="http://schemas.microsoft.com/office/powerpoint/2010/main" val="603721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CD6C4-CFDE-807B-0431-18431FD882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2FD22B-1913-456D-E3FA-7C1D7AE6D9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5F6232F-4458-244B-5B30-E0E081FBBA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8934EB-AA54-BB5B-9EEA-6D007AD0E518}"/>
              </a:ext>
            </a:extLst>
          </p:cNvPr>
          <p:cNvSpPr>
            <a:spLocks noGrp="1"/>
          </p:cNvSpPr>
          <p:nvPr>
            <p:ph type="dt" sz="half" idx="10"/>
          </p:nvPr>
        </p:nvSpPr>
        <p:spPr/>
        <p:txBody>
          <a:bodyPr/>
          <a:lstStyle/>
          <a:p>
            <a:fld id="{E42BB059-EDDB-5346-AA14-A916A9EE38BE}" type="datetimeFigureOut">
              <a:rPr lang="en-US" smtClean="0"/>
              <a:t>3/12/26</a:t>
            </a:fld>
            <a:endParaRPr lang="en-US"/>
          </a:p>
        </p:txBody>
      </p:sp>
      <p:sp>
        <p:nvSpPr>
          <p:cNvPr id="6" name="Footer Placeholder 5">
            <a:extLst>
              <a:ext uri="{FF2B5EF4-FFF2-40B4-BE49-F238E27FC236}">
                <a16:creationId xmlns:a16="http://schemas.microsoft.com/office/drawing/2014/main" id="{FFA7780B-B887-E682-7998-3496DA4259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022A19-75E8-FCB4-5B8D-937510F28C2E}"/>
              </a:ext>
            </a:extLst>
          </p:cNvPr>
          <p:cNvSpPr>
            <a:spLocks noGrp="1"/>
          </p:cNvSpPr>
          <p:nvPr>
            <p:ph type="sldNum" sz="quarter" idx="12"/>
          </p:nvPr>
        </p:nvSpPr>
        <p:spPr/>
        <p:txBody>
          <a:bodyPr/>
          <a:lstStyle/>
          <a:p>
            <a:fld id="{020E12A0-658C-D041-9CD3-4BEDF2D64CA1}" type="slidenum">
              <a:rPr lang="en-US" smtClean="0"/>
              <a:t>‹#›</a:t>
            </a:fld>
            <a:endParaRPr lang="en-US"/>
          </a:p>
        </p:txBody>
      </p:sp>
    </p:spTree>
    <p:extLst>
      <p:ext uri="{BB962C8B-B14F-4D97-AF65-F5344CB8AC3E}">
        <p14:creationId xmlns:p14="http://schemas.microsoft.com/office/powerpoint/2010/main" val="142966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189CE-5450-351F-F336-174F110A1F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97FAAE-538E-CDFE-4E7C-060FCCB2CD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32D3B5-F7D9-CDB3-4888-CE4B67EDEA74}"/>
              </a:ext>
            </a:extLst>
          </p:cNvPr>
          <p:cNvSpPr>
            <a:spLocks noGrp="1"/>
          </p:cNvSpPr>
          <p:nvPr>
            <p:ph type="dt" sz="half" idx="10"/>
          </p:nvPr>
        </p:nvSpPr>
        <p:spPr/>
        <p:txBody>
          <a:bodyPr/>
          <a:lstStyle/>
          <a:p>
            <a:fld id="{E42BB059-EDDB-5346-AA14-A916A9EE38BE}" type="datetimeFigureOut">
              <a:rPr lang="en-US" smtClean="0"/>
              <a:t>3/12/26</a:t>
            </a:fld>
            <a:endParaRPr lang="en-US"/>
          </a:p>
        </p:txBody>
      </p:sp>
      <p:sp>
        <p:nvSpPr>
          <p:cNvPr id="5" name="Footer Placeholder 4">
            <a:extLst>
              <a:ext uri="{FF2B5EF4-FFF2-40B4-BE49-F238E27FC236}">
                <a16:creationId xmlns:a16="http://schemas.microsoft.com/office/drawing/2014/main" id="{52436BFD-C42D-01A6-9E8F-192B1DDCFB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8A15CB-7CD1-FD26-8A65-DB278CD26578}"/>
              </a:ext>
            </a:extLst>
          </p:cNvPr>
          <p:cNvSpPr>
            <a:spLocks noGrp="1"/>
          </p:cNvSpPr>
          <p:nvPr>
            <p:ph type="sldNum" sz="quarter" idx="12"/>
          </p:nvPr>
        </p:nvSpPr>
        <p:spPr/>
        <p:txBody>
          <a:bodyPr/>
          <a:lstStyle/>
          <a:p>
            <a:fld id="{020E12A0-658C-D041-9CD3-4BEDF2D64CA1}" type="slidenum">
              <a:rPr lang="en-US" smtClean="0"/>
              <a:t>‹#›</a:t>
            </a:fld>
            <a:endParaRPr lang="en-US"/>
          </a:p>
        </p:txBody>
      </p:sp>
    </p:spTree>
    <p:extLst>
      <p:ext uri="{BB962C8B-B14F-4D97-AF65-F5344CB8AC3E}">
        <p14:creationId xmlns:p14="http://schemas.microsoft.com/office/powerpoint/2010/main" val="418847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F9F47D-1334-CC78-7887-C764850E150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FA3491D-EF88-EA1C-3A1B-5EDBEAECE5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5890DE-02F4-3534-3A26-4E0EC69BB7B2}"/>
              </a:ext>
            </a:extLst>
          </p:cNvPr>
          <p:cNvSpPr>
            <a:spLocks noGrp="1"/>
          </p:cNvSpPr>
          <p:nvPr>
            <p:ph type="dt" sz="half" idx="10"/>
          </p:nvPr>
        </p:nvSpPr>
        <p:spPr/>
        <p:txBody>
          <a:bodyPr/>
          <a:lstStyle/>
          <a:p>
            <a:fld id="{E42BB059-EDDB-5346-AA14-A916A9EE38BE}" type="datetimeFigureOut">
              <a:rPr lang="en-US" smtClean="0"/>
              <a:t>3/12/26</a:t>
            </a:fld>
            <a:endParaRPr lang="en-US"/>
          </a:p>
        </p:txBody>
      </p:sp>
      <p:sp>
        <p:nvSpPr>
          <p:cNvPr id="5" name="Footer Placeholder 4">
            <a:extLst>
              <a:ext uri="{FF2B5EF4-FFF2-40B4-BE49-F238E27FC236}">
                <a16:creationId xmlns:a16="http://schemas.microsoft.com/office/drawing/2014/main" id="{35F3618B-6A99-B775-6C5E-AF764E9981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A12B0C-CE82-D581-88F9-118CFF012E39}"/>
              </a:ext>
            </a:extLst>
          </p:cNvPr>
          <p:cNvSpPr>
            <a:spLocks noGrp="1"/>
          </p:cNvSpPr>
          <p:nvPr>
            <p:ph type="sldNum" sz="quarter" idx="12"/>
          </p:nvPr>
        </p:nvSpPr>
        <p:spPr/>
        <p:txBody>
          <a:bodyPr/>
          <a:lstStyle/>
          <a:p>
            <a:fld id="{020E12A0-658C-D041-9CD3-4BEDF2D64CA1}" type="slidenum">
              <a:rPr lang="en-US" smtClean="0"/>
              <a:t>‹#›</a:t>
            </a:fld>
            <a:endParaRPr lang="en-US"/>
          </a:p>
        </p:txBody>
      </p:sp>
    </p:spTree>
    <p:extLst>
      <p:ext uri="{BB962C8B-B14F-4D97-AF65-F5344CB8AC3E}">
        <p14:creationId xmlns:p14="http://schemas.microsoft.com/office/powerpoint/2010/main" val="3955802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816E00-8D72-82D9-01AF-29E096D9B5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5DA2CF-0D3E-BD28-B530-4151741211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2EFE09-F4DC-5532-7F46-FF1C7D8EE5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42BB059-EDDB-5346-AA14-A916A9EE38BE}" type="datetimeFigureOut">
              <a:rPr lang="en-US" smtClean="0"/>
              <a:t>3/12/26</a:t>
            </a:fld>
            <a:endParaRPr lang="en-US"/>
          </a:p>
        </p:txBody>
      </p:sp>
      <p:sp>
        <p:nvSpPr>
          <p:cNvPr id="5" name="Footer Placeholder 4">
            <a:extLst>
              <a:ext uri="{FF2B5EF4-FFF2-40B4-BE49-F238E27FC236}">
                <a16:creationId xmlns:a16="http://schemas.microsoft.com/office/drawing/2014/main" id="{C1D7B1A2-0EE0-D3EC-7584-CCB26E8991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EBBDA67-57A1-620C-BE13-06BB4D98F8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0E12A0-658C-D041-9CD3-4BEDF2D64CA1}" type="slidenum">
              <a:rPr lang="en-US" smtClean="0"/>
              <a:t>‹#›</a:t>
            </a:fld>
            <a:endParaRPr lang="en-US"/>
          </a:p>
        </p:txBody>
      </p:sp>
    </p:spTree>
    <p:extLst>
      <p:ext uri="{BB962C8B-B14F-4D97-AF65-F5344CB8AC3E}">
        <p14:creationId xmlns:p14="http://schemas.microsoft.com/office/powerpoint/2010/main" val="3226250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8632A-18E1-DBBD-2DBC-85194EF4CF37}"/>
              </a:ext>
            </a:extLst>
          </p:cNvPr>
          <p:cNvSpPr>
            <a:spLocks noGrp="1"/>
          </p:cNvSpPr>
          <p:nvPr>
            <p:ph type="ctrTitle"/>
          </p:nvPr>
        </p:nvSpPr>
        <p:spPr/>
        <p:txBody>
          <a:bodyPr/>
          <a:lstStyle/>
          <a:p>
            <a:r>
              <a:rPr lang="en-US" dirty="0"/>
              <a:t>DBMS Security</a:t>
            </a:r>
          </a:p>
        </p:txBody>
      </p:sp>
      <p:sp>
        <p:nvSpPr>
          <p:cNvPr id="3" name="Subtitle 2">
            <a:extLst>
              <a:ext uri="{FF2B5EF4-FFF2-40B4-BE49-F238E27FC236}">
                <a16:creationId xmlns:a16="http://schemas.microsoft.com/office/drawing/2014/main" id="{801ADDEE-7FC3-8938-82DD-1312BCC14F7F}"/>
              </a:ext>
            </a:extLst>
          </p:cNvPr>
          <p:cNvSpPr>
            <a:spLocks noGrp="1"/>
          </p:cNvSpPr>
          <p:nvPr>
            <p:ph type="subTitle" idx="1"/>
          </p:nvPr>
        </p:nvSpPr>
        <p:spPr/>
        <p:txBody>
          <a:bodyPr/>
          <a:lstStyle/>
          <a:p>
            <a:r>
              <a:rPr lang="en-US" dirty="0"/>
              <a:t>Kazi Amit Hasan</a:t>
            </a:r>
          </a:p>
        </p:txBody>
      </p:sp>
    </p:spTree>
    <p:extLst>
      <p:ext uri="{BB962C8B-B14F-4D97-AF65-F5344CB8AC3E}">
        <p14:creationId xmlns:p14="http://schemas.microsoft.com/office/powerpoint/2010/main" val="821072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F9BB2-1EA4-0ADE-06BC-5FC466EF56A1}"/>
              </a:ext>
            </a:extLst>
          </p:cNvPr>
          <p:cNvSpPr>
            <a:spLocks noGrp="1"/>
          </p:cNvSpPr>
          <p:nvPr>
            <p:ph type="title"/>
          </p:nvPr>
        </p:nvSpPr>
        <p:spPr/>
        <p:txBody>
          <a:bodyPr/>
          <a:lstStyle/>
          <a:p>
            <a:r>
              <a:rPr lang="en-US" dirty="0"/>
              <a:t>Next </a:t>
            </a:r>
          </a:p>
        </p:txBody>
      </p:sp>
      <p:sp>
        <p:nvSpPr>
          <p:cNvPr id="3" name="Content Placeholder 2">
            <a:extLst>
              <a:ext uri="{FF2B5EF4-FFF2-40B4-BE49-F238E27FC236}">
                <a16:creationId xmlns:a16="http://schemas.microsoft.com/office/drawing/2014/main" id="{CD421ACF-9E77-DEC1-B2BF-2E31608558FF}"/>
              </a:ext>
            </a:extLst>
          </p:cNvPr>
          <p:cNvSpPr>
            <a:spLocks noGrp="1"/>
          </p:cNvSpPr>
          <p:nvPr>
            <p:ph idx="1"/>
          </p:nvPr>
        </p:nvSpPr>
        <p:spPr/>
        <p:txBody>
          <a:bodyPr>
            <a:normAutofit fontScale="92500"/>
          </a:bodyPr>
          <a:lstStyle/>
          <a:p>
            <a:r>
              <a:rPr lang="en-CA" dirty="0"/>
              <a:t>March 13th &gt;&gt; Security (This one would be a descriptive class too. You can expect True/False question from this content)</a:t>
            </a:r>
          </a:p>
          <a:p>
            <a:r>
              <a:rPr lang="en-CA" dirty="0"/>
              <a:t>March 16th &gt;&gt; </a:t>
            </a:r>
            <a:r>
              <a:rPr lang="en-CA" b="1" dirty="0"/>
              <a:t>Review class 1</a:t>
            </a:r>
            <a:r>
              <a:rPr lang="en-CA" dirty="0"/>
              <a:t>. I highly encourage you to attend this session, as I will highlight the most important topics and questions likely to appear on the final exam. Please use the Google Form or email me to let me know which topics you would like me to cover again. I plan to hold a couple of review classes before the final.</a:t>
            </a:r>
          </a:p>
          <a:p>
            <a:r>
              <a:rPr lang="en-CA" dirty="0"/>
              <a:t>March 18th &gt;&gt; NoSQL. This class will be led by our graduate TA, </a:t>
            </a:r>
            <a:r>
              <a:rPr lang="en-CA" dirty="0" err="1"/>
              <a:t>Ashfi</a:t>
            </a:r>
            <a:r>
              <a:rPr lang="en-CA" dirty="0"/>
              <a:t>.</a:t>
            </a:r>
            <a:br>
              <a:rPr lang="en-CA" dirty="0"/>
            </a:br>
            <a:br>
              <a:rPr lang="en-CA" dirty="0"/>
            </a:br>
            <a:endParaRPr lang="en-US" dirty="0"/>
          </a:p>
        </p:txBody>
      </p:sp>
    </p:spTree>
    <p:extLst>
      <p:ext uri="{BB962C8B-B14F-4D97-AF65-F5344CB8AC3E}">
        <p14:creationId xmlns:p14="http://schemas.microsoft.com/office/powerpoint/2010/main" val="3122884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D4F30-F6B5-BDDE-ED55-72D365B576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04BCD1-9600-88FE-3186-05488752BEAC}"/>
              </a:ext>
            </a:extLst>
          </p:cNvPr>
          <p:cNvSpPr>
            <a:spLocks noGrp="1"/>
          </p:cNvSpPr>
          <p:nvPr>
            <p:ph type="title"/>
          </p:nvPr>
        </p:nvSpPr>
        <p:spPr/>
        <p:txBody>
          <a:bodyPr/>
          <a:lstStyle/>
          <a:p>
            <a:r>
              <a:rPr lang="en-US" dirty="0"/>
              <a:t>Data Breaches </a:t>
            </a:r>
          </a:p>
        </p:txBody>
      </p:sp>
      <p:sp>
        <p:nvSpPr>
          <p:cNvPr id="3" name="Content Placeholder 2">
            <a:extLst>
              <a:ext uri="{FF2B5EF4-FFF2-40B4-BE49-F238E27FC236}">
                <a16:creationId xmlns:a16="http://schemas.microsoft.com/office/drawing/2014/main" id="{6EBC8B88-B503-3698-D7B7-6B55A19E5460}"/>
              </a:ext>
            </a:extLst>
          </p:cNvPr>
          <p:cNvSpPr>
            <a:spLocks noGrp="1"/>
          </p:cNvSpPr>
          <p:nvPr>
            <p:ph idx="1"/>
          </p:nvPr>
        </p:nvSpPr>
        <p:spPr>
          <a:xfrm>
            <a:off x="838200" y="1623259"/>
            <a:ext cx="10515600" cy="632762"/>
          </a:xfrm>
        </p:spPr>
        <p:txBody>
          <a:bodyPr/>
          <a:lstStyle/>
          <a:p>
            <a:r>
              <a:rPr lang="en-US" dirty="0"/>
              <a:t>More data = more database = more data breaches</a:t>
            </a:r>
          </a:p>
          <a:p>
            <a:pPr marL="0" indent="0">
              <a:buNone/>
            </a:pPr>
            <a:endParaRPr lang="en-US" dirty="0"/>
          </a:p>
        </p:txBody>
      </p:sp>
      <p:pic>
        <p:nvPicPr>
          <p:cNvPr id="7" name="Picture 6" descr="A toy character next to another toy&#10;&#10;AI-generated content may be incorrect.">
            <a:extLst>
              <a:ext uri="{FF2B5EF4-FFF2-40B4-BE49-F238E27FC236}">
                <a16:creationId xmlns:a16="http://schemas.microsoft.com/office/drawing/2014/main" id="{8FCD60A1-A687-760A-FA67-96241A7AF7C7}"/>
              </a:ext>
            </a:extLst>
          </p:cNvPr>
          <p:cNvPicPr>
            <a:picLocks noChangeAspect="1"/>
          </p:cNvPicPr>
          <p:nvPr/>
        </p:nvPicPr>
        <p:blipFill>
          <a:blip r:embed="rId2"/>
          <a:stretch>
            <a:fillRect/>
          </a:stretch>
        </p:blipFill>
        <p:spPr>
          <a:xfrm>
            <a:off x="3237876" y="2489726"/>
            <a:ext cx="5241456" cy="4003149"/>
          </a:xfrm>
          <a:prstGeom prst="rect">
            <a:avLst/>
          </a:prstGeom>
        </p:spPr>
      </p:pic>
    </p:spTree>
    <p:extLst>
      <p:ext uri="{BB962C8B-B14F-4D97-AF65-F5344CB8AC3E}">
        <p14:creationId xmlns:p14="http://schemas.microsoft.com/office/powerpoint/2010/main" val="3862416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52660-462B-4D17-7F02-B4ADDBAAB1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A2FD97-6EA7-8EC8-0C99-8730EECE2071}"/>
              </a:ext>
            </a:extLst>
          </p:cNvPr>
          <p:cNvSpPr>
            <a:spLocks noGrp="1"/>
          </p:cNvSpPr>
          <p:nvPr>
            <p:ph type="title"/>
          </p:nvPr>
        </p:nvSpPr>
        <p:spPr/>
        <p:txBody>
          <a:bodyPr/>
          <a:lstStyle/>
          <a:p>
            <a:r>
              <a:rPr lang="en-US" dirty="0"/>
              <a:t>Data Breaches </a:t>
            </a:r>
          </a:p>
        </p:txBody>
      </p:sp>
      <p:sp>
        <p:nvSpPr>
          <p:cNvPr id="3" name="Content Placeholder 2">
            <a:extLst>
              <a:ext uri="{FF2B5EF4-FFF2-40B4-BE49-F238E27FC236}">
                <a16:creationId xmlns:a16="http://schemas.microsoft.com/office/drawing/2014/main" id="{CE34DACC-B4E5-FB2C-82AA-828E2552890B}"/>
              </a:ext>
            </a:extLst>
          </p:cNvPr>
          <p:cNvSpPr>
            <a:spLocks noGrp="1"/>
          </p:cNvSpPr>
          <p:nvPr>
            <p:ph idx="1"/>
          </p:nvPr>
        </p:nvSpPr>
        <p:spPr>
          <a:xfrm>
            <a:off x="868491" y="1500442"/>
            <a:ext cx="10515600" cy="632762"/>
          </a:xfrm>
        </p:spPr>
        <p:txBody>
          <a:bodyPr/>
          <a:lstStyle/>
          <a:p>
            <a:pPr marL="0" indent="0">
              <a:buNone/>
            </a:pPr>
            <a:r>
              <a:rPr lang="en-US" dirty="0"/>
              <a:t>Real incidents in last 10 years!</a:t>
            </a:r>
          </a:p>
        </p:txBody>
      </p:sp>
      <p:pic>
        <p:nvPicPr>
          <p:cNvPr id="4" name="Picture 3">
            <a:extLst>
              <a:ext uri="{FF2B5EF4-FFF2-40B4-BE49-F238E27FC236}">
                <a16:creationId xmlns:a16="http://schemas.microsoft.com/office/drawing/2014/main" id="{8D8C57DB-E3D7-FC3E-4795-9ED6A6460FA2}"/>
              </a:ext>
            </a:extLst>
          </p:cNvPr>
          <p:cNvPicPr>
            <a:picLocks noChangeAspect="1"/>
          </p:cNvPicPr>
          <p:nvPr/>
        </p:nvPicPr>
        <p:blipFill>
          <a:blip r:embed="rId2"/>
          <a:stretch>
            <a:fillRect/>
          </a:stretch>
        </p:blipFill>
        <p:spPr>
          <a:xfrm>
            <a:off x="2209800" y="2188592"/>
            <a:ext cx="7772400" cy="542260"/>
          </a:xfrm>
          <a:prstGeom prst="rect">
            <a:avLst/>
          </a:prstGeom>
        </p:spPr>
      </p:pic>
      <p:pic>
        <p:nvPicPr>
          <p:cNvPr id="6" name="Picture 5" descr="A black and white text&#10;&#10;AI-generated content may be incorrect.">
            <a:extLst>
              <a:ext uri="{FF2B5EF4-FFF2-40B4-BE49-F238E27FC236}">
                <a16:creationId xmlns:a16="http://schemas.microsoft.com/office/drawing/2014/main" id="{64A0D5CA-92EA-A7E1-D778-3338DBEAB784}"/>
              </a:ext>
            </a:extLst>
          </p:cNvPr>
          <p:cNvPicPr>
            <a:picLocks noChangeAspect="1"/>
          </p:cNvPicPr>
          <p:nvPr/>
        </p:nvPicPr>
        <p:blipFill>
          <a:blip r:embed="rId3"/>
          <a:stretch>
            <a:fillRect/>
          </a:stretch>
        </p:blipFill>
        <p:spPr>
          <a:xfrm>
            <a:off x="2209800" y="2730852"/>
            <a:ext cx="7893570" cy="1538407"/>
          </a:xfrm>
          <a:prstGeom prst="rect">
            <a:avLst/>
          </a:prstGeom>
        </p:spPr>
      </p:pic>
      <p:pic>
        <p:nvPicPr>
          <p:cNvPr id="8" name="Picture 7">
            <a:extLst>
              <a:ext uri="{FF2B5EF4-FFF2-40B4-BE49-F238E27FC236}">
                <a16:creationId xmlns:a16="http://schemas.microsoft.com/office/drawing/2014/main" id="{C2E6A3C4-603D-CFF2-1E92-A8EA28714B3A}"/>
              </a:ext>
            </a:extLst>
          </p:cNvPr>
          <p:cNvPicPr>
            <a:picLocks noChangeAspect="1"/>
          </p:cNvPicPr>
          <p:nvPr/>
        </p:nvPicPr>
        <p:blipFill>
          <a:blip r:embed="rId4"/>
          <a:stretch>
            <a:fillRect/>
          </a:stretch>
        </p:blipFill>
        <p:spPr>
          <a:xfrm>
            <a:off x="2149214" y="4269259"/>
            <a:ext cx="7954155" cy="885032"/>
          </a:xfrm>
          <a:prstGeom prst="rect">
            <a:avLst/>
          </a:prstGeom>
        </p:spPr>
      </p:pic>
      <p:pic>
        <p:nvPicPr>
          <p:cNvPr id="10" name="Picture 9" descr="A black and white text&#10;&#10;AI-generated content may be incorrect.">
            <a:extLst>
              <a:ext uri="{FF2B5EF4-FFF2-40B4-BE49-F238E27FC236}">
                <a16:creationId xmlns:a16="http://schemas.microsoft.com/office/drawing/2014/main" id="{7169A41A-B666-E2A9-8605-A144CBFD8F6F}"/>
              </a:ext>
            </a:extLst>
          </p:cNvPr>
          <p:cNvPicPr>
            <a:picLocks noChangeAspect="1"/>
          </p:cNvPicPr>
          <p:nvPr/>
        </p:nvPicPr>
        <p:blipFill>
          <a:blip r:embed="rId5"/>
          <a:stretch>
            <a:fillRect/>
          </a:stretch>
        </p:blipFill>
        <p:spPr>
          <a:xfrm>
            <a:off x="2240091" y="5154291"/>
            <a:ext cx="7772400" cy="1650775"/>
          </a:xfrm>
          <a:prstGeom prst="rect">
            <a:avLst/>
          </a:prstGeom>
        </p:spPr>
      </p:pic>
    </p:spTree>
    <p:extLst>
      <p:ext uri="{BB962C8B-B14F-4D97-AF65-F5344CB8AC3E}">
        <p14:creationId xmlns:p14="http://schemas.microsoft.com/office/powerpoint/2010/main" val="2202904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D0BE2-F094-4E45-13AB-FA915D3724BD}"/>
              </a:ext>
            </a:extLst>
          </p:cNvPr>
          <p:cNvSpPr>
            <a:spLocks noGrp="1"/>
          </p:cNvSpPr>
          <p:nvPr>
            <p:ph type="title"/>
          </p:nvPr>
        </p:nvSpPr>
        <p:spPr/>
        <p:txBody>
          <a:bodyPr/>
          <a:lstStyle/>
          <a:p>
            <a:r>
              <a:rPr lang="en-US" dirty="0"/>
              <a:t>Data Breaches </a:t>
            </a:r>
          </a:p>
        </p:txBody>
      </p:sp>
      <p:sp>
        <p:nvSpPr>
          <p:cNvPr id="3" name="Content Placeholder 2">
            <a:extLst>
              <a:ext uri="{FF2B5EF4-FFF2-40B4-BE49-F238E27FC236}">
                <a16:creationId xmlns:a16="http://schemas.microsoft.com/office/drawing/2014/main" id="{2B7CF0FE-8F56-5B7D-C35B-4C19B663A095}"/>
              </a:ext>
            </a:extLst>
          </p:cNvPr>
          <p:cNvSpPr>
            <a:spLocks noGrp="1"/>
          </p:cNvSpPr>
          <p:nvPr>
            <p:ph idx="1"/>
          </p:nvPr>
        </p:nvSpPr>
        <p:spPr>
          <a:xfrm>
            <a:off x="838200" y="1825625"/>
            <a:ext cx="5592580" cy="4351338"/>
          </a:xfrm>
        </p:spPr>
        <p:txBody>
          <a:bodyPr/>
          <a:lstStyle/>
          <a:p>
            <a:r>
              <a:rPr lang="en-US" dirty="0"/>
              <a:t>Data is important and needs to be guarded</a:t>
            </a:r>
          </a:p>
          <a:p>
            <a:r>
              <a:rPr lang="en-US" dirty="0"/>
              <a:t>What are the consequences?</a:t>
            </a:r>
          </a:p>
          <a:p>
            <a:pPr lvl="1"/>
            <a:r>
              <a:rPr lang="en-US" dirty="0"/>
              <a:t>Reputation</a:t>
            </a:r>
          </a:p>
          <a:p>
            <a:pPr lvl="1"/>
            <a:r>
              <a:rPr lang="en-US" dirty="0"/>
              <a:t>Financial loss</a:t>
            </a:r>
          </a:p>
          <a:p>
            <a:pPr lvl="1"/>
            <a:r>
              <a:rPr lang="en-US" dirty="0"/>
              <a:t>Disruption</a:t>
            </a:r>
          </a:p>
          <a:p>
            <a:pPr lvl="1"/>
            <a:r>
              <a:rPr lang="en-US" dirty="0"/>
              <a:t>Identity theft</a:t>
            </a:r>
          </a:p>
          <a:p>
            <a:pPr lvl="1"/>
            <a:r>
              <a:rPr lang="en-US" dirty="0"/>
              <a:t>…….. Much more</a:t>
            </a:r>
          </a:p>
        </p:txBody>
      </p:sp>
      <p:pic>
        <p:nvPicPr>
          <p:cNvPr id="7" name="Picture 6" descr="A person with a mustache&#10;&#10;AI-generated content may be incorrect.">
            <a:extLst>
              <a:ext uri="{FF2B5EF4-FFF2-40B4-BE49-F238E27FC236}">
                <a16:creationId xmlns:a16="http://schemas.microsoft.com/office/drawing/2014/main" id="{E7A79F02-67C3-1D00-1FCA-0C6B4BAF35A6}"/>
              </a:ext>
            </a:extLst>
          </p:cNvPr>
          <p:cNvPicPr>
            <a:picLocks noChangeAspect="1"/>
          </p:cNvPicPr>
          <p:nvPr/>
        </p:nvPicPr>
        <p:blipFill>
          <a:blip r:embed="rId2"/>
          <a:stretch>
            <a:fillRect/>
          </a:stretch>
        </p:blipFill>
        <p:spPr>
          <a:xfrm>
            <a:off x="7129167" y="1825625"/>
            <a:ext cx="4224633" cy="3029262"/>
          </a:xfrm>
          <a:prstGeom prst="rect">
            <a:avLst/>
          </a:prstGeom>
        </p:spPr>
      </p:pic>
    </p:spTree>
    <p:extLst>
      <p:ext uri="{BB962C8B-B14F-4D97-AF65-F5344CB8AC3E}">
        <p14:creationId xmlns:p14="http://schemas.microsoft.com/office/powerpoint/2010/main" val="3357200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A2E77-6567-C6A5-115A-EE9BC058F390}"/>
              </a:ext>
            </a:extLst>
          </p:cNvPr>
          <p:cNvSpPr>
            <a:spLocks noGrp="1"/>
          </p:cNvSpPr>
          <p:nvPr>
            <p:ph type="title"/>
          </p:nvPr>
        </p:nvSpPr>
        <p:spPr/>
        <p:txBody>
          <a:bodyPr/>
          <a:lstStyle/>
          <a:p>
            <a:r>
              <a:rPr lang="en-US" dirty="0"/>
              <a:t>Privacy</a:t>
            </a:r>
          </a:p>
        </p:txBody>
      </p:sp>
      <p:sp>
        <p:nvSpPr>
          <p:cNvPr id="3" name="Content Placeholder 2">
            <a:extLst>
              <a:ext uri="{FF2B5EF4-FFF2-40B4-BE49-F238E27FC236}">
                <a16:creationId xmlns:a16="http://schemas.microsoft.com/office/drawing/2014/main" id="{4A223D6B-20E7-CCE9-9BD2-782C77EEE759}"/>
              </a:ext>
            </a:extLst>
          </p:cNvPr>
          <p:cNvSpPr>
            <a:spLocks noGrp="1"/>
          </p:cNvSpPr>
          <p:nvPr>
            <p:ph idx="1"/>
          </p:nvPr>
        </p:nvSpPr>
        <p:spPr>
          <a:xfrm>
            <a:off x="838200" y="1825625"/>
            <a:ext cx="5472659" cy="4351338"/>
          </a:xfrm>
        </p:spPr>
        <p:txBody>
          <a:bodyPr>
            <a:normAutofit fontScale="92500" lnSpcReduction="20000"/>
          </a:bodyPr>
          <a:lstStyle/>
          <a:p>
            <a:r>
              <a:rPr lang="en-CA" dirty="0"/>
              <a:t>Companies have an obligation to protect the privacy of individuals about whom they keep data.</a:t>
            </a:r>
          </a:p>
          <a:p>
            <a:r>
              <a:rPr lang="en-CA" dirty="0"/>
              <a:t>Individuals have a right to privacy – some control over information about themselves.</a:t>
            </a:r>
          </a:p>
          <a:p>
            <a:r>
              <a:rPr lang="en-CA" dirty="0"/>
              <a:t>Laws protect privacy and companies are obliged to follow these laws.</a:t>
            </a:r>
          </a:p>
          <a:p>
            <a:pPr lvl="1"/>
            <a:r>
              <a:rPr lang="en-CA" dirty="0"/>
              <a:t>A hospital cannot simply give patient records to another company because it is convenient.</a:t>
            </a:r>
            <a:br>
              <a:rPr lang="en-CA" dirty="0">
                <a:effectLst/>
              </a:rPr>
            </a:br>
            <a:br>
              <a:rPr lang="en-CA" dirty="0"/>
            </a:br>
            <a:endParaRPr lang="en-CA" dirty="0">
              <a:effectLst/>
            </a:endParaRPr>
          </a:p>
          <a:p>
            <a:endParaRPr lang="en-US" dirty="0"/>
          </a:p>
        </p:txBody>
      </p:sp>
      <p:pic>
        <p:nvPicPr>
          <p:cNvPr id="5" name="Picture 4" descr="A person with long hair and a beard&#10;&#10;AI-generated content may be incorrect.">
            <a:extLst>
              <a:ext uri="{FF2B5EF4-FFF2-40B4-BE49-F238E27FC236}">
                <a16:creationId xmlns:a16="http://schemas.microsoft.com/office/drawing/2014/main" id="{164F85EB-6D02-6BA6-E64D-B026ED8F1EFC}"/>
              </a:ext>
            </a:extLst>
          </p:cNvPr>
          <p:cNvPicPr>
            <a:picLocks noChangeAspect="1"/>
          </p:cNvPicPr>
          <p:nvPr/>
        </p:nvPicPr>
        <p:blipFill>
          <a:blip r:embed="rId2"/>
          <a:stretch>
            <a:fillRect/>
          </a:stretch>
        </p:blipFill>
        <p:spPr>
          <a:xfrm>
            <a:off x="7449279" y="1825625"/>
            <a:ext cx="4368800" cy="3124200"/>
          </a:xfrm>
          <a:prstGeom prst="rect">
            <a:avLst/>
          </a:prstGeom>
        </p:spPr>
      </p:pic>
    </p:spTree>
    <p:extLst>
      <p:ext uri="{BB962C8B-B14F-4D97-AF65-F5344CB8AC3E}">
        <p14:creationId xmlns:p14="http://schemas.microsoft.com/office/powerpoint/2010/main" val="686073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4EFD2-2AEA-9EBF-0E42-895648584AE7}"/>
              </a:ext>
            </a:extLst>
          </p:cNvPr>
          <p:cNvSpPr>
            <a:spLocks noGrp="1"/>
          </p:cNvSpPr>
          <p:nvPr>
            <p:ph type="title"/>
          </p:nvPr>
        </p:nvSpPr>
        <p:spPr/>
        <p:txBody>
          <a:bodyPr/>
          <a:lstStyle/>
          <a:p>
            <a:r>
              <a:rPr lang="en-CA" dirty="0"/>
              <a:t>Threats to Databases</a:t>
            </a:r>
            <a:endParaRPr lang="en-US" dirty="0"/>
          </a:p>
        </p:txBody>
      </p:sp>
      <p:sp>
        <p:nvSpPr>
          <p:cNvPr id="3" name="Content Placeholder 2">
            <a:extLst>
              <a:ext uri="{FF2B5EF4-FFF2-40B4-BE49-F238E27FC236}">
                <a16:creationId xmlns:a16="http://schemas.microsoft.com/office/drawing/2014/main" id="{1D0DBDA5-5DD6-1782-0DA5-A52D4AE83218}"/>
              </a:ext>
            </a:extLst>
          </p:cNvPr>
          <p:cNvSpPr>
            <a:spLocks noGrp="1"/>
          </p:cNvSpPr>
          <p:nvPr>
            <p:ph idx="1"/>
          </p:nvPr>
        </p:nvSpPr>
        <p:spPr>
          <a:xfrm>
            <a:off x="838199" y="1825625"/>
            <a:ext cx="10809157" cy="4351338"/>
          </a:xfrm>
        </p:spPr>
        <p:txBody>
          <a:bodyPr>
            <a:normAutofit lnSpcReduction="10000"/>
          </a:bodyPr>
          <a:lstStyle/>
          <a:p>
            <a:r>
              <a:rPr lang="en-CA" dirty="0"/>
              <a:t>A database is secure only if the data stays correct, stays accessible to the right users, and stays hidden from the wrong users.</a:t>
            </a:r>
            <a:endParaRPr lang="en-US" dirty="0"/>
          </a:p>
          <a:p>
            <a:r>
              <a:rPr lang="en-US" dirty="0"/>
              <a:t>Loss of integrity</a:t>
            </a:r>
          </a:p>
          <a:p>
            <a:pPr lvl="1"/>
            <a:r>
              <a:rPr lang="en-US" dirty="0"/>
              <a:t>Integrity means accuracy of stored data</a:t>
            </a:r>
          </a:p>
          <a:p>
            <a:pPr lvl="1"/>
            <a:r>
              <a:rPr lang="en-US" dirty="0"/>
              <a:t>Data must be protected from improper modification</a:t>
            </a:r>
          </a:p>
          <a:p>
            <a:r>
              <a:rPr lang="en-US" dirty="0"/>
              <a:t>Loss of availability </a:t>
            </a:r>
          </a:p>
          <a:p>
            <a:pPr lvl="1"/>
            <a:r>
              <a:rPr lang="en-US" dirty="0"/>
              <a:t>Data objects must be available to users/programs that have a legitimate right to those objects</a:t>
            </a:r>
          </a:p>
          <a:p>
            <a:pPr lvl="2"/>
            <a:r>
              <a:rPr lang="en-US" dirty="0"/>
              <a:t>Could be caused by system overload or by someone maliciously deleting data</a:t>
            </a:r>
          </a:p>
          <a:p>
            <a:r>
              <a:rPr lang="en-US" dirty="0"/>
              <a:t>Loss of confidentiality</a:t>
            </a:r>
          </a:p>
          <a:p>
            <a:pPr lvl="1"/>
            <a:r>
              <a:rPr lang="en-US" dirty="0"/>
              <a:t>Data must be protected from unauthorized disclosure</a:t>
            </a:r>
          </a:p>
        </p:txBody>
      </p:sp>
    </p:spTree>
    <p:extLst>
      <p:ext uri="{BB962C8B-B14F-4D97-AF65-F5344CB8AC3E}">
        <p14:creationId xmlns:p14="http://schemas.microsoft.com/office/powerpoint/2010/main" val="6981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93A19-C641-F65D-52AF-1B4204A1AB95}"/>
              </a:ext>
            </a:extLst>
          </p:cNvPr>
          <p:cNvSpPr>
            <a:spLocks noGrp="1"/>
          </p:cNvSpPr>
          <p:nvPr>
            <p:ph type="title"/>
          </p:nvPr>
        </p:nvSpPr>
        <p:spPr/>
        <p:txBody>
          <a:bodyPr/>
          <a:lstStyle/>
          <a:p>
            <a:r>
              <a:rPr lang="en-US" dirty="0"/>
              <a:t>Accidental Security Threat Examples</a:t>
            </a:r>
          </a:p>
        </p:txBody>
      </p:sp>
      <p:sp>
        <p:nvSpPr>
          <p:cNvPr id="3" name="Content Placeholder 2">
            <a:extLst>
              <a:ext uri="{FF2B5EF4-FFF2-40B4-BE49-F238E27FC236}">
                <a16:creationId xmlns:a16="http://schemas.microsoft.com/office/drawing/2014/main" id="{E77D720F-EA4A-CB4C-4D8D-F94472BD7BA3}"/>
              </a:ext>
            </a:extLst>
          </p:cNvPr>
          <p:cNvSpPr>
            <a:spLocks noGrp="1"/>
          </p:cNvSpPr>
          <p:nvPr>
            <p:ph idx="1"/>
          </p:nvPr>
        </p:nvSpPr>
        <p:spPr>
          <a:xfrm>
            <a:off x="838199" y="1825625"/>
            <a:ext cx="5712503" cy="4351338"/>
          </a:xfrm>
        </p:spPr>
        <p:txBody>
          <a:bodyPr>
            <a:normAutofit fontScale="92500" lnSpcReduction="20000"/>
          </a:bodyPr>
          <a:lstStyle/>
          <a:p>
            <a:r>
              <a:rPr lang="en-US" dirty="0"/>
              <a:t>user unintentionally requests an object or operation for which they are not authorized &amp; the request is granted because of an oversite or error.</a:t>
            </a:r>
          </a:p>
          <a:p>
            <a:r>
              <a:rPr lang="en-US" dirty="0"/>
              <a:t>a person is accidentally sent a message meant for someone else resulting in unauthorized disclosure of database contents.</a:t>
            </a:r>
          </a:p>
          <a:p>
            <a:r>
              <a:rPr lang="en-US" dirty="0"/>
              <a:t>file system may accidentally write over files destroying parts of the database or fail to completely erase deleted files</a:t>
            </a:r>
          </a:p>
        </p:txBody>
      </p:sp>
      <p:pic>
        <p:nvPicPr>
          <p:cNvPr id="5" name="Picture 4" descr="Cartoon of a cartoon character holding an object in his mouth&#10;&#10;AI-generated content may be incorrect.">
            <a:extLst>
              <a:ext uri="{FF2B5EF4-FFF2-40B4-BE49-F238E27FC236}">
                <a16:creationId xmlns:a16="http://schemas.microsoft.com/office/drawing/2014/main" id="{DFA4E2E2-C3EB-C6F7-BBA2-88107AB4F6E6}"/>
              </a:ext>
            </a:extLst>
          </p:cNvPr>
          <p:cNvPicPr>
            <a:picLocks noChangeAspect="1"/>
          </p:cNvPicPr>
          <p:nvPr/>
        </p:nvPicPr>
        <p:blipFill>
          <a:blip r:embed="rId3"/>
          <a:stretch>
            <a:fillRect/>
          </a:stretch>
        </p:blipFill>
        <p:spPr>
          <a:xfrm>
            <a:off x="7252508" y="1524806"/>
            <a:ext cx="3952120" cy="4185456"/>
          </a:xfrm>
          <a:prstGeom prst="rect">
            <a:avLst/>
          </a:prstGeom>
        </p:spPr>
      </p:pic>
    </p:spTree>
    <p:extLst>
      <p:ext uri="{BB962C8B-B14F-4D97-AF65-F5344CB8AC3E}">
        <p14:creationId xmlns:p14="http://schemas.microsoft.com/office/powerpoint/2010/main" val="1532324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C2CF6-050D-5C61-A51C-D6AFC801EB2B}"/>
              </a:ext>
            </a:extLst>
          </p:cNvPr>
          <p:cNvSpPr>
            <a:spLocks noGrp="1"/>
          </p:cNvSpPr>
          <p:nvPr>
            <p:ph type="title"/>
          </p:nvPr>
        </p:nvSpPr>
        <p:spPr/>
        <p:txBody>
          <a:bodyPr/>
          <a:lstStyle/>
          <a:p>
            <a:r>
              <a:rPr lang="en-US" dirty="0"/>
              <a:t>Intentional Security Threat Examples</a:t>
            </a:r>
          </a:p>
        </p:txBody>
      </p:sp>
      <p:sp>
        <p:nvSpPr>
          <p:cNvPr id="3" name="Content Placeholder 2">
            <a:extLst>
              <a:ext uri="{FF2B5EF4-FFF2-40B4-BE49-F238E27FC236}">
                <a16:creationId xmlns:a16="http://schemas.microsoft.com/office/drawing/2014/main" id="{8EFF08E2-20D0-8DF8-5D69-F0943ABE38A3}"/>
              </a:ext>
            </a:extLst>
          </p:cNvPr>
          <p:cNvSpPr>
            <a:spLocks noGrp="1"/>
          </p:cNvSpPr>
          <p:nvPr>
            <p:ph idx="1"/>
          </p:nvPr>
        </p:nvSpPr>
        <p:spPr>
          <a:xfrm>
            <a:off x="838200" y="1825625"/>
            <a:ext cx="10794167" cy="4351338"/>
          </a:xfrm>
        </p:spPr>
        <p:txBody>
          <a:bodyPr>
            <a:normAutofit fontScale="92500" lnSpcReduction="10000"/>
          </a:bodyPr>
          <a:lstStyle/>
          <a:p>
            <a:r>
              <a:rPr lang="en-CA" dirty="0"/>
              <a:t>wiretapping/sniffing to intercept data: means someone secretly listens to data while it is being sent over a network.</a:t>
            </a:r>
          </a:p>
          <a:p>
            <a:r>
              <a:rPr lang="en-US" dirty="0"/>
              <a:t>impersonating an authorized user by using their login credentials</a:t>
            </a:r>
          </a:p>
          <a:p>
            <a:r>
              <a:rPr lang="en-US" dirty="0"/>
              <a:t>Hacking - illegal code</a:t>
            </a:r>
          </a:p>
          <a:p>
            <a:r>
              <a:rPr lang="en-US" dirty="0"/>
              <a:t>deriving information about hidden data by clever querying of the database</a:t>
            </a:r>
          </a:p>
          <a:p>
            <a:r>
              <a:rPr lang="en-US" dirty="0"/>
              <a:t>SQL injections</a:t>
            </a:r>
          </a:p>
          <a:p>
            <a:r>
              <a:rPr lang="en-US" dirty="0"/>
              <a:t>Removing physical storage devices from site</a:t>
            </a:r>
          </a:p>
          <a:p>
            <a:r>
              <a:rPr lang="en-US" dirty="0"/>
              <a:t>Making copies of database</a:t>
            </a:r>
          </a:p>
          <a:p>
            <a:r>
              <a:rPr lang="en-US" dirty="0"/>
              <a:t>Bribing, blackmailing authorized users</a:t>
            </a:r>
          </a:p>
        </p:txBody>
      </p:sp>
    </p:spTree>
    <p:extLst>
      <p:ext uri="{BB962C8B-B14F-4D97-AF65-F5344CB8AC3E}">
        <p14:creationId xmlns:p14="http://schemas.microsoft.com/office/powerpoint/2010/main" val="2522735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913AC-5B15-424C-BC67-B918076640B9}"/>
              </a:ext>
            </a:extLst>
          </p:cNvPr>
          <p:cNvSpPr>
            <a:spLocks noGrp="1"/>
          </p:cNvSpPr>
          <p:nvPr>
            <p:ph type="title"/>
          </p:nvPr>
        </p:nvSpPr>
        <p:spPr/>
        <p:txBody>
          <a:bodyPr/>
          <a:lstStyle/>
          <a:p>
            <a:r>
              <a:rPr lang="en-CA" dirty="0"/>
              <a:t>Access control – DBA role</a:t>
            </a:r>
            <a:endParaRPr lang="en-US" dirty="0"/>
          </a:p>
        </p:txBody>
      </p:sp>
      <p:sp>
        <p:nvSpPr>
          <p:cNvPr id="3" name="Content Placeholder 2">
            <a:extLst>
              <a:ext uri="{FF2B5EF4-FFF2-40B4-BE49-F238E27FC236}">
                <a16:creationId xmlns:a16="http://schemas.microsoft.com/office/drawing/2014/main" id="{562ADDDA-C647-65B4-4AD6-ECB5EB36E1DB}"/>
              </a:ext>
            </a:extLst>
          </p:cNvPr>
          <p:cNvSpPr>
            <a:spLocks noGrp="1"/>
          </p:cNvSpPr>
          <p:nvPr>
            <p:ph idx="1"/>
          </p:nvPr>
        </p:nvSpPr>
        <p:spPr/>
        <p:txBody>
          <a:bodyPr>
            <a:normAutofit/>
          </a:bodyPr>
          <a:lstStyle/>
          <a:p>
            <a:r>
              <a:rPr lang="en-CA" dirty="0"/>
              <a:t>Controls must be defined to restrict access.</a:t>
            </a:r>
          </a:p>
          <a:p>
            <a:r>
              <a:rPr lang="en-CA" dirty="0"/>
              <a:t>Database Administrator (DBA) is responsible for:</a:t>
            </a:r>
          </a:p>
          <a:p>
            <a:pPr lvl="1"/>
            <a:r>
              <a:rPr lang="en-CA" dirty="0"/>
              <a:t>installing DBMS and configuring securely</a:t>
            </a:r>
          </a:p>
          <a:p>
            <a:pPr lvl="1"/>
            <a:r>
              <a:rPr lang="en-CA" dirty="0"/>
              <a:t>creating account &amp; giving each appropriate access</a:t>
            </a:r>
          </a:p>
          <a:p>
            <a:pPr lvl="1"/>
            <a:r>
              <a:rPr lang="en-CA" dirty="0"/>
              <a:t>developing and enforcing standards for applications accessing this database</a:t>
            </a:r>
          </a:p>
          <a:p>
            <a:pPr lvl="1"/>
            <a:r>
              <a:rPr lang="en-CA" dirty="0"/>
              <a:t>encrypting sensitive information (storage and transmission)</a:t>
            </a:r>
          </a:p>
          <a:p>
            <a:pPr lvl="1"/>
            <a:r>
              <a:rPr lang="en-CA" dirty="0"/>
              <a:t>ensuring network connections are secure</a:t>
            </a:r>
          </a:p>
          <a:p>
            <a:pPr lvl="1"/>
            <a:r>
              <a:rPr lang="en-CA" dirty="0"/>
              <a:t>establish audit mechanisms for the database</a:t>
            </a:r>
          </a:p>
          <a:p>
            <a:pPr lvl="1"/>
            <a:r>
              <a:rPr lang="en-CA" dirty="0"/>
              <a:t>identify and guard against intruders</a:t>
            </a:r>
            <a:endParaRPr lang="en-US" dirty="0"/>
          </a:p>
        </p:txBody>
      </p:sp>
    </p:spTree>
    <p:extLst>
      <p:ext uri="{BB962C8B-B14F-4D97-AF65-F5344CB8AC3E}">
        <p14:creationId xmlns:p14="http://schemas.microsoft.com/office/powerpoint/2010/main" val="3558320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95385-1344-D656-4EE8-AF5C95E86480}"/>
              </a:ext>
            </a:extLst>
          </p:cNvPr>
          <p:cNvSpPr>
            <a:spLocks noGrp="1"/>
          </p:cNvSpPr>
          <p:nvPr>
            <p:ph type="title"/>
          </p:nvPr>
        </p:nvSpPr>
        <p:spPr/>
        <p:txBody>
          <a:bodyPr/>
          <a:lstStyle/>
          <a:p>
            <a:r>
              <a:rPr lang="en-US" dirty="0"/>
              <a:t>Authorization</a:t>
            </a:r>
          </a:p>
        </p:txBody>
      </p:sp>
      <p:sp>
        <p:nvSpPr>
          <p:cNvPr id="3" name="Content Placeholder 2">
            <a:extLst>
              <a:ext uri="{FF2B5EF4-FFF2-40B4-BE49-F238E27FC236}">
                <a16:creationId xmlns:a16="http://schemas.microsoft.com/office/drawing/2014/main" id="{19454749-C691-0F04-C94D-A80FA3031DCB}"/>
              </a:ext>
            </a:extLst>
          </p:cNvPr>
          <p:cNvSpPr>
            <a:spLocks noGrp="1"/>
          </p:cNvSpPr>
          <p:nvPr>
            <p:ph idx="1"/>
          </p:nvPr>
        </p:nvSpPr>
        <p:spPr/>
        <p:txBody>
          <a:bodyPr/>
          <a:lstStyle/>
          <a:p>
            <a:r>
              <a:rPr lang="en-CA" dirty="0"/>
              <a:t>DBMSs include an authorization subsystem that is responsible for ensuring the database against unauthorized access.</a:t>
            </a:r>
          </a:p>
          <a:p>
            <a:pPr lvl="1"/>
            <a:r>
              <a:rPr lang="en-CA" dirty="0"/>
              <a:t>User assigned an DBMS specific account id an password</a:t>
            </a:r>
          </a:p>
          <a:p>
            <a:pPr lvl="1"/>
            <a:r>
              <a:rPr lang="en-CA" dirty="0"/>
              <a:t>Access control mechanism to manage access to the data by the users</a:t>
            </a:r>
          </a:p>
          <a:p>
            <a:pPr marL="457200" lvl="1" indent="0">
              <a:buNone/>
            </a:pPr>
            <a:endParaRPr lang="en-US" dirty="0"/>
          </a:p>
        </p:txBody>
      </p:sp>
    </p:spTree>
    <p:extLst>
      <p:ext uri="{BB962C8B-B14F-4D97-AF65-F5344CB8AC3E}">
        <p14:creationId xmlns:p14="http://schemas.microsoft.com/office/powerpoint/2010/main" val="3177672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6F4E3-2385-5BF9-D811-E7D48EC80ED8}"/>
              </a:ext>
            </a:extLst>
          </p:cNvPr>
          <p:cNvSpPr>
            <a:spLocks noGrp="1"/>
          </p:cNvSpPr>
          <p:nvPr>
            <p:ph type="title"/>
          </p:nvPr>
        </p:nvSpPr>
        <p:spPr/>
        <p:txBody>
          <a:bodyPr/>
          <a:lstStyle/>
          <a:p>
            <a:r>
              <a:rPr lang="en-CA" dirty="0"/>
              <a:t>Database Authorization</a:t>
            </a:r>
            <a:endParaRPr lang="en-US" dirty="0"/>
          </a:p>
        </p:txBody>
      </p:sp>
      <p:sp>
        <p:nvSpPr>
          <p:cNvPr id="3" name="Content Placeholder 2">
            <a:extLst>
              <a:ext uri="{FF2B5EF4-FFF2-40B4-BE49-F238E27FC236}">
                <a16:creationId xmlns:a16="http://schemas.microsoft.com/office/drawing/2014/main" id="{02855E4E-FAA9-45E4-2B65-02919B15FE77}"/>
              </a:ext>
            </a:extLst>
          </p:cNvPr>
          <p:cNvSpPr>
            <a:spLocks noGrp="1"/>
          </p:cNvSpPr>
          <p:nvPr>
            <p:ph idx="1"/>
          </p:nvPr>
        </p:nvSpPr>
        <p:spPr/>
        <p:txBody>
          <a:bodyPr>
            <a:normAutofit lnSpcReduction="10000"/>
          </a:bodyPr>
          <a:lstStyle/>
          <a:p>
            <a:r>
              <a:rPr lang="en-CA" dirty="0"/>
              <a:t>We may assign a user several forms of authorizations on parts of</a:t>
            </a:r>
            <a:br>
              <a:rPr lang="en-CA" dirty="0"/>
            </a:br>
            <a:r>
              <a:rPr lang="en-CA" dirty="0"/>
              <a:t>the database.</a:t>
            </a:r>
          </a:p>
          <a:p>
            <a:pPr lvl="1"/>
            <a:r>
              <a:rPr lang="en-CA" dirty="0"/>
              <a:t>READ: allows reading, but not modification of data</a:t>
            </a:r>
          </a:p>
          <a:p>
            <a:pPr lvl="1"/>
            <a:r>
              <a:rPr lang="en-CA" dirty="0"/>
              <a:t>INSERT: Allows insertion of new data, but not modification of existing data</a:t>
            </a:r>
          </a:p>
          <a:p>
            <a:pPr lvl="1"/>
            <a:r>
              <a:rPr lang="en-CA" dirty="0"/>
              <a:t>UPDATE: allows modification, but not deletion of data</a:t>
            </a:r>
          </a:p>
          <a:p>
            <a:pPr lvl="1"/>
            <a:r>
              <a:rPr lang="en-CA" dirty="0"/>
              <a:t>DELETE: allows deletion of data</a:t>
            </a:r>
          </a:p>
          <a:p>
            <a:pPr lvl="1"/>
            <a:endParaRPr lang="en-CA" dirty="0"/>
          </a:p>
          <a:p>
            <a:r>
              <a:rPr lang="en-CA" dirty="0"/>
              <a:t>Each of these types of authorizations is called a privilege. We</a:t>
            </a:r>
            <a:br>
              <a:rPr lang="en-CA" dirty="0">
                <a:effectLst/>
              </a:rPr>
            </a:br>
            <a:r>
              <a:rPr lang="en-CA" dirty="0"/>
              <a:t>may authorize the user all, none, or a combination of these types</a:t>
            </a:r>
            <a:br>
              <a:rPr lang="en-CA" dirty="0">
                <a:effectLst/>
              </a:rPr>
            </a:br>
            <a:r>
              <a:rPr lang="en-CA" dirty="0"/>
              <a:t>of privileges on specified parts of a database, such as a relation</a:t>
            </a:r>
            <a:br>
              <a:rPr lang="en-CA" dirty="0">
                <a:effectLst/>
              </a:rPr>
            </a:br>
            <a:r>
              <a:rPr lang="en-CA" dirty="0"/>
              <a:t>or a view.</a:t>
            </a:r>
            <a:endParaRPr lang="en-CA" dirty="0">
              <a:effectLst/>
            </a:endParaRPr>
          </a:p>
          <a:p>
            <a:pPr marL="0" indent="0">
              <a:buNone/>
            </a:pPr>
            <a:endParaRPr lang="en-CA" dirty="0">
              <a:effectLst/>
            </a:endParaRPr>
          </a:p>
        </p:txBody>
      </p:sp>
    </p:spTree>
    <p:extLst>
      <p:ext uri="{BB962C8B-B14F-4D97-AF65-F5344CB8AC3E}">
        <p14:creationId xmlns:p14="http://schemas.microsoft.com/office/powerpoint/2010/main" val="3357256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B6300-5761-F66C-B9D4-BF90EC045B5A}"/>
              </a:ext>
            </a:extLst>
          </p:cNvPr>
          <p:cNvSpPr>
            <a:spLocks noGrp="1"/>
          </p:cNvSpPr>
          <p:nvPr>
            <p:ph type="title"/>
          </p:nvPr>
        </p:nvSpPr>
        <p:spPr/>
        <p:txBody>
          <a:bodyPr/>
          <a:lstStyle/>
          <a:p>
            <a:r>
              <a:rPr lang="en-CA" dirty="0"/>
              <a:t>Authorization Specification in SQL</a:t>
            </a:r>
            <a:endParaRPr lang="en-US" dirty="0"/>
          </a:p>
        </p:txBody>
      </p:sp>
      <p:sp>
        <p:nvSpPr>
          <p:cNvPr id="3" name="Content Placeholder 2">
            <a:extLst>
              <a:ext uri="{FF2B5EF4-FFF2-40B4-BE49-F238E27FC236}">
                <a16:creationId xmlns:a16="http://schemas.microsoft.com/office/drawing/2014/main" id="{803E69FF-5096-BD2B-7801-64D15EE16F5F}"/>
              </a:ext>
            </a:extLst>
          </p:cNvPr>
          <p:cNvSpPr>
            <a:spLocks noGrp="1"/>
          </p:cNvSpPr>
          <p:nvPr>
            <p:ph idx="1"/>
          </p:nvPr>
        </p:nvSpPr>
        <p:spPr/>
        <p:txBody>
          <a:bodyPr>
            <a:normAutofit lnSpcReduction="10000"/>
          </a:bodyPr>
          <a:lstStyle/>
          <a:p>
            <a:r>
              <a:rPr lang="en-CA" dirty="0"/>
              <a:t>The grant statement is used to confer authorization</a:t>
            </a:r>
          </a:p>
          <a:p>
            <a:pPr lvl="1"/>
            <a:r>
              <a:rPr lang="en-CA" b="1" dirty="0"/>
              <a:t>grant</a:t>
            </a:r>
            <a:r>
              <a:rPr lang="en-CA" dirty="0"/>
              <a:t> &lt;privilege list&gt; </a:t>
            </a:r>
            <a:r>
              <a:rPr lang="en-CA" b="1" dirty="0"/>
              <a:t>on</a:t>
            </a:r>
            <a:r>
              <a:rPr lang="en-CA" dirty="0"/>
              <a:t> &lt;relation or view &gt; </a:t>
            </a:r>
            <a:r>
              <a:rPr lang="en-CA" b="1" dirty="0"/>
              <a:t>to</a:t>
            </a:r>
            <a:r>
              <a:rPr lang="en-CA" dirty="0"/>
              <a:t> &lt;user list&gt;</a:t>
            </a:r>
          </a:p>
          <a:p>
            <a:r>
              <a:rPr lang="en-CA" dirty="0"/>
              <a:t>&lt;privilege list&gt; This tells us </a:t>
            </a:r>
            <a:r>
              <a:rPr lang="en-CA" b="1" dirty="0"/>
              <a:t>what permission</a:t>
            </a:r>
            <a:r>
              <a:rPr lang="en-CA" dirty="0"/>
              <a:t> we are giving.</a:t>
            </a:r>
          </a:p>
          <a:p>
            <a:r>
              <a:rPr lang="en-CA" dirty="0"/>
              <a:t>&lt;user list&gt; is:</a:t>
            </a:r>
          </a:p>
          <a:p>
            <a:pPr lvl="1"/>
            <a:r>
              <a:rPr lang="en-CA" dirty="0"/>
              <a:t>one or more user-ids</a:t>
            </a:r>
          </a:p>
          <a:p>
            <a:pPr lvl="1"/>
            <a:r>
              <a:rPr lang="en-CA" dirty="0"/>
              <a:t>public, which allows all valid users the privilege granted</a:t>
            </a:r>
          </a:p>
          <a:p>
            <a:r>
              <a:rPr lang="en-CA" dirty="0"/>
              <a:t>Example:</a:t>
            </a:r>
          </a:p>
          <a:p>
            <a:pPr lvl="1"/>
            <a:r>
              <a:rPr lang="en-CA" dirty="0"/>
              <a:t>grant select on department to Smith, Zhang</a:t>
            </a:r>
          </a:p>
          <a:p>
            <a:r>
              <a:rPr lang="en-CA" dirty="0"/>
              <a:t>The grantor of the privilege must already hold the privilege on</a:t>
            </a:r>
            <a:br>
              <a:rPr lang="en-CA" dirty="0"/>
            </a:br>
            <a:r>
              <a:rPr lang="en-CA" dirty="0"/>
              <a:t>the specified item (or be the database administrator).</a:t>
            </a:r>
            <a:endParaRPr lang="en-US" dirty="0"/>
          </a:p>
        </p:txBody>
      </p:sp>
    </p:spTree>
    <p:extLst>
      <p:ext uri="{BB962C8B-B14F-4D97-AF65-F5344CB8AC3E}">
        <p14:creationId xmlns:p14="http://schemas.microsoft.com/office/powerpoint/2010/main" val="283518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61373-5A49-F996-5D89-56AA85688EBE}"/>
              </a:ext>
            </a:extLst>
          </p:cNvPr>
          <p:cNvSpPr>
            <a:spLocks noGrp="1"/>
          </p:cNvSpPr>
          <p:nvPr>
            <p:ph type="title"/>
          </p:nvPr>
        </p:nvSpPr>
        <p:spPr/>
        <p:txBody>
          <a:bodyPr/>
          <a:lstStyle/>
          <a:p>
            <a:r>
              <a:rPr lang="en-CA" dirty="0"/>
              <a:t>Privileges in SQL</a:t>
            </a:r>
            <a:endParaRPr lang="en-US" dirty="0"/>
          </a:p>
        </p:txBody>
      </p:sp>
      <p:pic>
        <p:nvPicPr>
          <p:cNvPr id="5" name="Content Placeholder 4" descr="A screenshot of a computer&#10;&#10;AI-generated content may be incorrect.">
            <a:extLst>
              <a:ext uri="{FF2B5EF4-FFF2-40B4-BE49-F238E27FC236}">
                <a16:creationId xmlns:a16="http://schemas.microsoft.com/office/drawing/2014/main" id="{0CC5137B-8159-6882-9214-DCA4B026D202}"/>
              </a:ext>
            </a:extLst>
          </p:cNvPr>
          <p:cNvPicPr>
            <a:picLocks noGrp="1" noChangeAspect="1"/>
          </p:cNvPicPr>
          <p:nvPr>
            <p:ph idx="1"/>
          </p:nvPr>
        </p:nvPicPr>
        <p:blipFill>
          <a:blip r:embed="rId2"/>
          <a:stretch>
            <a:fillRect/>
          </a:stretch>
        </p:blipFill>
        <p:spPr>
          <a:xfrm>
            <a:off x="2415680" y="1690688"/>
            <a:ext cx="7360640" cy="4847972"/>
          </a:xfrm>
        </p:spPr>
      </p:pic>
    </p:spTree>
    <p:extLst>
      <p:ext uri="{BB962C8B-B14F-4D97-AF65-F5344CB8AC3E}">
        <p14:creationId xmlns:p14="http://schemas.microsoft.com/office/powerpoint/2010/main" val="3738589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13FA1-77A1-D6B9-30C1-F322987AA0DA}"/>
              </a:ext>
            </a:extLst>
          </p:cNvPr>
          <p:cNvSpPr>
            <a:spLocks noGrp="1"/>
          </p:cNvSpPr>
          <p:nvPr>
            <p:ph type="title"/>
          </p:nvPr>
        </p:nvSpPr>
        <p:spPr/>
        <p:txBody>
          <a:bodyPr/>
          <a:lstStyle/>
          <a:p>
            <a:r>
              <a:rPr lang="en-CA" dirty="0"/>
              <a:t>Privileges on a View</a:t>
            </a:r>
            <a:endParaRPr lang="en-US" dirty="0"/>
          </a:p>
        </p:txBody>
      </p:sp>
      <p:pic>
        <p:nvPicPr>
          <p:cNvPr id="5" name="Content Placeholder 4" descr="A screenshot of a computer&#10;&#10;AI-generated content may be incorrect.">
            <a:extLst>
              <a:ext uri="{FF2B5EF4-FFF2-40B4-BE49-F238E27FC236}">
                <a16:creationId xmlns:a16="http://schemas.microsoft.com/office/drawing/2014/main" id="{E278BDB5-AF08-3CBF-5B9D-2AAC26BDD276}"/>
              </a:ext>
            </a:extLst>
          </p:cNvPr>
          <p:cNvPicPr>
            <a:picLocks noGrp="1" noChangeAspect="1"/>
          </p:cNvPicPr>
          <p:nvPr>
            <p:ph idx="1"/>
          </p:nvPr>
        </p:nvPicPr>
        <p:blipFill>
          <a:blip r:embed="rId2"/>
          <a:stretch>
            <a:fillRect/>
          </a:stretch>
        </p:blipFill>
        <p:spPr>
          <a:xfrm>
            <a:off x="1577303" y="1825625"/>
            <a:ext cx="9037394" cy="4351338"/>
          </a:xfrm>
        </p:spPr>
      </p:pic>
    </p:spTree>
    <p:extLst>
      <p:ext uri="{BB962C8B-B14F-4D97-AF65-F5344CB8AC3E}">
        <p14:creationId xmlns:p14="http://schemas.microsoft.com/office/powerpoint/2010/main" val="3200289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983E1-7933-0B3D-D322-3DD6A567109D}"/>
              </a:ext>
            </a:extLst>
          </p:cNvPr>
          <p:cNvSpPr>
            <a:spLocks noGrp="1"/>
          </p:cNvSpPr>
          <p:nvPr>
            <p:ph type="title"/>
          </p:nvPr>
        </p:nvSpPr>
        <p:spPr/>
        <p:txBody>
          <a:bodyPr/>
          <a:lstStyle/>
          <a:p>
            <a:r>
              <a:rPr lang="en-CA" dirty="0"/>
              <a:t>Revoking Authorization in SQL</a:t>
            </a:r>
            <a:endParaRPr lang="en-US" dirty="0"/>
          </a:p>
        </p:txBody>
      </p:sp>
      <p:sp>
        <p:nvSpPr>
          <p:cNvPr id="3" name="Content Placeholder 2">
            <a:extLst>
              <a:ext uri="{FF2B5EF4-FFF2-40B4-BE49-F238E27FC236}">
                <a16:creationId xmlns:a16="http://schemas.microsoft.com/office/drawing/2014/main" id="{267F7A19-D5EF-E473-0F52-7AE714EF593E}"/>
              </a:ext>
            </a:extLst>
          </p:cNvPr>
          <p:cNvSpPr>
            <a:spLocks noGrp="1"/>
          </p:cNvSpPr>
          <p:nvPr>
            <p:ph idx="1"/>
          </p:nvPr>
        </p:nvSpPr>
        <p:spPr>
          <a:xfrm>
            <a:off x="838200" y="1825625"/>
            <a:ext cx="10515600" cy="2401601"/>
          </a:xfrm>
        </p:spPr>
        <p:txBody>
          <a:bodyPr/>
          <a:lstStyle/>
          <a:p>
            <a:r>
              <a:rPr lang="en-CA" dirty="0"/>
              <a:t>The revoke statement is used to revoke authorization.</a:t>
            </a:r>
          </a:p>
          <a:p>
            <a:pPr lvl="1"/>
            <a:r>
              <a:rPr lang="en-CA" dirty="0"/>
              <a:t>revoke &lt;privilege list&gt; on &lt;relation or view&gt; from &lt;user list&gt;</a:t>
            </a:r>
          </a:p>
          <a:p>
            <a:r>
              <a:rPr lang="en-CA" dirty="0"/>
              <a:t>Example</a:t>
            </a:r>
          </a:p>
          <a:p>
            <a:pPr lvl="1"/>
            <a:r>
              <a:rPr lang="en-CA" dirty="0"/>
              <a:t>revoke select on student from U1, U2, U3</a:t>
            </a:r>
          </a:p>
          <a:p>
            <a:pPr marL="457200" lvl="1" indent="0">
              <a:buNone/>
            </a:pPr>
            <a:endParaRPr lang="en-CA" dirty="0"/>
          </a:p>
          <a:p>
            <a:endParaRPr lang="en-US" dirty="0"/>
          </a:p>
        </p:txBody>
      </p:sp>
      <p:pic>
        <p:nvPicPr>
          <p:cNvPr id="5" name="Picture 4">
            <a:extLst>
              <a:ext uri="{FF2B5EF4-FFF2-40B4-BE49-F238E27FC236}">
                <a16:creationId xmlns:a16="http://schemas.microsoft.com/office/drawing/2014/main" id="{B65804CF-FEF0-95A1-1408-23D229494C7B}"/>
              </a:ext>
            </a:extLst>
          </p:cNvPr>
          <p:cNvPicPr>
            <a:picLocks noChangeAspect="1"/>
          </p:cNvPicPr>
          <p:nvPr/>
        </p:nvPicPr>
        <p:blipFill>
          <a:blip r:embed="rId2"/>
          <a:stretch>
            <a:fillRect/>
          </a:stretch>
        </p:blipFill>
        <p:spPr>
          <a:xfrm>
            <a:off x="2165333" y="4116073"/>
            <a:ext cx="7861334" cy="770719"/>
          </a:xfrm>
          <a:prstGeom prst="rect">
            <a:avLst/>
          </a:prstGeom>
        </p:spPr>
      </p:pic>
      <p:sp>
        <p:nvSpPr>
          <p:cNvPr id="6" name="TextBox 5">
            <a:extLst>
              <a:ext uri="{FF2B5EF4-FFF2-40B4-BE49-F238E27FC236}">
                <a16:creationId xmlns:a16="http://schemas.microsoft.com/office/drawing/2014/main" id="{3A607800-E5BB-4CC3-6D24-98D2F10AB5B9}"/>
              </a:ext>
            </a:extLst>
          </p:cNvPr>
          <p:cNvSpPr txBox="1"/>
          <p:nvPr/>
        </p:nvSpPr>
        <p:spPr>
          <a:xfrm>
            <a:off x="4053656" y="5040346"/>
            <a:ext cx="3605758" cy="1477328"/>
          </a:xfrm>
          <a:prstGeom prst="rect">
            <a:avLst/>
          </a:prstGeom>
          <a:noFill/>
        </p:spPr>
        <p:txBody>
          <a:bodyPr wrap="square" rtlCol="0">
            <a:spAutoFit/>
          </a:bodyPr>
          <a:lstStyle/>
          <a:p>
            <a:r>
              <a:rPr lang="en-CA" dirty="0"/>
              <a:t>This means instead of removing only one privilege, you can remove </a:t>
            </a:r>
            <a:r>
              <a:rPr lang="en-CA" b="1" dirty="0"/>
              <a:t>all privileges</a:t>
            </a:r>
            <a:r>
              <a:rPr lang="en-CA" dirty="0"/>
              <a:t> a user has on that object.</a:t>
            </a:r>
          </a:p>
          <a:p>
            <a:endParaRPr lang="en-US" dirty="0"/>
          </a:p>
        </p:txBody>
      </p:sp>
    </p:spTree>
    <p:extLst>
      <p:ext uri="{BB962C8B-B14F-4D97-AF65-F5344CB8AC3E}">
        <p14:creationId xmlns:p14="http://schemas.microsoft.com/office/powerpoint/2010/main" val="346684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F73E3-520C-989F-030E-5311A52E5C0B}"/>
              </a:ext>
            </a:extLst>
          </p:cNvPr>
          <p:cNvSpPr>
            <a:spLocks noGrp="1"/>
          </p:cNvSpPr>
          <p:nvPr>
            <p:ph type="title"/>
          </p:nvPr>
        </p:nvSpPr>
        <p:spPr/>
        <p:txBody>
          <a:bodyPr/>
          <a:lstStyle/>
          <a:p>
            <a:r>
              <a:rPr lang="en-CA" dirty="0"/>
              <a:t>Revoking Authorization in SQL</a:t>
            </a:r>
            <a:endParaRPr lang="en-US" dirty="0"/>
          </a:p>
        </p:txBody>
      </p:sp>
      <p:pic>
        <p:nvPicPr>
          <p:cNvPr id="5" name="Content Placeholder 4" descr="A black text on a white background&#10;&#10;AI-generated content may be incorrect.">
            <a:extLst>
              <a:ext uri="{FF2B5EF4-FFF2-40B4-BE49-F238E27FC236}">
                <a16:creationId xmlns:a16="http://schemas.microsoft.com/office/drawing/2014/main" id="{E4B9CD89-2B73-944A-F1DF-24AFB06A0E8C}"/>
              </a:ext>
            </a:extLst>
          </p:cNvPr>
          <p:cNvPicPr>
            <a:picLocks noGrp="1" noChangeAspect="1"/>
          </p:cNvPicPr>
          <p:nvPr>
            <p:ph idx="1"/>
          </p:nvPr>
        </p:nvPicPr>
        <p:blipFill>
          <a:blip r:embed="rId2"/>
          <a:stretch>
            <a:fillRect/>
          </a:stretch>
        </p:blipFill>
        <p:spPr>
          <a:xfrm>
            <a:off x="1482048" y="1517611"/>
            <a:ext cx="8928100" cy="2628900"/>
          </a:xfrm>
        </p:spPr>
      </p:pic>
      <p:pic>
        <p:nvPicPr>
          <p:cNvPr id="7" name="Picture 6" descr="A close up of a text&#10;&#10;AI-generated content may be incorrect.">
            <a:extLst>
              <a:ext uri="{FF2B5EF4-FFF2-40B4-BE49-F238E27FC236}">
                <a16:creationId xmlns:a16="http://schemas.microsoft.com/office/drawing/2014/main" id="{BF001DFB-FEBF-D5D6-6797-42B450FF878B}"/>
              </a:ext>
            </a:extLst>
          </p:cNvPr>
          <p:cNvPicPr>
            <a:picLocks noChangeAspect="1"/>
          </p:cNvPicPr>
          <p:nvPr/>
        </p:nvPicPr>
        <p:blipFill>
          <a:blip r:embed="rId3"/>
          <a:stretch>
            <a:fillRect/>
          </a:stretch>
        </p:blipFill>
        <p:spPr>
          <a:xfrm>
            <a:off x="1915098" y="4346627"/>
            <a:ext cx="7772400" cy="1260052"/>
          </a:xfrm>
          <a:prstGeom prst="rect">
            <a:avLst/>
          </a:prstGeom>
        </p:spPr>
      </p:pic>
    </p:spTree>
    <p:extLst>
      <p:ext uri="{BB962C8B-B14F-4D97-AF65-F5344CB8AC3E}">
        <p14:creationId xmlns:p14="http://schemas.microsoft.com/office/powerpoint/2010/main" val="26109548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8C687-D16A-1DFF-409A-0A0CE1AE6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58A8C-ACC6-E375-BAFE-76AB061F9047}"/>
              </a:ext>
            </a:extLst>
          </p:cNvPr>
          <p:cNvSpPr>
            <a:spLocks noGrp="1"/>
          </p:cNvSpPr>
          <p:nvPr>
            <p:ph type="title"/>
          </p:nvPr>
        </p:nvSpPr>
        <p:spPr/>
        <p:txBody>
          <a:bodyPr/>
          <a:lstStyle/>
          <a:p>
            <a:r>
              <a:rPr lang="en-CA" dirty="0"/>
              <a:t>Revoking Authorization in SQL</a:t>
            </a:r>
            <a:endParaRPr lang="en-US" dirty="0"/>
          </a:p>
        </p:txBody>
      </p:sp>
      <p:pic>
        <p:nvPicPr>
          <p:cNvPr id="7" name="Picture 6" descr="A close up of a text&#10;&#10;AI-generated content may be incorrect.">
            <a:extLst>
              <a:ext uri="{FF2B5EF4-FFF2-40B4-BE49-F238E27FC236}">
                <a16:creationId xmlns:a16="http://schemas.microsoft.com/office/drawing/2014/main" id="{86A3E191-D231-F8D1-622F-1A5C95100757}"/>
              </a:ext>
            </a:extLst>
          </p:cNvPr>
          <p:cNvPicPr>
            <a:picLocks noChangeAspect="1"/>
          </p:cNvPicPr>
          <p:nvPr/>
        </p:nvPicPr>
        <p:blipFill>
          <a:blip r:embed="rId2"/>
          <a:stretch>
            <a:fillRect/>
          </a:stretch>
        </p:blipFill>
        <p:spPr>
          <a:xfrm>
            <a:off x="1930088" y="1690688"/>
            <a:ext cx="7772400" cy="1260052"/>
          </a:xfrm>
          <a:prstGeom prst="rect">
            <a:avLst/>
          </a:prstGeom>
        </p:spPr>
      </p:pic>
      <p:sp>
        <p:nvSpPr>
          <p:cNvPr id="6" name="TextBox 5">
            <a:extLst>
              <a:ext uri="{FF2B5EF4-FFF2-40B4-BE49-F238E27FC236}">
                <a16:creationId xmlns:a16="http://schemas.microsoft.com/office/drawing/2014/main" id="{70A80146-D021-F233-0400-3687ACDF16FB}"/>
              </a:ext>
            </a:extLst>
          </p:cNvPr>
          <p:cNvSpPr txBox="1"/>
          <p:nvPr/>
        </p:nvSpPr>
        <p:spPr>
          <a:xfrm>
            <a:off x="3327816" y="3260930"/>
            <a:ext cx="5006715" cy="646331"/>
          </a:xfrm>
          <a:prstGeom prst="rect">
            <a:avLst/>
          </a:prstGeom>
          <a:noFill/>
        </p:spPr>
        <p:txBody>
          <a:bodyPr wrap="square" rtlCol="0">
            <a:spAutoFit/>
          </a:bodyPr>
          <a:lstStyle/>
          <a:p>
            <a:r>
              <a:rPr lang="en-US" dirty="0"/>
              <a:t>grant select on student to Wendy;   -- by Alice</a:t>
            </a:r>
          </a:p>
          <a:p>
            <a:r>
              <a:rPr lang="en-US" dirty="0"/>
              <a:t>grant select on student to Wendy;   -- by Bob</a:t>
            </a:r>
          </a:p>
        </p:txBody>
      </p:sp>
      <p:sp>
        <p:nvSpPr>
          <p:cNvPr id="8" name="TextBox 7">
            <a:extLst>
              <a:ext uri="{FF2B5EF4-FFF2-40B4-BE49-F238E27FC236}">
                <a16:creationId xmlns:a16="http://schemas.microsoft.com/office/drawing/2014/main" id="{9BB68C8D-E828-9170-2A0E-6811DEDAC37B}"/>
              </a:ext>
            </a:extLst>
          </p:cNvPr>
          <p:cNvSpPr txBox="1"/>
          <p:nvPr/>
        </p:nvSpPr>
        <p:spPr>
          <a:xfrm>
            <a:off x="3717561" y="4520981"/>
            <a:ext cx="3917483" cy="646331"/>
          </a:xfrm>
          <a:prstGeom prst="rect">
            <a:avLst/>
          </a:prstGeom>
          <a:noFill/>
        </p:spPr>
        <p:txBody>
          <a:bodyPr wrap="none" rtlCol="0">
            <a:spAutoFit/>
          </a:bodyPr>
          <a:lstStyle/>
          <a:p>
            <a:r>
              <a:rPr lang="en-CA" dirty="0"/>
              <a:t>revoke select on student from Wendy;</a:t>
            </a:r>
          </a:p>
          <a:p>
            <a:endParaRPr lang="en-US" dirty="0"/>
          </a:p>
        </p:txBody>
      </p:sp>
      <p:sp>
        <p:nvSpPr>
          <p:cNvPr id="9" name="TextBox 8">
            <a:extLst>
              <a:ext uri="{FF2B5EF4-FFF2-40B4-BE49-F238E27FC236}">
                <a16:creationId xmlns:a16="http://schemas.microsoft.com/office/drawing/2014/main" id="{E6468F4F-94DA-B396-4C73-33C70C80B03D}"/>
              </a:ext>
            </a:extLst>
          </p:cNvPr>
          <p:cNvSpPr txBox="1"/>
          <p:nvPr/>
        </p:nvSpPr>
        <p:spPr>
          <a:xfrm>
            <a:off x="1411907" y="4520981"/>
            <a:ext cx="1915909" cy="646331"/>
          </a:xfrm>
          <a:prstGeom prst="rect">
            <a:avLst/>
          </a:prstGeom>
          <a:noFill/>
        </p:spPr>
        <p:txBody>
          <a:bodyPr wrap="none" rtlCol="0">
            <a:spAutoFit/>
          </a:bodyPr>
          <a:lstStyle/>
          <a:p>
            <a:r>
              <a:rPr lang="en-CA" dirty="0"/>
              <a:t>If Alice later says:</a:t>
            </a:r>
          </a:p>
          <a:p>
            <a:endParaRPr lang="en-US" dirty="0"/>
          </a:p>
        </p:txBody>
      </p:sp>
      <p:sp>
        <p:nvSpPr>
          <p:cNvPr id="10" name="TextBox 9">
            <a:extLst>
              <a:ext uri="{FF2B5EF4-FFF2-40B4-BE49-F238E27FC236}">
                <a16:creationId xmlns:a16="http://schemas.microsoft.com/office/drawing/2014/main" id="{2A1B6808-46F2-F0EA-66E0-D98CC0B51120}"/>
              </a:ext>
            </a:extLst>
          </p:cNvPr>
          <p:cNvSpPr txBox="1"/>
          <p:nvPr/>
        </p:nvSpPr>
        <p:spPr>
          <a:xfrm>
            <a:off x="2651006" y="5477502"/>
            <a:ext cx="7051482" cy="646331"/>
          </a:xfrm>
          <a:prstGeom prst="rect">
            <a:avLst/>
          </a:prstGeom>
          <a:noFill/>
        </p:spPr>
        <p:txBody>
          <a:bodyPr wrap="none" rtlCol="0">
            <a:spAutoFit/>
          </a:bodyPr>
          <a:lstStyle/>
          <a:p>
            <a:r>
              <a:rPr lang="en-CA" dirty="0"/>
              <a:t>Wendy may still keep SELECT access because Bob’s grant still exists.</a:t>
            </a:r>
          </a:p>
          <a:p>
            <a:endParaRPr lang="en-US" dirty="0"/>
          </a:p>
        </p:txBody>
      </p:sp>
    </p:spTree>
    <p:extLst>
      <p:ext uri="{BB962C8B-B14F-4D97-AF65-F5344CB8AC3E}">
        <p14:creationId xmlns:p14="http://schemas.microsoft.com/office/powerpoint/2010/main" val="1553887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91845-8E62-BA14-DC0E-66FEA2DC2B4D}"/>
              </a:ext>
            </a:extLst>
          </p:cNvPr>
          <p:cNvSpPr>
            <a:spLocks noGrp="1"/>
          </p:cNvSpPr>
          <p:nvPr>
            <p:ph type="title"/>
          </p:nvPr>
        </p:nvSpPr>
        <p:spPr/>
        <p:txBody>
          <a:bodyPr/>
          <a:lstStyle/>
          <a:p>
            <a:r>
              <a:rPr lang="en-CA" dirty="0"/>
              <a:t>Roles</a:t>
            </a:r>
            <a:endParaRPr lang="en-US" dirty="0"/>
          </a:p>
        </p:txBody>
      </p:sp>
      <p:sp>
        <p:nvSpPr>
          <p:cNvPr id="3" name="Content Placeholder 2">
            <a:extLst>
              <a:ext uri="{FF2B5EF4-FFF2-40B4-BE49-F238E27FC236}">
                <a16:creationId xmlns:a16="http://schemas.microsoft.com/office/drawing/2014/main" id="{FFECB59F-2207-B1DC-6670-329978F547D7}"/>
              </a:ext>
            </a:extLst>
          </p:cNvPr>
          <p:cNvSpPr>
            <a:spLocks noGrp="1"/>
          </p:cNvSpPr>
          <p:nvPr>
            <p:ph idx="1"/>
          </p:nvPr>
        </p:nvSpPr>
        <p:spPr>
          <a:xfrm>
            <a:off x="838200" y="1825625"/>
            <a:ext cx="10515600" cy="3106139"/>
          </a:xfrm>
        </p:spPr>
        <p:txBody>
          <a:bodyPr>
            <a:normAutofit lnSpcReduction="10000"/>
          </a:bodyPr>
          <a:lstStyle/>
          <a:p>
            <a:r>
              <a:rPr lang="en-CA" dirty="0"/>
              <a:t>A role is a way to distinguish among various users as far as what</a:t>
            </a:r>
            <a:br>
              <a:rPr lang="en-CA" dirty="0"/>
            </a:br>
            <a:r>
              <a:rPr lang="en-CA" dirty="0"/>
              <a:t>these users can access/update in the database.</a:t>
            </a:r>
          </a:p>
          <a:p>
            <a:r>
              <a:rPr lang="en-CA" dirty="0"/>
              <a:t>To create a role we use: create role &lt;name&gt;</a:t>
            </a:r>
          </a:p>
          <a:p>
            <a:r>
              <a:rPr lang="en-CA" dirty="0"/>
              <a:t>Ex: create role instructor</a:t>
            </a:r>
          </a:p>
          <a:p>
            <a:r>
              <a:rPr lang="en-CA" dirty="0"/>
              <a:t>Once a role is created we can assign “users” to the role using:</a:t>
            </a:r>
          </a:p>
          <a:p>
            <a:pPr lvl="1"/>
            <a:r>
              <a:rPr lang="en-CA" dirty="0"/>
              <a:t>grant &lt;role&gt; to &lt;users&gt;</a:t>
            </a:r>
            <a:br>
              <a:rPr lang="en-CA" dirty="0"/>
            </a:br>
            <a:r>
              <a:rPr lang="en-CA" dirty="0"/>
              <a:t> </a:t>
            </a:r>
            <a:endParaRPr lang="en-US" dirty="0"/>
          </a:p>
        </p:txBody>
      </p:sp>
      <p:sp>
        <p:nvSpPr>
          <p:cNvPr id="4" name="TextBox 3">
            <a:extLst>
              <a:ext uri="{FF2B5EF4-FFF2-40B4-BE49-F238E27FC236}">
                <a16:creationId xmlns:a16="http://schemas.microsoft.com/office/drawing/2014/main" id="{7C5E6218-0227-797A-8D95-56DB47D80279}"/>
              </a:ext>
            </a:extLst>
          </p:cNvPr>
          <p:cNvSpPr txBox="1"/>
          <p:nvPr/>
        </p:nvSpPr>
        <p:spPr>
          <a:xfrm>
            <a:off x="4017364" y="5066701"/>
            <a:ext cx="2465098" cy="369332"/>
          </a:xfrm>
          <a:prstGeom prst="rect">
            <a:avLst/>
          </a:prstGeom>
          <a:noFill/>
        </p:spPr>
        <p:txBody>
          <a:bodyPr wrap="none" rtlCol="0">
            <a:spAutoFit/>
          </a:bodyPr>
          <a:lstStyle/>
          <a:p>
            <a:r>
              <a:rPr lang="en-US" dirty="0"/>
              <a:t>Grant instructor to Kazi</a:t>
            </a:r>
          </a:p>
        </p:txBody>
      </p:sp>
    </p:spTree>
    <p:extLst>
      <p:ext uri="{BB962C8B-B14F-4D97-AF65-F5344CB8AC3E}">
        <p14:creationId xmlns:p14="http://schemas.microsoft.com/office/powerpoint/2010/main" val="1947863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BD22F-B4A6-45BF-00A8-BF370FF0BE53}"/>
              </a:ext>
            </a:extLst>
          </p:cNvPr>
          <p:cNvSpPr>
            <a:spLocks noGrp="1"/>
          </p:cNvSpPr>
          <p:nvPr>
            <p:ph type="title"/>
          </p:nvPr>
        </p:nvSpPr>
        <p:spPr/>
        <p:txBody>
          <a:bodyPr/>
          <a:lstStyle/>
          <a:p>
            <a:r>
              <a:rPr lang="en-US" dirty="0"/>
              <a:t>Roles Example</a:t>
            </a:r>
          </a:p>
        </p:txBody>
      </p:sp>
      <p:pic>
        <p:nvPicPr>
          <p:cNvPr id="5" name="Content Placeholder 4" descr="A white text with black text&#10;&#10;AI-generated content may be incorrect.">
            <a:extLst>
              <a:ext uri="{FF2B5EF4-FFF2-40B4-BE49-F238E27FC236}">
                <a16:creationId xmlns:a16="http://schemas.microsoft.com/office/drawing/2014/main" id="{D441882A-C709-B3DF-B46D-A12230138FAA}"/>
              </a:ext>
            </a:extLst>
          </p:cNvPr>
          <p:cNvPicPr>
            <a:picLocks noGrp="1" noChangeAspect="1"/>
          </p:cNvPicPr>
          <p:nvPr>
            <p:ph idx="1"/>
          </p:nvPr>
        </p:nvPicPr>
        <p:blipFill>
          <a:blip r:embed="rId2"/>
          <a:stretch>
            <a:fillRect/>
          </a:stretch>
        </p:blipFill>
        <p:spPr>
          <a:xfrm>
            <a:off x="2408893" y="2135286"/>
            <a:ext cx="7816377" cy="3487542"/>
          </a:xfrm>
        </p:spPr>
      </p:pic>
    </p:spTree>
    <p:extLst>
      <p:ext uri="{BB962C8B-B14F-4D97-AF65-F5344CB8AC3E}">
        <p14:creationId xmlns:p14="http://schemas.microsoft.com/office/powerpoint/2010/main" val="2962962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00A54-7370-25C9-4EAB-AB69B809DC8A}"/>
              </a:ext>
            </a:extLst>
          </p:cNvPr>
          <p:cNvSpPr>
            <a:spLocks noGrp="1"/>
          </p:cNvSpPr>
          <p:nvPr>
            <p:ph type="title"/>
          </p:nvPr>
        </p:nvSpPr>
        <p:spPr/>
        <p:txBody>
          <a:bodyPr/>
          <a:lstStyle/>
          <a:p>
            <a:r>
              <a:rPr lang="en-CA" dirty="0"/>
              <a:t>Propagation of Privileges</a:t>
            </a:r>
            <a:endParaRPr lang="en-US" dirty="0"/>
          </a:p>
        </p:txBody>
      </p:sp>
      <p:pic>
        <p:nvPicPr>
          <p:cNvPr id="5" name="Content Placeholder 4" descr="A black text on a white background&#10;&#10;AI-generated content may be incorrect.">
            <a:extLst>
              <a:ext uri="{FF2B5EF4-FFF2-40B4-BE49-F238E27FC236}">
                <a16:creationId xmlns:a16="http://schemas.microsoft.com/office/drawing/2014/main" id="{B55BDA42-0C2E-31DC-5DEF-3DC3590CD08E}"/>
              </a:ext>
            </a:extLst>
          </p:cNvPr>
          <p:cNvPicPr>
            <a:picLocks noGrp="1" noChangeAspect="1"/>
          </p:cNvPicPr>
          <p:nvPr>
            <p:ph idx="1"/>
          </p:nvPr>
        </p:nvPicPr>
        <p:blipFill>
          <a:blip r:embed="rId2"/>
          <a:stretch>
            <a:fillRect/>
          </a:stretch>
        </p:blipFill>
        <p:spPr>
          <a:xfrm>
            <a:off x="2209800" y="1943894"/>
            <a:ext cx="7772400" cy="4114800"/>
          </a:xfrm>
        </p:spPr>
      </p:pic>
    </p:spTree>
    <p:extLst>
      <p:ext uri="{BB962C8B-B14F-4D97-AF65-F5344CB8AC3E}">
        <p14:creationId xmlns:p14="http://schemas.microsoft.com/office/powerpoint/2010/main" val="10044813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1058A-E95E-9190-1490-09D87ABD2CFB}"/>
              </a:ext>
            </a:extLst>
          </p:cNvPr>
          <p:cNvSpPr>
            <a:spLocks noGrp="1"/>
          </p:cNvSpPr>
          <p:nvPr>
            <p:ph type="title"/>
          </p:nvPr>
        </p:nvSpPr>
        <p:spPr/>
        <p:txBody>
          <a:bodyPr/>
          <a:lstStyle/>
          <a:p>
            <a:r>
              <a:rPr lang="en-CA" dirty="0"/>
              <a:t>Security Logs and Audit Trails</a:t>
            </a:r>
            <a:endParaRPr lang="en-US" dirty="0"/>
          </a:p>
        </p:txBody>
      </p:sp>
      <p:sp>
        <p:nvSpPr>
          <p:cNvPr id="3" name="Content Placeholder 2">
            <a:extLst>
              <a:ext uri="{FF2B5EF4-FFF2-40B4-BE49-F238E27FC236}">
                <a16:creationId xmlns:a16="http://schemas.microsoft.com/office/drawing/2014/main" id="{44C4E4E4-A14E-D453-9B1B-F7B341589C74}"/>
              </a:ext>
            </a:extLst>
          </p:cNvPr>
          <p:cNvSpPr>
            <a:spLocks noGrp="1"/>
          </p:cNvSpPr>
          <p:nvPr>
            <p:ph idx="1"/>
          </p:nvPr>
        </p:nvSpPr>
        <p:spPr>
          <a:xfrm>
            <a:off x="838200" y="1825625"/>
            <a:ext cx="10515600" cy="3788791"/>
          </a:xfrm>
        </p:spPr>
        <p:txBody>
          <a:bodyPr/>
          <a:lstStyle/>
          <a:p>
            <a:r>
              <a:rPr lang="en-CA" dirty="0"/>
              <a:t>security log – keeps a record of all (potential) attempted security violations.</a:t>
            </a:r>
          </a:p>
          <a:p>
            <a:pPr lvl="1"/>
            <a:r>
              <a:rPr lang="en-CA" dirty="0"/>
              <a:t>Repeated passwords</a:t>
            </a:r>
          </a:p>
          <a:p>
            <a:pPr lvl="1"/>
            <a:r>
              <a:rPr lang="en-CA" dirty="0"/>
              <a:t>Failed log in attempts </a:t>
            </a:r>
            <a:r>
              <a:rPr lang="en-CA" dirty="0" err="1"/>
              <a:t>etc</a:t>
            </a:r>
            <a:r>
              <a:rPr lang="en-CA" dirty="0"/>
              <a:t> </a:t>
            </a:r>
          </a:p>
          <a:p>
            <a:r>
              <a:rPr lang="en-CA" dirty="0"/>
              <a:t>audit trail – records all accesses to the database including user information, the operation performed, the time, where it came from </a:t>
            </a:r>
            <a:r>
              <a:rPr lang="en-CA" dirty="0" err="1"/>
              <a:t>etc</a:t>
            </a:r>
            <a:endParaRPr lang="en-CA" dirty="0"/>
          </a:p>
          <a:p>
            <a:pPr lvl="1"/>
            <a:r>
              <a:rPr lang="en-CA" dirty="0"/>
              <a:t>this can be done using triggers</a:t>
            </a:r>
          </a:p>
          <a:p>
            <a:pPr lvl="1"/>
            <a:r>
              <a:rPr lang="en-CA" dirty="0"/>
              <a:t>some DBMSs have it built-in (</a:t>
            </a:r>
            <a:r>
              <a:rPr lang="en-CA" dirty="0" err="1"/>
              <a:t>mysql</a:t>
            </a:r>
            <a:r>
              <a:rPr lang="en-CA" dirty="0"/>
              <a:t> has a plug in)</a:t>
            </a:r>
          </a:p>
        </p:txBody>
      </p:sp>
      <p:pic>
        <p:nvPicPr>
          <p:cNvPr id="6" name="Picture 5" descr="A close up of black text&#10;&#10;AI-generated content may be incorrect.">
            <a:extLst>
              <a:ext uri="{FF2B5EF4-FFF2-40B4-BE49-F238E27FC236}">
                <a16:creationId xmlns:a16="http://schemas.microsoft.com/office/drawing/2014/main" id="{104697D7-0625-0362-155C-30846C033DE0}"/>
              </a:ext>
            </a:extLst>
          </p:cNvPr>
          <p:cNvPicPr>
            <a:picLocks noChangeAspect="1"/>
          </p:cNvPicPr>
          <p:nvPr/>
        </p:nvPicPr>
        <p:blipFill>
          <a:blip r:embed="rId2"/>
          <a:stretch>
            <a:fillRect/>
          </a:stretch>
        </p:blipFill>
        <p:spPr>
          <a:xfrm>
            <a:off x="3397250" y="5749353"/>
            <a:ext cx="5397500" cy="1104900"/>
          </a:xfrm>
          <a:prstGeom prst="rect">
            <a:avLst/>
          </a:prstGeom>
        </p:spPr>
      </p:pic>
    </p:spTree>
    <p:extLst>
      <p:ext uri="{BB962C8B-B14F-4D97-AF65-F5344CB8AC3E}">
        <p14:creationId xmlns:p14="http://schemas.microsoft.com/office/powerpoint/2010/main" val="32220557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09C32-4DCC-5A0C-A9DB-30ADFCF489F7}"/>
              </a:ext>
            </a:extLst>
          </p:cNvPr>
          <p:cNvSpPr>
            <a:spLocks noGrp="1"/>
          </p:cNvSpPr>
          <p:nvPr>
            <p:ph type="title"/>
          </p:nvPr>
        </p:nvSpPr>
        <p:spPr/>
        <p:txBody>
          <a:bodyPr/>
          <a:lstStyle/>
          <a:p>
            <a:r>
              <a:rPr lang="en-CA" dirty="0"/>
              <a:t>Encryption</a:t>
            </a:r>
            <a:endParaRPr lang="en-US" dirty="0"/>
          </a:p>
        </p:txBody>
      </p:sp>
      <p:pic>
        <p:nvPicPr>
          <p:cNvPr id="5" name="Content Placeholder 4" descr="A black text on a white background&#10;&#10;AI-generated content may be incorrect.">
            <a:extLst>
              <a:ext uri="{FF2B5EF4-FFF2-40B4-BE49-F238E27FC236}">
                <a16:creationId xmlns:a16="http://schemas.microsoft.com/office/drawing/2014/main" id="{75DD8416-51DC-548E-2A25-C0251D4A8E5D}"/>
              </a:ext>
            </a:extLst>
          </p:cNvPr>
          <p:cNvPicPr>
            <a:picLocks noGrp="1" noChangeAspect="1"/>
          </p:cNvPicPr>
          <p:nvPr>
            <p:ph idx="1"/>
          </p:nvPr>
        </p:nvPicPr>
        <p:blipFill>
          <a:blip r:embed="rId2"/>
          <a:stretch>
            <a:fillRect/>
          </a:stretch>
        </p:blipFill>
        <p:spPr>
          <a:xfrm>
            <a:off x="2374900" y="2718594"/>
            <a:ext cx="7442200" cy="2565400"/>
          </a:xfrm>
        </p:spPr>
      </p:pic>
    </p:spTree>
    <p:extLst>
      <p:ext uri="{BB962C8B-B14F-4D97-AF65-F5344CB8AC3E}">
        <p14:creationId xmlns:p14="http://schemas.microsoft.com/office/powerpoint/2010/main" val="4096906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05AF7-EBAC-41F5-6773-AB1A32414872}"/>
              </a:ext>
            </a:extLst>
          </p:cNvPr>
          <p:cNvSpPr>
            <a:spLocks noGrp="1"/>
          </p:cNvSpPr>
          <p:nvPr>
            <p:ph type="title"/>
          </p:nvPr>
        </p:nvSpPr>
        <p:spPr/>
        <p:txBody>
          <a:bodyPr/>
          <a:lstStyle/>
          <a:p>
            <a:r>
              <a:rPr lang="en-CA" dirty="0"/>
              <a:t>Password Leaks (</a:t>
            </a:r>
            <a:r>
              <a:rPr lang="en-CA" dirty="0" err="1"/>
              <a:t>con't</a:t>
            </a:r>
            <a:r>
              <a:rPr lang="en-CA" dirty="0"/>
              <a:t>)</a:t>
            </a:r>
            <a:endParaRPr lang="en-US" dirty="0"/>
          </a:p>
        </p:txBody>
      </p:sp>
      <p:sp>
        <p:nvSpPr>
          <p:cNvPr id="3" name="Content Placeholder 2">
            <a:extLst>
              <a:ext uri="{FF2B5EF4-FFF2-40B4-BE49-F238E27FC236}">
                <a16:creationId xmlns:a16="http://schemas.microsoft.com/office/drawing/2014/main" id="{7B5CFCA8-17D2-96C4-AF02-3DF9F729EEE1}"/>
              </a:ext>
            </a:extLst>
          </p:cNvPr>
          <p:cNvSpPr>
            <a:spLocks noGrp="1"/>
          </p:cNvSpPr>
          <p:nvPr>
            <p:ph idx="1"/>
          </p:nvPr>
        </p:nvSpPr>
        <p:spPr/>
        <p:txBody>
          <a:bodyPr>
            <a:normAutofit/>
          </a:bodyPr>
          <a:lstStyle/>
          <a:p>
            <a:r>
              <a:rPr lang="en-CA" dirty="0"/>
              <a:t>When writing applications (</a:t>
            </a:r>
            <a:r>
              <a:rPr lang="en-CA" dirty="0" err="1"/>
              <a:t>eg</a:t>
            </a:r>
            <a:r>
              <a:rPr lang="en-CA" dirty="0"/>
              <a:t> </a:t>
            </a:r>
            <a:r>
              <a:rPr lang="en-CA" dirty="0" err="1"/>
              <a:t>php</a:t>
            </a:r>
            <a:r>
              <a:rPr lang="en-CA" dirty="0"/>
              <a:t> code) – do not use "root" access as we did – instead, use a user with restricted privileges (only enough to get the job done)</a:t>
            </a:r>
          </a:p>
          <a:p>
            <a:r>
              <a:rPr lang="en-CA" dirty="0"/>
              <a:t>Store the login/password in a configuration file instead of in the </a:t>
            </a:r>
            <a:r>
              <a:rPr lang="en-CA" dirty="0" err="1"/>
              <a:t>php</a:t>
            </a:r>
            <a:r>
              <a:rPr lang="en-CA" dirty="0"/>
              <a:t> file.</a:t>
            </a:r>
          </a:p>
          <a:p>
            <a:r>
              <a:rPr lang="en-CA" dirty="0"/>
              <a:t>as a DBA, please remember to change the default root password for </a:t>
            </a:r>
            <a:r>
              <a:rPr lang="en-CA" dirty="0" err="1"/>
              <a:t>yourDBMS</a:t>
            </a:r>
            <a:r>
              <a:rPr lang="en-CA" dirty="0"/>
              <a:t>.</a:t>
            </a:r>
            <a:br>
              <a:rPr lang="en-CA" dirty="0"/>
            </a:br>
            <a:endParaRPr lang="en-CA" dirty="0">
              <a:effectLst/>
            </a:endParaRPr>
          </a:p>
          <a:p>
            <a:endParaRPr lang="en-US" dirty="0"/>
          </a:p>
        </p:txBody>
      </p:sp>
    </p:spTree>
    <p:extLst>
      <p:ext uri="{BB962C8B-B14F-4D97-AF65-F5344CB8AC3E}">
        <p14:creationId xmlns:p14="http://schemas.microsoft.com/office/powerpoint/2010/main" val="17522970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F3DC4-097F-2E6C-E595-C82BB5C65E04}"/>
              </a:ext>
            </a:extLst>
          </p:cNvPr>
          <p:cNvSpPr>
            <a:spLocks noGrp="1"/>
          </p:cNvSpPr>
          <p:nvPr>
            <p:ph type="title"/>
          </p:nvPr>
        </p:nvSpPr>
        <p:spPr/>
        <p:txBody>
          <a:bodyPr/>
          <a:lstStyle/>
          <a:p>
            <a:r>
              <a:rPr lang="en-US" dirty="0"/>
              <a:t>NEXT?</a:t>
            </a:r>
          </a:p>
        </p:txBody>
      </p:sp>
      <p:sp>
        <p:nvSpPr>
          <p:cNvPr id="3" name="Content Placeholder 2">
            <a:extLst>
              <a:ext uri="{FF2B5EF4-FFF2-40B4-BE49-F238E27FC236}">
                <a16:creationId xmlns:a16="http://schemas.microsoft.com/office/drawing/2014/main" id="{61423E82-BBC3-5A66-7FC6-BB53DFF3DBC2}"/>
              </a:ext>
            </a:extLst>
          </p:cNvPr>
          <p:cNvSpPr>
            <a:spLocks noGrp="1"/>
          </p:cNvSpPr>
          <p:nvPr>
            <p:ph idx="1"/>
          </p:nvPr>
        </p:nvSpPr>
        <p:spPr/>
        <p:txBody>
          <a:bodyPr/>
          <a:lstStyle/>
          <a:p>
            <a:r>
              <a:rPr lang="en-CA" b="1" dirty="0"/>
              <a:t>Review class 1</a:t>
            </a:r>
            <a:r>
              <a:rPr lang="en-CA" dirty="0"/>
              <a:t>. I highly encourage you to attend this session, as I will highlight the most important topics and questions likely to appear on the final exam. Please use the Google Form or email me to let me know which topics you would like me to cover again. I plan to hold a couple of review classes before the final.</a:t>
            </a:r>
            <a:endParaRPr lang="en-US" dirty="0"/>
          </a:p>
        </p:txBody>
      </p:sp>
    </p:spTree>
    <p:extLst>
      <p:ext uri="{BB962C8B-B14F-4D97-AF65-F5344CB8AC3E}">
        <p14:creationId xmlns:p14="http://schemas.microsoft.com/office/powerpoint/2010/main" val="27268430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182</TotalTime>
  <Words>1245</Words>
  <Application>Microsoft Macintosh PowerPoint</Application>
  <PresentationFormat>Widescreen</PresentationFormat>
  <Paragraphs>123</Paragraphs>
  <Slides>25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Aptos Display</vt:lpstr>
      <vt:lpstr>Arial</vt:lpstr>
      <vt:lpstr>Office Theme</vt:lpstr>
      <vt:lpstr>DBMS Security</vt:lpstr>
      <vt:lpstr>Next </vt:lpstr>
      <vt:lpstr>Data Breaches </vt:lpstr>
      <vt:lpstr>Data Breaches </vt:lpstr>
      <vt:lpstr>Data Breaches </vt:lpstr>
      <vt:lpstr>Privacy</vt:lpstr>
      <vt:lpstr>Threats to Databases</vt:lpstr>
      <vt:lpstr>Accidental Security Threat Examples</vt:lpstr>
      <vt:lpstr>Intentional Security Threat Examples</vt:lpstr>
      <vt:lpstr>Access control – DBA role</vt:lpstr>
      <vt:lpstr>Authorization</vt:lpstr>
      <vt:lpstr>Database Authorization</vt:lpstr>
      <vt:lpstr>Authorization Specification in SQL</vt:lpstr>
      <vt:lpstr>Privileges in SQL</vt:lpstr>
      <vt:lpstr>Privileges on a View</vt:lpstr>
      <vt:lpstr>Revoking Authorization in SQL</vt:lpstr>
      <vt:lpstr>Revoking Authorization in SQL</vt:lpstr>
      <vt:lpstr>Revoking Authorization in SQL</vt:lpstr>
      <vt:lpstr>Roles</vt:lpstr>
      <vt:lpstr>Roles Example</vt:lpstr>
      <vt:lpstr>Propagation of Privileges</vt:lpstr>
      <vt:lpstr>Security Logs and Audit Trails</vt:lpstr>
      <vt:lpstr>Encryption</vt:lpstr>
      <vt:lpstr>Password Leaks (con't)</vt:lpstr>
      <vt:lpstr>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Kazi Amit Hasan</dc:creator>
  <cp:lastModifiedBy>Kazi Amit Hasan</cp:lastModifiedBy>
  <cp:revision>3</cp:revision>
  <dcterms:created xsi:type="dcterms:W3CDTF">2026-03-12T20:42:30Z</dcterms:created>
  <dcterms:modified xsi:type="dcterms:W3CDTF">2026-03-12T23:45:29Z</dcterms:modified>
</cp:coreProperties>
</file>