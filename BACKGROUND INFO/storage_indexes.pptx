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2"/>
    <p:restoredTop sz="94640"/>
  </p:normalViewPr>
  <p:slideViewPr>
    <p:cSldViewPr snapToGrid="0">
      <p:cViewPr varScale="1">
        <p:scale>
          <a:sx n="108" d="100"/>
          <a:sy n="108" d="100"/>
        </p:scale>
        <p:origin x="216" y="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3F07-6370-60FA-F8F6-59D8D28E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E4461-3CCD-C95D-41B5-A082855B5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9CA76-4D27-C9AB-C88C-D7C24A86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0701-0F65-524F-A92B-8F3A5E59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2D510-A27B-9B80-DA09-685E8673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F631-2F6F-7020-12B3-B6716C0A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80D0-0896-8E1A-BC21-0FDEAE98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0F3B-6961-2A0B-BB0D-B03FECC2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6FB46-CD25-7E0C-71B8-9678D782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7EE0-6C43-196C-388B-F3240C20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9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84B3-E33A-2ADD-E581-9495A916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FBAFA-17A1-AC80-F393-30DE5C6D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2DBDA-9179-84A3-4571-873B788E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E65B-236A-FB61-E755-A4B9F5E2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322B-61B2-1CAD-0E7F-BB67EF98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031B-D07B-489C-5183-784425E0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A656-C98C-6E6E-8F0C-C38D34DAF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D7A9-E3A8-FB7E-AC53-D57F1094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16F75-4EDA-9033-A758-30AE0907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215A5-2BE5-81D5-9D27-810732DB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92C38-8082-2E4B-3D49-3D57F1F0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8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0AE5-B076-B3CC-9EEB-051A2148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9FF7B-61FB-8060-2E3E-2A3C59A45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742FF-409C-E08E-8C2D-08EC43E80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D1161-7C3F-DAFB-B486-F84EA6D5A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75E2-6557-4D1C-808C-BF5FDE850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3EE1B-0418-3F3A-BF26-50F7A200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BCC76-7751-4939-5D97-B05C1629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15636-DCED-D7EE-8122-9F6E3C8D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B759-9BF7-0A5C-BA84-1FEDB456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C1405-5230-28D4-8FFE-E920F983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893EB-755E-09D3-1D4F-DDE49D49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47DEC-52B0-C22D-4E6A-AB8DB99F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3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9114B-FBFC-949F-DDED-5D22DF3A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D63CE-0967-2F2C-8C8C-85E78FDA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0272A-B455-CA3C-7558-42F20C27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9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5105-D4A4-2F5B-D765-54ABB933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5608F-7A0D-A4F0-B6C8-F987821DF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D231E-5E98-E000-1CE5-E8FF8E72F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1F911-EE95-3825-BB12-69B9FAED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CAFE6-3C65-AFAD-8809-C6771CF6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D2833-831C-15DE-14F9-389DE276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0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D255-13F4-28D1-1BCF-3D83B368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7C5FA-D8BE-CD26-D96B-929CA144F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7D031-A610-B958-A479-3FF2BC912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EB0EF-4989-FDD3-393A-210910F5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EC0AD-61FF-B10D-03D6-108DADE1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F81DB-4009-6EFA-F3B3-7F72CDA3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80BF-4790-B236-CA8A-E66C1F12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45CCF-C9D7-77B0-45A8-8E3F743F0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638C8-98C6-D86B-8157-70D5D259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472D-5CDE-456E-FE13-4F7302D0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B2B36-C26A-4F76-F2F2-7A771D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8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04BC8-AF1F-471D-58E0-7EC5FC3EC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ADA81-A3B2-AB7D-AA5F-477E101E1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FB76-B384-F4D9-2026-8B5B2936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8D5-114D-14FC-E12B-D38ACD9D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60DF1-9D10-7A06-2E6F-AAED0303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A48DC-1787-06F5-C339-9176287E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3D592-D69F-48CB-521F-D63503F1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2DCEF-E607-486E-6B91-BE383D02E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CE93E-1B1A-F943-A42B-59525068A1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F5AC4-C04A-AA89-2D41-0083D58B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9FD9-3E50-B789-8B5C-3EBCEC7BC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1F1A9-2699-3940-B921-E5452F2DF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4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5317-C05B-7270-5E24-D209AC1AA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Storage and Indexing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8B556-3371-D5C5-F94C-698F6FFE18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404226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1297-D9F6-8F43-4DDA-AE1681AC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and Index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2AE79D3-D6F7-3142-A2A2-72FE7D5B7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50" y="1924844"/>
            <a:ext cx="9715500" cy="4152900"/>
          </a:xfrm>
        </p:spPr>
      </p:pic>
    </p:spTree>
    <p:extLst>
      <p:ext uri="{BB962C8B-B14F-4D97-AF65-F5344CB8AC3E}">
        <p14:creationId xmlns:p14="http://schemas.microsoft.com/office/powerpoint/2010/main" val="141057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A5F4-3869-90E8-B41F-7F9E90F1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EB211-308F-BA51-4EB8-4A5061214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02635"/>
          </a:xfrm>
        </p:spPr>
        <p:txBody>
          <a:bodyPr/>
          <a:lstStyle/>
          <a:p>
            <a:r>
              <a:rPr lang="en-US" dirty="0"/>
              <a:t>When a user asks for data, the system should return it as fast as possible.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CFB1B-58B4-0F6E-A197-40F506B92C52}"/>
              </a:ext>
            </a:extLst>
          </p:cNvPr>
          <p:cNvSpPr txBox="1"/>
          <p:nvPr/>
        </p:nvSpPr>
        <p:spPr>
          <a:xfrm>
            <a:off x="3795824" y="3059668"/>
            <a:ext cx="4391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SELECT * FROM student WHERE id = 1001;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30DB9-47D2-4633-086D-F9E9DB99ADAA}"/>
              </a:ext>
            </a:extLst>
          </p:cNvPr>
          <p:cNvSpPr txBox="1"/>
          <p:nvPr/>
        </p:nvSpPr>
        <p:spPr>
          <a:xfrm>
            <a:off x="2217571" y="4348716"/>
            <a:ext cx="7926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database should find that row </a:t>
            </a:r>
            <a:r>
              <a:rPr lang="en-CA" b="1" dirty="0">
                <a:highlight>
                  <a:srgbClr val="FFFF00"/>
                </a:highlight>
              </a:rPr>
              <a:t>quickly</a:t>
            </a:r>
            <a:r>
              <a:rPr lang="en-CA" dirty="0"/>
              <a:t>, not scan millions of records slowly.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78360-A941-3B80-F866-D87F2355CEF2}"/>
              </a:ext>
            </a:extLst>
          </p:cNvPr>
          <p:cNvSpPr txBox="1"/>
          <p:nvPr/>
        </p:nvSpPr>
        <p:spPr>
          <a:xfrm>
            <a:off x="3338624" y="5146159"/>
            <a:ext cx="6016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How fast this happens depends on </a:t>
            </a:r>
            <a:r>
              <a:rPr lang="en-CA" b="1" dirty="0">
                <a:highlight>
                  <a:srgbClr val="FFFF00"/>
                </a:highlight>
              </a:rPr>
              <a:t>how the data is stored</a:t>
            </a:r>
            <a:r>
              <a:rPr lang="en-CA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49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9002-3D78-D4F7-4B17-5EB46521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Data is Stored Depends on Workload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19FF1-B4DF-2AB3-7AC9-F7C0AAB00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ighlight>
                  <a:srgbClr val="FFFF00"/>
                </a:highlight>
              </a:rPr>
              <a:t>Workload</a:t>
            </a:r>
            <a:r>
              <a:rPr lang="en-CA" dirty="0"/>
              <a:t> = the type of operations the database performs most often.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READ</a:t>
            </a:r>
            <a:r>
              <a:rPr lang="en-CA" dirty="0"/>
              <a:t> : retrieve data (SELECT)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Write</a:t>
            </a:r>
            <a:r>
              <a:rPr lang="en-CA" dirty="0"/>
              <a:t>: Insert/update (INSERT, UPDATE, DELETE)</a:t>
            </a:r>
          </a:p>
          <a:p>
            <a:r>
              <a:rPr lang="en-CA" dirty="0"/>
              <a:t>If the workload is </a:t>
            </a:r>
            <a:r>
              <a:rPr lang="en-CA" dirty="0">
                <a:highlight>
                  <a:srgbClr val="FFFF00"/>
                </a:highlight>
              </a:rPr>
              <a:t>mostly read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Ex: Google Search</a:t>
            </a:r>
          </a:p>
          <a:p>
            <a:pPr lvl="1"/>
            <a:r>
              <a:rPr lang="en-CA" dirty="0"/>
              <a:t>SELECT * FROM products WHERE name = '</a:t>
            </a:r>
            <a:r>
              <a:rPr lang="en-CA" dirty="0" err="1"/>
              <a:t>iphone</a:t>
            </a:r>
            <a:r>
              <a:rPr lang="en-CA" dirty="0"/>
              <a:t>’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Goal: find the data very fast</a:t>
            </a:r>
          </a:p>
          <a:p>
            <a:pPr lvl="1"/>
            <a:r>
              <a:rPr lang="en-CA" dirty="0"/>
              <a:t>So we add indexes</a:t>
            </a:r>
          </a:p>
          <a:p>
            <a:pPr lvl="1"/>
            <a:r>
              <a:rPr lang="en-CA" dirty="0"/>
              <a:t>For read heavy systems, indexes are great</a:t>
            </a:r>
          </a:p>
        </p:txBody>
      </p:sp>
    </p:spTree>
    <p:extLst>
      <p:ext uri="{BB962C8B-B14F-4D97-AF65-F5344CB8AC3E}">
        <p14:creationId xmlns:p14="http://schemas.microsoft.com/office/powerpoint/2010/main" val="333396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AB20-7910-CEDB-285E-4EBE8DC9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5AC1-093D-7CA0-5791-97D3E4FC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Data is Stored Depends on Workload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0A910-282D-4322-E8C3-56ED93F0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If the workload is mostly </a:t>
            </a:r>
            <a:r>
              <a:rPr lang="en-CA" dirty="0">
                <a:highlight>
                  <a:srgbClr val="FFFF00"/>
                </a:highlight>
              </a:rPr>
              <a:t>write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Ex: Bank transaction system</a:t>
            </a:r>
          </a:p>
          <a:p>
            <a:pPr lvl="1"/>
            <a:r>
              <a:rPr lang="en-CA" dirty="0"/>
              <a:t>INSERT INTO transactions</a:t>
            </a:r>
            <a:br>
              <a:rPr lang="en-CA" dirty="0"/>
            </a:br>
            <a:r>
              <a:rPr lang="en-CA" dirty="0"/>
              <a:t>UPDATE </a:t>
            </a:r>
            <a:r>
              <a:rPr lang="en-CA" dirty="0" err="1"/>
              <a:t>account_balance</a:t>
            </a:r>
            <a:endParaRPr lang="en-CA" dirty="0"/>
          </a:p>
          <a:p>
            <a:pPr lvl="1"/>
            <a:r>
              <a:rPr lang="en-US" dirty="0"/>
              <a:t>If we have many indexes, it will become slower</a:t>
            </a:r>
          </a:p>
          <a:p>
            <a:pPr lvl="1"/>
            <a:r>
              <a:rPr lang="en-US" dirty="0"/>
              <a:t>So we should use fewer indexes</a:t>
            </a:r>
          </a:p>
        </p:txBody>
      </p:sp>
    </p:spTree>
    <p:extLst>
      <p:ext uri="{BB962C8B-B14F-4D97-AF65-F5344CB8AC3E}">
        <p14:creationId xmlns:p14="http://schemas.microsoft.com/office/powerpoint/2010/main" val="318032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C415-3013-C95C-938D-7FD2724EB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964D-5967-869D-7D27-F4FE5E3A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is fetched from disk into main memory for processing.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DD769-AB2F-4C90-F963-DC59CEA90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Char char="-"/>
            </a:pPr>
            <a:r>
              <a:rPr lang="en-CA" dirty="0">
                <a:highlight>
                  <a:srgbClr val="FFFF00"/>
                </a:highlight>
              </a:rPr>
              <a:t>Goal</a:t>
            </a:r>
            <a:r>
              <a:rPr lang="en-CA" dirty="0"/>
              <a:t>: keep the data most likely to be accessed in main memory</a:t>
            </a:r>
          </a:p>
          <a:p>
            <a:pPr lvl="1">
              <a:buFontTx/>
              <a:buChar char="-"/>
            </a:pPr>
            <a:endParaRPr lang="en-CA" dirty="0"/>
          </a:p>
        </p:txBody>
      </p:sp>
      <p:pic>
        <p:nvPicPr>
          <p:cNvPr id="5" name="Picture 4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0C803E09-EF07-4A5E-8D39-3B0767360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0" y="2616200"/>
            <a:ext cx="65786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F23E-7774-6BD6-700D-31449331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9143-3AA8-8210-EB18-C7E33F95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physical characteristics of storage devices play a major role in retrieval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CD8F1-8EB3-3CD3-54DA-E35B155E8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Char char="-"/>
            </a:pPr>
            <a:r>
              <a:rPr lang="en-CA" dirty="0"/>
              <a:t>accessing a random piece of data on disk </a:t>
            </a:r>
            <a:r>
              <a:rPr lang="en-CA" dirty="0">
                <a:highlight>
                  <a:srgbClr val="FFFF00"/>
                </a:highlight>
              </a:rPr>
              <a:t>takes much longer </a:t>
            </a:r>
            <a:r>
              <a:rPr lang="en-CA" dirty="0"/>
              <a:t>(10s</a:t>
            </a:r>
            <a:br>
              <a:rPr lang="en-CA" dirty="0"/>
            </a:br>
            <a:r>
              <a:rPr lang="en-CA" dirty="0"/>
              <a:t>of milliseconds) than from main memory (fraction of a</a:t>
            </a:r>
            <a:br>
              <a:rPr lang="en-CA" dirty="0"/>
            </a:br>
            <a:r>
              <a:rPr lang="en-CA" dirty="0"/>
              <a:t>microsecond)</a:t>
            </a:r>
          </a:p>
        </p:txBody>
      </p:sp>
      <p:pic>
        <p:nvPicPr>
          <p:cNvPr id="6" name="Picture 5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E734489F-C41F-88AF-485D-15719E1EE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31" y="3381153"/>
            <a:ext cx="58293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1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9E4A-091A-CFC6-4EDA-5EE04EAE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8987C9-8086-EFF3-2ABB-2115E2844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690688"/>
            <a:ext cx="978152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A8F0A-345B-A5D3-EF3B-64075F90A12A}"/>
              </a:ext>
            </a:extLst>
          </p:cNvPr>
          <p:cNvSpPr txBox="1"/>
          <p:nvPr/>
        </p:nvSpPr>
        <p:spPr>
          <a:xfrm>
            <a:off x="3827722" y="6169709"/>
            <a:ext cx="4221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In a database, </a:t>
            </a:r>
            <a:r>
              <a:rPr lang="en-CA" b="1" dirty="0">
                <a:highlight>
                  <a:srgbClr val="FFFF00"/>
                </a:highlight>
              </a:rPr>
              <a:t>all data is stored on disk</a:t>
            </a:r>
            <a:r>
              <a:rPr lang="en-CA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285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FFB0-A8F1-0C0B-C296-E5BA5338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4DD5-D3D1-33EA-876E-13D8ED0F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B5C279-B8C7-4B34-A9C1-6FD96D4CC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467405"/>
            <a:ext cx="9781520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725A9-3DB1-91D5-CB27-F3D987FC250C}"/>
              </a:ext>
            </a:extLst>
          </p:cNvPr>
          <p:cNvSpPr txBox="1"/>
          <p:nvPr/>
        </p:nvSpPr>
        <p:spPr>
          <a:xfrm>
            <a:off x="4455041" y="5997693"/>
            <a:ext cx="3880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Data is stored in “pages”</a:t>
            </a:r>
          </a:p>
          <a:p>
            <a:r>
              <a:rPr lang="en-CA" b="1" dirty="0">
                <a:highlight>
                  <a:srgbClr val="FFFF00"/>
                </a:highlight>
              </a:rPr>
              <a:t>1 page = many rows</a:t>
            </a:r>
            <a:endParaRPr lang="en-CA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17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D6B4-E3F4-D1D3-24A2-28D6A980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B86E-81CD-673E-8BCE-588995FF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F07A1C-E18B-7C88-20D9-46DA978B6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690688"/>
            <a:ext cx="9781520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576725-D97B-0B6F-AFFB-06CC0227CA9E}"/>
              </a:ext>
            </a:extLst>
          </p:cNvPr>
          <p:cNvSpPr txBox="1"/>
          <p:nvPr/>
        </p:nvSpPr>
        <p:spPr>
          <a:xfrm>
            <a:off x="4476306" y="6220047"/>
            <a:ext cx="189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Pages are on disk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949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9AB8-C07E-F1D7-481E-E4768F4E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B394-CF2B-98E7-1DE6-F2E026417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4A80BB-F2DB-6000-65AE-326461667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690688"/>
            <a:ext cx="9781520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0A4AF-F24B-2756-D11D-0D9B9734E769}"/>
              </a:ext>
            </a:extLst>
          </p:cNvPr>
          <p:cNvSpPr txBox="1"/>
          <p:nvPr/>
        </p:nvSpPr>
        <p:spPr>
          <a:xfrm>
            <a:off x="3306724" y="6211669"/>
            <a:ext cx="6187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RAM has a buffer pool. RAM keeps </a:t>
            </a:r>
            <a:r>
              <a:rPr lang="en-CA" b="1" dirty="0">
                <a:highlight>
                  <a:srgbClr val="FFFF00"/>
                </a:highlight>
              </a:rPr>
              <a:t>some pages temporarily</a:t>
            </a:r>
            <a:r>
              <a:rPr lang="en-CA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1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4E3B-C236-81C5-8AC4-1F29B6B2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7EE46-862A-E152-E280-4802CCEA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C54656-07A6-1AD8-1014-7E01DC7DC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690688"/>
            <a:ext cx="9781520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703F70-CDFA-0B32-C647-BDAB198EA39B}"/>
              </a:ext>
            </a:extLst>
          </p:cNvPr>
          <p:cNvSpPr txBox="1"/>
          <p:nvPr/>
        </p:nvSpPr>
        <p:spPr>
          <a:xfrm>
            <a:off x="5209952" y="6169709"/>
            <a:ext cx="1242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Get Page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47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4793-F928-0794-4AC6-B4E10AA4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5686-2C66-C2CF-FA52-97D43844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Access Within the DBMS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C211AB-3A78-1448-D64F-7F8BCE013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240" y="1690688"/>
            <a:ext cx="9781520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FF2685-9ED7-69E4-3BE7-BAC89ED4A378}"/>
              </a:ext>
            </a:extLst>
          </p:cNvPr>
          <p:cNvSpPr txBox="1"/>
          <p:nvPr/>
        </p:nvSpPr>
        <p:spPr>
          <a:xfrm>
            <a:off x="3763924" y="6169709"/>
            <a:ext cx="5634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Database tries to </a:t>
            </a:r>
            <a:r>
              <a:rPr lang="en-CA" b="1" dirty="0">
                <a:highlight>
                  <a:srgbClr val="FFFF00"/>
                </a:highlight>
              </a:rPr>
              <a:t>keep frequently used pages in RAM</a:t>
            </a:r>
            <a:r>
              <a:rPr lang="en-CA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6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42C1-E370-90E6-F183-38F94FFC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9D224-44C4-8440-C40F-B185B75F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4619" cy="4351338"/>
          </a:xfrm>
        </p:spPr>
        <p:txBody>
          <a:bodyPr>
            <a:normAutofit/>
          </a:bodyPr>
          <a:lstStyle/>
          <a:p>
            <a:r>
              <a:rPr lang="en-CA" dirty="0"/>
              <a:t>a database is mapped to a number of different files (maintained by the OS)</a:t>
            </a:r>
          </a:p>
          <a:p>
            <a:r>
              <a:rPr lang="en-CA" dirty="0"/>
              <a:t>CREATE DATABASE </a:t>
            </a:r>
            <a:r>
              <a:rPr lang="en-CA" dirty="0" err="1"/>
              <a:t>conferencedb</a:t>
            </a:r>
            <a:r>
              <a:rPr lang="en-CA" dirty="0"/>
              <a:t>;</a:t>
            </a:r>
          </a:p>
          <a:p>
            <a:pPr lvl="1"/>
            <a:r>
              <a:rPr lang="en-CA" dirty="0"/>
              <a:t>The DBMS </a:t>
            </a:r>
            <a:r>
              <a:rPr lang="en-CA" b="1" dirty="0"/>
              <a:t>does not store it as one big object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Instead, it creates </a:t>
            </a:r>
            <a:r>
              <a:rPr lang="en-CA" b="1" dirty="0"/>
              <a:t>multiple files on disk</a:t>
            </a:r>
            <a:r>
              <a:rPr lang="en-CA" dirty="0"/>
              <a:t>.</a:t>
            </a:r>
          </a:p>
          <a:p>
            <a:r>
              <a:rPr lang="en-CA" dirty="0" err="1"/>
              <a:t>xampp</a:t>
            </a:r>
            <a:r>
              <a:rPr lang="en-CA" dirty="0"/>
              <a:t>/</a:t>
            </a:r>
            <a:r>
              <a:rPr lang="en-CA" dirty="0" err="1"/>
              <a:t>mysql</a:t>
            </a:r>
            <a:r>
              <a:rPr lang="en-CA" dirty="0"/>
              <a:t>/data/</a:t>
            </a:r>
            <a:r>
              <a:rPr lang="en-CA" dirty="0" err="1"/>
              <a:t>conferencedb</a:t>
            </a:r>
            <a:r>
              <a:rPr lang="en-CA" dirty="0"/>
              <a:t>/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1FC846-A3D5-CE37-629A-2E01518C5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819" y="1981791"/>
            <a:ext cx="5589181" cy="3149600"/>
          </a:xfrm>
          <a:prstGeom prst="rect">
            <a:avLst/>
          </a:prstGeom>
        </p:spPr>
      </p:pic>
      <p:pic>
        <p:nvPicPr>
          <p:cNvPr id="7" name="Picture 6" descr="A close-up of words&#10;&#10;AI-generated content may be incorrect.">
            <a:extLst>
              <a:ext uri="{FF2B5EF4-FFF2-40B4-BE49-F238E27FC236}">
                <a16:creationId xmlns:a16="http://schemas.microsoft.com/office/drawing/2014/main" id="{12DDBCF1-A682-6993-9A1F-70B971B1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909" y="5476875"/>
            <a:ext cx="3429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4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8E80-3687-150C-B6CB-85647E10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233CD-5F84-0F2C-A278-7A1DEE7CD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5372" cy="4351338"/>
          </a:xfrm>
        </p:spPr>
        <p:txBody>
          <a:bodyPr>
            <a:normAutofit/>
          </a:bodyPr>
          <a:lstStyle/>
          <a:p>
            <a:r>
              <a:rPr lang="en-CA" dirty="0"/>
              <a:t>file is organized logically as a sequence of records (tuples)</a:t>
            </a:r>
          </a:p>
          <a:p>
            <a:pPr lvl="1"/>
            <a:r>
              <a:rPr lang="en-CA" dirty="0"/>
              <a:t>which is then logically partitioned into fixed length "blocks”</a:t>
            </a:r>
          </a:p>
          <a:p>
            <a:pPr lvl="1"/>
            <a:r>
              <a:rPr lang="en-CA" dirty="0"/>
              <a:t>we will consider 1 page = 1 block for the purpose of this lecture</a:t>
            </a:r>
          </a:p>
          <a:p>
            <a:pPr lvl="1"/>
            <a:r>
              <a:rPr lang="en-CA" dirty="0"/>
              <a:t>Disk reads data in </a:t>
            </a:r>
            <a:r>
              <a:rPr lang="en-CA" b="1" dirty="0"/>
              <a:t>chunks</a:t>
            </a:r>
            <a:r>
              <a:rPr lang="en-CA" dirty="0"/>
              <a:t>, not single rows.</a:t>
            </a:r>
          </a:p>
          <a:p>
            <a:pPr lvl="1"/>
            <a:r>
              <a:rPr lang="en-CA" dirty="0"/>
              <a:t>When reading from disk, the DBMS loads </a:t>
            </a:r>
            <a:r>
              <a:rPr lang="en-CA" b="1" dirty="0"/>
              <a:t>entire pages</a:t>
            </a:r>
            <a:r>
              <a:rPr lang="en-CA" dirty="0"/>
              <a:t>, not single rows</a:t>
            </a:r>
            <a:br>
              <a:rPr lang="en-CA" dirty="0"/>
            </a:br>
            <a:endParaRPr lang="en-US" dirty="0"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F18FAFC-8184-2639-7D4C-645C9E45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786" y="2092916"/>
            <a:ext cx="3975398" cy="31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16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8ABC-93F3-F2C4-CA59-C29929ED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Organization of Records in 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A04F-DF75-948D-7557-FF655DCC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highlight>
                  <a:srgbClr val="FFFF00"/>
                </a:highlight>
              </a:rPr>
              <a:t>Heap</a:t>
            </a:r>
            <a:r>
              <a:rPr lang="en-CA" dirty="0"/>
              <a:t> – record can be placed anywhere in the file where there is space</a:t>
            </a:r>
          </a:p>
          <a:p>
            <a:r>
              <a:rPr lang="en-CA" dirty="0">
                <a:highlight>
                  <a:srgbClr val="FFFF00"/>
                </a:highlight>
              </a:rPr>
              <a:t>Sequential</a:t>
            </a:r>
            <a:r>
              <a:rPr lang="en-CA" dirty="0"/>
              <a:t> – store records in sequential order, based on the value</a:t>
            </a:r>
            <a:br>
              <a:rPr lang="en-CA" dirty="0"/>
            </a:br>
            <a:r>
              <a:rPr lang="en-CA" dirty="0"/>
              <a:t>of some attribute ("search key") of each record</a:t>
            </a:r>
          </a:p>
          <a:p>
            <a:r>
              <a:rPr lang="en-CA" dirty="0" err="1">
                <a:highlight>
                  <a:srgbClr val="FFFF00"/>
                </a:highlight>
              </a:rPr>
              <a:t>Multitable</a:t>
            </a:r>
            <a:r>
              <a:rPr lang="en-CA" dirty="0">
                <a:highlight>
                  <a:srgbClr val="FFFF00"/>
                </a:highlight>
              </a:rPr>
              <a:t> clustering file organization </a:t>
            </a:r>
            <a:r>
              <a:rPr lang="en-CA" dirty="0"/>
              <a:t>- records of several different relations can be stored in the same file</a:t>
            </a:r>
          </a:p>
          <a:p>
            <a:pPr lvl="1"/>
            <a:r>
              <a:rPr lang="en-CA" dirty="0"/>
              <a:t>Motivation: store related records on the same block to</a:t>
            </a:r>
            <a:br>
              <a:rPr lang="en-CA" dirty="0"/>
            </a:br>
            <a:r>
              <a:rPr lang="en-CA" dirty="0"/>
              <a:t>minimize I/O</a:t>
            </a:r>
          </a:p>
          <a:p>
            <a:r>
              <a:rPr lang="en-CA" dirty="0">
                <a:highlight>
                  <a:srgbClr val="FFFF00"/>
                </a:highlight>
              </a:rPr>
              <a:t>B+ tree file organization</a:t>
            </a:r>
          </a:p>
          <a:p>
            <a:pPr lvl="1"/>
            <a:r>
              <a:rPr lang="en-CA" dirty="0"/>
              <a:t>Ordered storage; tree structure</a:t>
            </a:r>
          </a:p>
          <a:p>
            <a:r>
              <a:rPr lang="en-CA" dirty="0">
                <a:highlight>
                  <a:srgbClr val="FFFF00"/>
                </a:highlight>
              </a:rPr>
              <a:t>Hashing</a:t>
            </a:r>
            <a:r>
              <a:rPr lang="en-CA" dirty="0"/>
              <a:t> – a hash function computed on search key; the result specifies in which block of the file the record should be placed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12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14A7-3AF7-C7DA-9E6C-3542D9CC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E84EB-8B18-768F-94AB-BE807967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record can be placed anywhere in the file where there is space</a:t>
            </a:r>
          </a:p>
          <a:p>
            <a:r>
              <a:rPr lang="en-US" dirty="0">
                <a:highlight>
                  <a:srgbClr val="FFFF00"/>
                </a:highlight>
              </a:rPr>
              <a:t>No order at all! </a:t>
            </a:r>
          </a:p>
          <a:p>
            <a:r>
              <a:rPr lang="en-CA" dirty="0"/>
              <a:t>New rows are just placed </a:t>
            </a:r>
            <a:r>
              <a:rPr lang="en-CA" b="1" dirty="0"/>
              <a:t>wherever there is free space</a:t>
            </a:r>
            <a:r>
              <a:rPr lang="en-CA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3838736-C7F0-5D70-0095-9A40B9C7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063" y="3707957"/>
            <a:ext cx="1092200" cy="1079500"/>
          </a:xfrm>
          <a:prstGeom prst="rect">
            <a:avLst/>
          </a:prstGeom>
        </p:spPr>
      </p:pic>
      <p:pic>
        <p:nvPicPr>
          <p:cNvPr id="7" name="Picture 6" descr="A page with black text&#10;&#10;AI-generated content may be incorrect.">
            <a:extLst>
              <a:ext uri="{FF2B5EF4-FFF2-40B4-BE49-F238E27FC236}">
                <a16:creationId xmlns:a16="http://schemas.microsoft.com/office/drawing/2014/main" id="{FEF5ECDF-20FE-0B9C-AFF9-D22AC2E1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499" y="3429000"/>
            <a:ext cx="1231900" cy="2463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5BBE93-DDB6-3330-4F70-BC40C9203681}"/>
              </a:ext>
            </a:extLst>
          </p:cNvPr>
          <p:cNvSpPr txBox="1"/>
          <p:nvPr/>
        </p:nvSpPr>
        <p:spPr>
          <a:xfrm>
            <a:off x="1105785" y="5665569"/>
            <a:ext cx="4208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Very fast </a:t>
            </a:r>
            <a:r>
              <a:rPr lang="en-CA" b="1" dirty="0"/>
              <a:t>insert</a:t>
            </a:r>
            <a:endParaRPr lang="en-CA" dirty="0"/>
          </a:p>
          <a:p>
            <a:r>
              <a:rPr lang="en-CA" dirty="0"/>
              <a:t>Searching is slow (may scan entire table)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AC89E-E544-2898-79C5-CC73A0F38313}"/>
              </a:ext>
            </a:extLst>
          </p:cNvPr>
          <p:cNvSpPr txBox="1"/>
          <p:nvPr/>
        </p:nvSpPr>
        <p:spPr>
          <a:xfrm>
            <a:off x="7005412" y="6031210"/>
            <a:ext cx="4202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SELECT * FROM student WHERE id = 500</a:t>
            </a:r>
          </a:p>
          <a:p>
            <a:r>
              <a:rPr lang="en-CA" dirty="0"/>
              <a:t>Database may need to </a:t>
            </a:r>
            <a:r>
              <a:rPr lang="en-CA" b="1" dirty="0"/>
              <a:t>scan every page</a:t>
            </a:r>
            <a:r>
              <a:rPr lang="en-CA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39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FD22-B3FD-E6FE-2B0A-652486B0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E9996-9CB1-AEDE-1A72-EECF9C72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Records usually do not move once allocated (although if deleted,</a:t>
            </a:r>
            <a:br>
              <a:rPr lang="en-CA" dirty="0"/>
            </a:br>
            <a:r>
              <a:rPr lang="en-CA" dirty="0"/>
              <a:t>there will be free space where the record once resided)</a:t>
            </a:r>
          </a:p>
          <a:p>
            <a:r>
              <a:rPr lang="en-CA" dirty="0"/>
              <a:t>Important to be able to efficiently find free space within file</a:t>
            </a:r>
          </a:p>
          <a:p>
            <a:r>
              <a:rPr lang="en-CA" dirty="0"/>
              <a:t>not beneficial for sequential accesses – for instance, find all</a:t>
            </a:r>
            <a:br>
              <a:rPr lang="en-CA" dirty="0"/>
            </a:br>
            <a:r>
              <a:rPr lang="en-CA" dirty="0"/>
              <a:t>instructors with names starting from B to L.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05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8A26-4334-E648-BA19-C58E801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Sequential File Organization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5912C-C231-EC03-833F-86A6A1EC9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Records are stored </a:t>
            </a:r>
            <a:r>
              <a:rPr lang="en-CA" b="1" dirty="0"/>
              <a:t>sorted by a key</a:t>
            </a:r>
            <a:r>
              <a:rPr lang="en-CA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6CE3B5DE-C204-8FBF-C2DA-7292F980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58" y="3030426"/>
            <a:ext cx="1092200" cy="1435100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325821F-69D4-9115-7EFF-6D08C9F06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543" y="1950483"/>
            <a:ext cx="2146300" cy="340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81CC44-C88D-9E49-1B48-21DAAFBE1582}"/>
              </a:ext>
            </a:extLst>
          </p:cNvPr>
          <p:cNvSpPr txBox="1"/>
          <p:nvPr/>
        </p:nvSpPr>
        <p:spPr>
          <a:xfrm>
            <a:off x="1587437" y="4890977"/>
            <a:ext cx="34707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Faster searching</a:t>
            </a:r>
          </a:p>
          <a:p>
            <a:r>
              <a:rPr lang="en-CA" dirty="0"/>
              <a:t>Good for range queries</a:t>
            </a:r>
          </a:p>
          <a:p>
            <a:r>
              <a:rPr lang="en-CA" dirty="0"/>
              <a:t>Insert is slower (must keep order)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268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0722-637C-5DD2-3E3C-C1AE26B4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Multitable</a:t>
            </a:r>
            <a:r>
              <a:rPr lang="en-CA" dirty="0"/>
              <a:t> Clustering File Organization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1BCA3-516B-B973-6C52-FF7AAB57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48"/>
            <a:ext cx="10515600" cy="4351338"/>
          </a:xfrm>
        </p:spPr>
        <p:txBody>
          <a:bodyPr/>
          <a:lstStyle/>
          <a:p>
            <a:r>
              <a:rPr lang="en-CA" dirty="0"/>
              <a:t>Store several relations in one file using a </a:t>
            </a:r>
            <a:r>
              <a:rPr lang="en-CA" dirty="0" err="1"/>
              <a:t>multitable</a:t>
            </a:r>
            <a:r>
              <a:rPr lang="en-CA" dirty="0"/>
              <a:t> clustering</a:t>
            </a:r>
            <a:br>
              <a:rPr lang="en-CA" dirty="0"/>
            </a:br>
            <a:r>
              <a:rPr lang="en-CA" dirty="0"/>
              <a:t>file organization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655696-3EFA-CED0-A46D-784D5606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678"/>
          <a:stretch>
            <a:fillRect/>
          </a:stretch>
        </p:blipFill>
        <p:spPr>
          <a:xfrm>
            <a:off x="2977707" y="2309638"/>
            <a:ext cx="5453912" cy="2506911"/>
          </a:xfrm>
          <a:prstGeom prst="rect">
            <a:avLst/>
          </a:prstGeom>
        </p:spPr>
      </p:pic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81E781E6-366A-1A10-3B87-74C38D38D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952272"/>
            <a:ext cx="7772400" cy="185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1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E02F-7B15-CE57-716F-43521FDB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Multitable</a:t>
            </a:r>
            <a:r>
              <a:rPr lang="en-CA" dirty="0"/>
              <a:t> Clustering File Organization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4CF6-77E0-4975-9728-2422D65E7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good for queries involving department ⨝ instructor, and for</a:t>
            </a:r>
            <a:br>
              <a:rPr lang="en-CA" dirty="0"/>
            </a:br>
            <a:r>
              <a:rPr lang="en-CA" dirty="0"/>
              <a:t>queries involving one single department and its instructors</a:t>
            </a:r>
          </a:p>
          <a:p>
            <a:r>
              <a:rPr lang="en-CA" dirty="0"/>
              <a:t>bad for queries involving only department</a:t>
            </a:r>
            <a:endParaRPr lang="en-US" dirty="0"/>
          </a:p>
        </p:txBody>
      </p:sp>
      <p:pic>
        <p:nvPicPr>
          <p:cNvPr id="5" name="Picture 4" descr="A close-up of a table&#10;&#10;AI-generated content may be incorrect.">
            <a:extLst>
              <a:ext uri="{FF2B5EF4-FFF2-40B4-BE49-F238E27FC236}">
                <a16:creationId xmlns:a16="http://schemas.microsoft.com/office/drawing/2014/main" id="{AFD6778F-9829-19A5-95B8-47ACBB02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298" y="3224052"/>
            <a:ext cx="6392826" cy="326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73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D297-2AA5-2C35-5050-7FC3C4D4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Multitable</a:t>
            </a:r>
            <a:r>
              <a:rPr lang="en-CA" dirty="0"/>
              <a:t> Clustering File Organization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916DD-22EC-5160-155C-F4E660F4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8500"/>
          </a:xfrm>
        </p:spPr>
        <p:txBody>
          <a:bodyPr/>
          <a:lstStyle/>
          <a:p>
            <a:r>
              <a:rPr lang="en-US" dirty="0"/>
              <a:t>Why we do this? To reduce disk reads</a:t>
            </a:r>
          </a:p>
        </p:txBody>
      </p:sp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0715915C-F89B-295F-256B-39A21DB8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3079750"/>
            <a:ext cx="3225800" cy="698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7F15A3-808E-C732-FC94-37F554EA7F6B}"/>
              </a:ext>
            </a:extLst>
          </p:cNvPr>
          <p:cNvSpPr txBox="1"/>
          <p:nvPr/>
        </p:nvSpPr>
        <p:spPr>
          <a:xfrm>
            <a:off x="4019108" y="4444409"/>
            <a:ext cx="4481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Both records are already </a:t>
            </a:r>
            <a:r>
              <a:rPr lang="en-CA" b="1" dirty="0"/>
              <a:t>in the same page</a:t>
            </a:r>
            <a:r>
              <a:rPr lang="en-CA" dirty="0"/>
              <a:t>.</a:t>
            </a:r>
          </a:p>
          <a:p>
            <a:r>
              <a:rPr lang="en-CA" dirty="0"/>
              <a:t>So fewer disk reads → faster.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6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777</Words>
  <Application>Microsoft Macintosh PowerPoint</Application>
  <PresentationFormat>Widescreen</PresentationFormat>
  <Paragraphs>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Storage and Indexing</vt:lpstr>
      <vt:lpstr>Storage and Index</vt:lpstr>
      <vt:lpstr>Data Storage</vt:lpstr>
      <vt:lpstr>How Data is Stored Depends on Workload</vt:lpstr>
      <vt:lpstr>How Data is Stored Depends on Workload</vt:lpstr>
      <vt:lpstr>Data is fetched from disk into main memory for processing.</vt:lpstr>
      <vt:lpstr>The physical characteristics of storage devices play a major role in retrieval efficiency</vt:lpstr>
      <vt:lpstr>Data Access Within the DBMS</vt:lpstr>
      <vt:lpstr>Data Access Within the DBMS</vt:lpstr>
      <vt:lpstr>Data Access Within the DBMS</vt:lpstr>
      <vt:lpstr>Data Access Within the DBMS</vt:lpstr>
      <vt:lpstr>Data Access Within the DBMS</vt:lpstr>
      <vt:lpstr>Data Access Within the DBMS</vt:lpstr>
      <vt:lpstr>Database Files</vt:lpstr>
      <vt:lpstr>Database Files</vt:lpstr>
      <vt:lpstr>Organization of Records in Files</vt:lpstr>
      <vt:lpstr>Heap</vt:lpstr>
      <vt:lpstr>Heap</vt:lpstr>
      <vt:lpstr>Sequential File Organization</vt:lpstr>
      <vt:lpstr>Multitable Clustering File Organization</vt:lpstr>
      <vt:lpstr>Multitable Clustering File Organization (cont.)</vt:lpstr>
      <vt:lpstr>Multitable Clustering File Organization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6</cp:revision>
  <dcterms:created xsi:type="dcterms:W3CDTF">2026-03-06T00:09:18Z</dcterms:created>
  <dcterms:modified xsi:type="dcterms:W3CDTF">2026-03-06T01:40:42Z</dcterms:modified>
</cp:coreProperties>
</file>