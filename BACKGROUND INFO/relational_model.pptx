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93" r:id="rId7"/>
    <p:sldId id="261" r:id="rId8"/>
    <p:sldId id="262" r:id="rId9"/>
    <p:sldId id="263" r:id="rId10"/>
    <p:sldId id="264" r:id="rId11"/>
    <p:sldId id="268" r:id="rId12"/>
    <p:sldId id="265" r:id="rId13"/>
    <p:sldId id="269" r:id="rId14"/>
    <p:sldId id="271" r:id="rId15"/>
    <p:sldId id="277" r:id="rId16"/>
    <p:sldId id="279" r:id="rId17"/>
    <p:sldId id="280" r:id="rId18"/>
    <p:sldId id="282" r:id="rId19"/>
    <p:sldId id="283" r:id="rId20"/>
    <p:sldId id="281" r:id="rId21"/>
    <p:sldId id="284" r:id="rId22"/>
    <p:sldId id="285" r:id="rId23"/>
    <p:sldId id="287" r:id="rId24"/>
    <p:sldId id="294" r:id="rId25"/>
    <p:sldId id="296" r:id="rId26"/>
    <p:sldId id="295" r:id="rId27"/>
    <p:sldId id="270" r:id="rId28"/>
    <p:sldId id="288" r:id="rId29"/>
    <p:sldId id="289" r:id="rId30"/>
    <p:sldId id="290" r:id="rId31"/>
    <p:sldId id="291" r:id="rId32"/>
    <p:sldId id="29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634"/>
    <p:restoredTop sz="94639"/>
  </p:normalViewPr>
  <p:slideViewPr>
    <p:cSldViewPr snapToGrid="0">
      <p:cViewPr varScale="1">
        <p:scale>
          <a:sx n="80" d="100"/>
          <a:sy n="80" d="100"/>
        </p:scale>
        <p:origin x="208" y="1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349F6-406D-F941-B7E7-217E3386680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1FFD2-8A9A-5A4E-B475-2053ABE21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69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1FFD2-8A9A-5A4E-B475-2053ABE213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36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4A1C-3A80-BABD-EBF6-7EA964C5C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3CE82-C886-B007-7EFC-274EE2619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D3510-0157-4554-F3F0-933E33BA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FC94B-3226-00B0-4FA3-60FB8DCE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943D-0BC5-CEDF-668D-82827EE9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9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41830-D884-8956-1D88-A3CC642D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B0B8D-2FAC-CB1D-56E7-740288AD1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0CF47-D2EF-3ABC-A9EA-390C1DBE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A50E3-337B-B012-3D32-1CB6F6C37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B0871-33AA-CEAF-2B95-751422CD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59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7918-1A4A-6C4F-68FB-32A7BCD1A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F43BD-8C1C-AD3B-4304-CA32C4372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1D40E-9A33-822F-6444-AEBCED58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353EA-0B3A-33C5-3EA8-019421D2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CE23D-7ACE-A333-4A2D-A3C740F6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5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C28E-8785-C374-739F-6B965F7A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CB420-253E-5CE5-B898-C5C7E7D97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99E7F-71AB-5B9D-D99A-830C0F277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49935-3FCE-FD67-9B93-0464ECFE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C15A4-F077-B6FD-0754-4F0FBD85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A2BF3-8A27-DB05-B025-4B95A414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07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6983-33A3-9F70-920E-B14C78081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F96E2-FE82-C403-A0F8-FCEB970BE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5190A-B742-16BE-839C-B8D1D5735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B8D7F-51EE-C0D5-7574-0188813F2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1E4F7-EE45-49E4-6314-8A18D4F99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A9958-688D-E473-08B8-617D43AD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3CACF-21F4-9413-E984-6E05678D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633AD-60A9-B414-E3FC-F001B39CD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53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1983F-FF9B-47C5-0147-E3AC122B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FCF45-2D0F-FE98-DDCD-0312D852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E5F5A-940D-08B9-EB07-E1F118327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E20E8-8191-C5B5-B7CE-40BDFC4F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9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EA852-1AB6-9438-1E10-B11740CD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E2EFF-7AF1-030E-83A5-D9821F65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98E43-D3F8-6376-A1D0-9E4F96236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9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149B-D63C-8221-3BC3-F4225DB5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49CCF-BDA0-9E01-E1A1-1198A7A87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3E60B-1575-2CD5-E191-802D6DD99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A4F83-02C4-32D4-8200-75CB0130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5F941-3429-E2EB-472E-FDA56841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4E2D5-1F44-4065-5209-C232499C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3580-7755-7281-AD08-1EBA84F43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125A2-BEED-F342-1EAA-9D5667DCF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B248C-B137-D84C-2551-6EC6BE31C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12C6D-6EC6-533D-8E92-41C46BD5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86B05-A354-5BDE-C6B6-DFC58B8A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FF18D-3598-A616-F352-7643B507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3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F534-72C1-6675-1EA1-10305D47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F4CF4-0DC7-DDAD-1C37-BA0E98954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73930-D84B-F36B-AE2E-A82704EF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8B414-B30D-B73A-4989-E47441BF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E11F-9EAB-85C6-D631-FDB16EB6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7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779DDE-D538-5349-FA5A-2666BA3C4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F3001-8B8E-20E0-B660-A8DDA65D1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E37CA-FF6D-1985-7736-B25EFE9F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B88E9-74C4-AC5B-408A-12ED8DCE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09861-E8CD-82EB-E589-3437E922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96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517997-17F9-8359-C942-644C848C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435EB-F52A-A560-DA66-648F2C933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AD932-EB86-85FE-93D6-2C23412EA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955AB-8568-3347-A3CF-D682CE4C4F0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DFFB3-EBF1-80D9-91E2-3E1F4BA2B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32001-8592-649F-FBD4-3A29B8017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E1B90-4D47-204C-9DA1-CC0A0922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mane@mail.com" TargetMode="External"/><Relationship Id="rId2" Type="http://schemas.openxmlformats.org/officeDocument/2006/relationships/hyperlink" Target="mailto:salah@mail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salah2@mail.com" TargetMode="External"/><Relationship Id="rId4" Type="http://schemas.openxmlformats.org/officeDocument/2006/relationships/hyperlink" Target="mailto:gakpo@mail.co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2F28-D0E9-A068-A20A-A5F0B0E9F4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Relational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A0587-D5FE-528E-6483-EE293B75A0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172160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4FA7D43-1B45-8385-A5C8-E180CAF7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Phases of Database Design</a:t>
            </a:r>
          </a:p>
        </p:txBody>
      </p:sp>
      <p:pic>
        <p:nvPicPr>
          <p:cNvPr id="7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FAF0A244-002A-16FF-C0FF-85AE9657B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6354" y="1482344"/>
            <a:ext cx="7187635" cy="4351338"/>
          </a:xfrm>
        </p:spPr>
      </p:pic>
    </p:spTree>
    <p:extLst>
      <p:ext uri="{BB962C8B-B14F-4D97-AF65-F5344CB8AC3E}">
        <p14:creationId xmlns:p14="http://schemas.microsoft.com/office/powerpoint/2010/main" val="2580681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7D14-7D7C-6B80-5A1C-3D46FE844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8A43-6277-A787-B800-9E2F4DE68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by </a:t>
            </a:r>
            <a:r>
              <a:rPr lang="en-US" dirty="0">
                <a:highlight>
                  <a:srgbClr val="FFFF00"/>
                </a:highlight>
              </a:rPr>
              <a:t>Ted Codd </a:t>
            </a:r>
            <a:r>
              <a:rPr lang="en-US" dirty="0"/>
              <a:t>in 1970 in a classic paper</a:t>
            </a:r>
          </a:p>
          <a:p>
            <a:r>
              <a:rPr lang="en-US" dirty="0"/>
              <a:t>Laid the foundation for database theory</a:t>
            </a:r>
          </a:p>
          <a:p>
            <a:pPr lvl="1"/>
            <a:r>
              <a:rPr lang="en-US" dirty="0"/>
              <a:t>Also won Ted Codd the ACM Turing award!</a:t>
            </a:r>
          </a:p>
          <a:p>
            <a:r>
              <a:rPr lang="en-US" dirty="0"/>
              <a:t>Many (in fact, most) database concepts &amp; products based on this model</a:t>
            </a:r>
          </a:p>
          <a:p>
            <a:pPr lvl="1"/>
            <a:r>
              <a:rPr lang="en-US" dirty="0"/>
              <a:t>MySQL, DB2, Oracle, Informix, PostgreSQL, MS Access, </a:t>
            </a:r>
            <a:r>
              <a:rPr lang="en-US" dirty="0" err="1"/>
              <a:t>Pardox</a:t>
            </a:r>
            <a:r>
              <a:rPr lang="en-US" dirty="0"/>
              <a:t>, </a:t>
            </a:r>
            <a:r>
              <a:rPr lang="en-US" dirty="0" err="1"/>
              <a:t>SQLServer</a:t>
            </a:r>
            <a:r>
              <a:rPr lang="en-US" dirty="0"/>
              <a:t> ..</a:t>
            </a:r>
          </a:p>
        </p:txBody>
      </p:sp>
    </p:spTree>
    <p:extLst>
      <p:ext uri="{BB962C8B-B14F-4D97-AF65-F5344CB8AC3E}">
        <p14:creationId xmlns:p14="http://schemas.microsoft.com/office/powerpoint/2010/main" val="116558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B9A0-A0FA-CBF3-94F5-02B0816B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DD734-A44E-FABB-BF2C-075ABBF4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Model represents </a:t>
            </a:r>
            <a:r>
              <a:rPr lang="en-US" dirty="0">
                <a:highlight>
                  <a:srgbClr val="FFFF00"/>
                </a:highlight>
              </a:rPr>
              <a:t>how data is stored</a:t>
            </a:r>
            <a:r>
              <a:rPr lang="en-US" dirty="0"/>
              <a:t> in Relational Databases. A relational database stores data in the form of relations (tables)</a:t>
            </a:r>
          </a:p>
          <a:p>
            <a:pPr lvl="1"/>
            <a:r>
              <a:rPr lang="en-US" dirty="0"/>
              <a:t>After designing the </a:t>
            </a:r>
            <a:r>
              <a:rPr lang="en-US" dirty="0">
                <a:highlight>
                  <a:srgbClr val="FFFF00"/>
                </a:highlight>
              </a:rPr>
              <a:t>conceptual model of database </a:t>
            </a:r>
            <a:r>
              <a:rPr lang="en-US" dirty="0"/>
              <a:t>using ER diagram, we need to </a:t>
            </a:r>
            <a:r>
              <a:rPr lang="en-US" dirty="0">
                <a:highlight>
                  <a:srgbClr val="FFFF00"/>
                </a:highlight>
              </a:rPr>
              <a:t>convert it in the relational model </a:t>
            </a:r>
            <a:r>
              <a:rPr lang="en-US" dirty="0"/>
              <a:t>which can be implemented by any RDMBS languages</a:t>
            </a:r>
          </a:p>
          <a:p>
            <a:pPr lvl="1"/>
            <a:r>
              <a:rPr lang="en-US" dirty="0"/>
              <a:t>RDMBS languages: Oracle, SQL, MySQL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51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B6449-7882-D670-4F76-43E6226E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8822-E12D-B0DE-27FC-35C634F1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0BD17-D254-BE27-292C-8694B141E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model can be represented as a </a:t>
            </a:r>
            <a:r>
              <a:rPr lang="en-US" dirty="0">
                <a:highlight>
                  <a:srgbClr val="FFFF00"/>
                </a:highlight>
              </a:rPr>
              <a:t>table with columns and rows</a:t>
            </a:r>
          </a:p>
          <a:p>
            <a:r>
              <a:rPr lang="en-US" dirty="0"/>
              <a:t>Each row is known as a </a:t>
            </a:r>
            <a:r>
              <a:rPr lang="en-US" dirty="0">
                <a:highlight>
                  <a:srgbClr val="FFFF00"/>
                </a:highlight>
              </a:rPr>
              <a:t>tuple</a:t>
            </a:r>
          </a:p>
          <a:p>
            <a:r>
              <a:rPr lang="en-US" dirty="0"/>
              <a:t>Each table of the column has a name or attribute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30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3452-634C-CE80-27F6-C4B9E582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6F8B8-D980-E816-07B4-1EFA77A9B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Specifies the </a:t>
            </a:r>
            <a:r>
              <a:rPr lang="en-US" dirty="0">
                <a:highlight>
                  <a:srgbClr val="FFFF00"/>
                </a:highlight>
              </a:rPr>
              <a:t>table names </a:t>
            </a:r>
            <a:r>
              <a:rPr lang="en-US" dirty="0"/>
              <a:t>(relations), the </a:t>
            </a:r>
            <a:r>
              <a:rPr lang="en-US" dirty="0">
                <a:highlight>
                  <a:srgbClr val="FFFF00"/>
                </a:highlight>
              </a:rPr>
              <a:t>attributes</a:t>
            </a:r>
            <a:r>
              <a:rPr lang="en-US" dirty="0"/>
              <a:t>, (maybe the domains), the </a:t>
            </a:r>
            <a:r>
              <a:rPr lang="en-US" dirty="0">
                <a:highlight>
                  <a:srgbClr val="FFFF00"/>
                </a:highlight>
              </a:rPr>
              <a:t>primary keys </a:t>
            </a:r>
            <a:r>
              <a:rPr lang="en-US" dirty="0"/>
              <a:t>and the </a:t>
            </a:r>
            <a:r>
              <a:rPr lang="en-US" dirty="0">
                <a:highlight>
                  <a:srgbClr val="FFFF00"/>
                </a:highlight>
              </a:rPr>
              <a:t>foreign keys</a:t>
            </a:r>
          </a:p>
          <a:p>
            <a:pPr lvl="1"/>
            <a:r>
              <a:rPr lang="en-US" dirty="0"/>
              <a:t>Customer(</a:t>
            </a:r>
            <a:r>
              <a:rPr lang="en-US" u="sng" dirty="0" err="1"/>
              <a:t>CustomerID</a:t>
            </a:r>
            <a:r>
              <a:rPr lang="en-US" dirty="0"/>
              <a:t>, Name, Email)</a:t>
            </a:r>
          </a:p>
          <a:p>
            <a:pPr lvl="1"/>
            <a:r>
              <a:rPr lang="en-US" dirty="0"/>
              <a:t>Order(</a:t>
            </a:r>
            <a:r>
              <a:rPr lang="en-US" u="sng" dirty="0" err="1"/>
              <a:t>OrderID</a:t>
            </a:r>
            <a:r>
              <a:rPr lang="en-US" dirty="0"/>
              <a:t>, </a:t>
            </a:r>
            <a:r>
              <a:rPr lang="en-US" dirty="0" err="1"/>
              <a:t>OrderDate</a:t>
            </a:r>
            <a:r>
              <a:rPr lang="en-US" dirty="0"/>
              <a:t>, </a:t>
            </a:r>
            <a:r>
              <a:rPr lang="en-US" dirty="0" err="1"/>
              <a:t>CustomerID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97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A7AF-9DD4-3C93-B9F4-753E4CA1E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Relation</a:t>
            </a:r>
          </a:p>
        </p:txBody>
      </p:sp>
      <p:pic>
        <p:nvPicPr>
          <p:cNvPr id="5" name="Content Placeholder 4" descr="A table of numbers and names&#10;&#10;AI-generated content may be incorrect.">
            <a:extLst>
              <a:ext uri="{FF2B5EF4-FFF2-40B4-BE49-F238E27FC236}">
                <a16:creationId xmlns:a16="http://schemas.microsoft.com/office/drawing/2014/main" id="{8D35C2D4-DB75-3D45-1EC5-C803CDF19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063" y="1477755"/>
            <a:ext cx="5805456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185BC6-5F44-D5BF-45E4-C50A46DD5755}"/>
              </a:ext>
            </a:extLst>
          </p:cNvPr>
          <p:cNvSpPr txBox="1"/>
          <p:nvPr/>
        </p:nvSpPr>
        <p:spPr>
          <a:xfrm>
            <a:off x="3548269" y="6033053"/>
            <a:ext cx="196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Instructor relation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AE5ED-8874-BBDF-C45C-4274F5A530D2}"/>
              </a:ext>
            </a:extLst>
          </p:cNvPr>
          <p:cNvSpPr txBox="1"/>
          <p:nvPr/>
        </p:nvSpPr>
        <p:spPr>
          <a:xfrm>
            <a:off x="8809382" y="2266122"/>
            <a:ext cx="2576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the attributes?</a:t>
            </a:r>
          </a:p>
          <a:p>
            <a:r>
              <a:rPr lang="en-US" dirty="0"/>
              <a:t>What are the tuples?</a:t>
            </a:r>
          </a:p>
        </p:txBody>
      </p:sp>
    </p:spTree>
    <p:extLst>
      <p:ext uri="{BB962C8B-B14F-4D97-AF65-F5344CB8AC3E}">
        <p14:creationId xmlns:p14="http://schemas.microsoft.com/office/powerpoint/2010/main" val="426249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C3A1-1CA6-4A01-14AD-035AC23C5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 Concepts (Domain)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E3EF-DF31-AF7B-51DA-57FBF262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domain is the set of </a:t>
            </a:r>
            <a:r>
              <a:rPr lang="en-US" dirty="0">
                <a:highlight>
                  <a:srgbClr val="FFFF00"/>
                </a:highlight>
              </a:rPr>
              <a:t>allowable</a:t>
            </a:r>
            <a:r>
              <a:rPr lang="en-US" dirty="0"/>
              <a:t> values for an attribute</a:t>
            </a:r>
          </a:p>
          <a:p>
            <a:pPr lvl="1"/>
            <a:r>
              <a:rPr lang="en-US" dirty="0"/>
              <a:t>A domain has a </a:t>
            </a:r>
            <a:r>
              <a:rPr lang="en-US" dirty="0">
                <a:highlight>
                  <a:srgbClr val="FFFF00"/>
                </a:highlight>
              </a:rPr>
              <a:t>logical definition</a:t>
            </a:r>
          </a:p>
          <a:p>
            <a:pPr lvl="2"/>
            <a:r>
              <a:rPr lang="en-US" dirty="0"/>
              <a:t>Canadian phone numbers: 10 digits numbers are valid in Canada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Data types:</a:t>
            </a:r>
          </a:p>
          <a:p>
            <a:pPr lvl="2"/>
            <a:r>
              <a:rPr lang="en-US" dirty="0"/>
              <a:t>Char (10): string of exactly 10 characters</a:t>
            </a:r>
          </a:p>
          <a:p>
            <a:pPr lvl="2"/>
            <a:r>
              <a:rPr lang="en-US" dirty="0"/>
              <a:t>Varchar(50): strings </a:t>
            </a:r>
            <a:r>
              <a:rPr lang="en-US" dirty="0" err="1"/>
              <a:t>upto</a:t>
            </a:r>
            <a:r>
              <a:rPr lang="en-US" dirty="0"/>
              <a:t> 50 characters</a:t>
            </a:r>
          </a:p>
          <a:p>
            <a:pPr lvl="2"/>
            <a:r>
              <a:rPr lang="en-US" dirty="0"/>
              <a:t>Integer:</a:t>
            </a:r>
          </a:p>
          <a:p>
            <a:pPr lvl="2"/>
            <a:r>
              <a:rPr lang="en-US" dirty="0"/>
              <a:t>Float:</a:t>
            </a:r>
          </a:p>
          <a:p>
            <a:pPr lvl="2"/>
            <a:r>
              <a:rPr lang="en-US" dirty="0" err="1"/>
              <a:t>etc</a:t>
            </a:r>
            <a:endParaRPr lang="en-US" dirty="0"/>
          </a:p>
        </p:txBody>
      </p:sp>
      <p:pic>
        <p:nvPicPr>
          <p:cNvPr id="4" name="Content Placeholder 4" descr="A table of numbers and names&#10;&#10;AI-generated content may be incorrect.">
            <a:extLst>
              <a:ext uri="{FF2B5EF4-FFF2-40B4-BE49-F238E27FC236}">
                <a16:creationId xmlns:a16="http://schemas.microsoft.com/office/drawing/2014/main" id="{0A40309B-0648-EE5B-30AE-476AAF0D0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970" y="1690688"/>
            <a:ext cx="58054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04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754E0-071D-AA27-34E0-DB9B665F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EACFA-6857-758F-CF6B-2DDB725AF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2904" cy="4351338"/>
          </a:xfrm>
        </p:spPr>
        <p:txBody>
          <a:bodyPr>
            <a:normAutofit/>
          </a:bodyPr>
          <a:lstStyle/>
          <a:p>
            <a:r>
              <a:rPr lang="en-US" dirty="0"/>
              <a:t>Each cell contains </a:t>
            </a:r>
            <a:r>
              <a:rPr lang="en-US" dirty="0">
                <a:highlight>
                  <a:srgbClr val="FFFF00"/>
                </a:highlight>
              </a:rPr>
              <a:t>only one value </a:t>
            </a:r>
            <a:r>
              <a:rPr lang="en-US" dirty="0"/>
              <a:t>(not a set of values)</a:t>
            </a:r>
          </a:p>
          <a:p>
            <a:r>
              <a:rPr lang="en-US" dirty="0"/>
              <a:t>Each column has a distinct name:</a:t>
            </a:r>
          </a:p>
          <a:p>
            <a:pPr lvl="1"/>
            <a:r>
              <a:rPr lang="en-US" dirty="0" err="1"/>
              <a:t>StudentID</a:t>
            </a:r>
            <a:r>
              <a:rPr lang="en-US" dirty="0"/>
              <a:t>, Name, Major, Age</a:t>
            </a:r>
          </a:p>
          <a:p>
            <a:r>
              <a:rPr lang="en-US" dirty="0"/>
              <a:t>Values in a column are from the same domain</a:t>
            </a:r>
          </a:p>
          <a:p>
            <a:pPr lvl="1"/>
            <a:r>
              <a:rPr lang="en-US" dirty="0" err="1"/>
              <a:t>StudentID</a:t>
            </a:r>
            <a:r>
              <a:rPr lang="en-US" dirty="0"/>
              <a:t>: int</a:t>
            </a:r>
          </a:p>
          <a:p>
            <a:pPr lvl="1"/>
            <a:r>
              <a:rPr lang="en-US" dirty="0"/>
              <a:t>Age: int</a:t>
            </a:r>
          </a:p>
          <a:p>
            <a:pPr lvl="1"/>
            <a:r>
              <a:rPr lang="en-US" dirty="0"/>
              <a:t>Name: string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0ADC54-A06C-093A-2EC2-64E878147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043802"/>
              </p:ext>
            </p:extLst>
          </p:nvPr>
        </p:nvGraphicFramePr>
        <p:xfrm>
          <a:off x="6997148" y="1690688"/>
          <a:ext cx="5002696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50674">
                  <a:extLst>
                    <a:ext uri="{9D8B030D-6E8A-4147-A177-3AD203B41FA5}">
                      <a16:colId xmlns:a16="http://schemas.microsoft.com/office/drawing/2014/main" val="346122822"/>
                    </a:ext>
                  </a:extLst>
                </a:gridCol>
                <a:gridCol w="1193277">
                  <a:extLst>
                    <a:ext uri="{9D8B030D-6E8A-4147-A177-3AD203B41FA5}">
                      <a16:colId xmlns:a16="http://schemas.microsoft.com/office/drawing/2014/main" val="3346776450"/>
                    </a:ext>
                  </a:extLst>
                </a:gridCol>
                <a:gridCol w="1491944">
                  <a:extLst>
                    <a:ext uri="{9D8B030D-6E8A-4147-A177-3AD203B41FA5}">
                      <a16:colId xmlns:a16="http://schemas.microsoft.com/office/drawing/2014/main" val="1211458479"/>
                    </a:ext>
                  </a:extLst>
                </a:gridCol>
                <a:gridCol w="1066801">
                  <a:extLst>
                    <a:ext uri="{9D8B030D-6E8A-4147-A177-3AD203B41FA5}">
                      <a16:colId xmlns:a16="http://schemas.microsoft.com/office/drawing/2014/main" val="1446135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 err="1"/>
                        <a:t>StudentID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Major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966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712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Mathematics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183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Carol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057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88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F2664-3C55-527E-C9EF-9D746037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D81CF-5EBA-F759-02C1-27347790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91B40-B914-F4CC-6195-16D9A885D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7348" cy="4351338"/>
          </a:xfrm>
        </p:spPr>
        <p:txBody>
          <a:bodyPr>
            <a:normAutofit/>
          </a:bodyPr>
          <a:lstStyle/>
          <a:p>
            <a:r>
              <a:rPr lang="en-US" dirty="0"/>
              <a:t>Each tuple is distinct (no duplicates)</a:t>
            </a:r>
          </a:p>
          <a:p>
            <a:r>
              <a:rPr lang="en-US" dirty="0"/>
              <a:t>Ordering of tuples are </a:t>
            </a:r>
            <a:r>
              <a:rPr lang="en-US" dirty="0">
                <a:highlight>
                  <a:srgbClr val="FFFF00"/>
                </a:highlight>
              </a:rPr>
              <a:t>immaterial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Order A: Alice, Bob, Carol</a:t>
            </a:r>
          </a:p>
          <a:p>
            <a:pPr lvl="1"/>
            <a:r>
              <a:rPr lang="en-US" dirty="0"/>
              <a:t>Order B: Carol, Alice, Bob</a:t>
            </a:r>
          </a:p>
          <a:p>
            <a:r>
              <a:rPr lang="en-US" dirty="0"/>
              <a:t>A database is consists of multiple relations</a:t>
            </a:r>
          </a:p>
          <a:p>
            <a:pPr lvl="1"/>
            <a:r>
              <a:rPr lang="en-US" dirty="0"/>
              <a:t>That is multiple related tables make up a database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905C9B-4D7B-9D04-28F1-BFE66A011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244227"/>
              </p:ext>
            </p:extLst>
          </p:nvPr>
        </p:nvGraphicFramePr>
        <p:xfrm>
          <a:off x="6997148" y="1690688"/>
          <a:ext cx="5002696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50674">
                  <a:extLst>
                    <a:ext uri="{9D8B030D-6E8A-4147-A177-3AD203B41FA5}">
                      <a16:colId xmlns:a16="http://schemas.microsoft.com/office/drawing/2014/main" val="346122822"/>
                    </a:ext>
                  </a:extLst>
                </a:gridCol>
                <a:gridCol w="1193277">
                  <a:extLst>
                    <a:ext uri="{9D8B030D-6E8A-4147-A177-3AD203B41FA5}">
                      <a16:colId xmlns:a16="http://schemas.microsoft.com/office/drawing/2014/main" val="3346776450"/>
                    </a:ext>
                  </a:extLst>
                </a:gridCol>
                <a:gridCol w="1491944">
                  <a:extLst>
                    <a:ext uri="{9D8B030D-6E8A-4147-A177-3AD203B41FA5}">
                      <a16:colId xmlns:a16="http://schemas.microsoft.com/office/drawing/2014/main" val="1211458479"/>
                    </a:ext>
                  </a:extLst>
                </a:gridCol>
                <a:gridCol w="1066801">
                  <a:extLst>
                    <a:ext uri="{9D8B030D-6E8A-4147-A177-3AD203B41FA5}">
                      <a16:colId xmlns:a16="http://schemas.microsoft.com/office/drawing/2014/main" val="1446135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 err="1"/>
                        <a:t>StudentID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Major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966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712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Mathematics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183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Carol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0578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6F54AED-2165-8E11-FF7A-0A3CBED72765}"/>
              </a:ext>
            </a:extLst>
          </p:cNvPr>
          <p:cNvSpPr txBox="1"/>
          <p:nvPr/>
        </p:nvSpPr>
        <p:spPr>
          <a:xfrm>
            <a:off x="8358808" y="3334941"/>
            <a:ext cx="251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 relational table</a:t>
            </a:r>
          </a:p>
        </p:txBody>
      </p:sp>
    </p:spTree>
    <p:extLst>
      <p:ext uri="{BB962C8B-B14F-4D97-AF65-F5344CB8AC3E}">
        <p14:creationId xmlns:p14="http://schemas.microsoft.com/office/powerpoint/2010/main" val="19138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7A00D-ECDF-5565-EEF3-A18D53EE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1A6FA-394E-F8A9-1966-D55B89A1A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C3088-41F8-AEA7-2FC0-BC9EF282C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Degree of relation: </a:t>
            </a:r>
          </a:p>
          <a:p>
            <a:pPr lvl="1"/>
            <a:r>
              <a:rPr lang="en-US" dirty="0"/>
              <a:t>The number of columns</a:t>
            </a:r>
          </a:p>
          <a:p>
            <a:pPr lvl="1"/>
            <a:r>
              <a:rPr lang="en-US" dirty="0"/>
              <a:t>Eg, 5 attributes (columns) &gt;&gt; so degree is 5</a:t>
            </a:r>
          </a:p>
          <a:p>
            <a:pPr lvl="1"/>
            <a:r>
              <a:rPr lang="en-US" dirty="0"/>
              <a:t>Doesn’t usually change (although it can)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Content Placeholder 4" descr="A table of numbers and names&#10;&#10;AI-generated content may be incorrect.">
            <a:extLst>
              <a:ext uri="{FF2B5EF4-FFF2-40B4-BE49-F238E27FC236}">
                <a16:creationId xmlns:a16="http://schemas.microsoft.com/office/drawing/2014/main" id="{1C8B07E3-ED54-DFE3-D228-C53FA02D0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970" y="1690688"/>
            <a:ext cx="58054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71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FA25-985B-6AA8-550B-A1A7A497B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CA5B3-A00B-D5AD-D16F-254C2E0F2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13671" cy="4351338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Cardinality of relation: </a:t>
            </a:r>
          </a:p>
          <a:p>
            <a:pPr lvl="1"/>
            <a:r>
              <a:rPr lang="en-US" dirty="0"/>
              <a:t>The number of tuples</a:t>
            </a:r>
          </a:p>
          <a:p>
            <a:pPr lvl="1"/>
            <a:r>
              <a:rPr lang="en-US" dirty="0"/>
              <a:t>Changes as new tuples added or deleted</a:t>
            </a:r>
          </a:p>
        </p:txBody>
      </p:sp>
      <p:pic>
        <p:nvPicPr>
          <p:cNvPr id="4" name="Content Placeholder 4" descr="A table of numbers and names&#10;&#10;AI-generated content may be incorrect.">
            <a:extLst>
              <a:ext uri="{FF2B5EF4-FFF2-40B4-BE49-F238E27FC236}">
                <a16:creationId xmlns:a16="http://schemas.microsoft.com/office/drawing/2014/main" id="{5C8853B1-7295-668F-BA72-3844F272D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970" y="1690688"/>
            <a:ext cx="58054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0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B4D1AE-319D-B6D0-35D3-0C47DFCBE2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799376"/>
              </p:ext>
            </p:extLst>
          </p:nvPr>
        </p:nvGraphicFramePr>
        <p:xfrm>
          <a:off x="838200" y="566451"/>
          <a:ext cx="10515600" cy="3139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6364024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1999199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67959078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9973234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13165388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815692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0265476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51433185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827725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 err="1"/>
                        <a:t>PlayerID</a:t>
                      </a:r>
                      <a:endParaRPr lang="en-CA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 err="1"/>
                        <a:t>RegID</a:t>
                      </a:r>
                      <a:endParaRPr lang="en-CA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 err="1"/>
                        <a:t>PassportNo</a:t>
                      </a:r>
                      <a:endParaRPr lang="en-CA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/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/>
                        <a:t>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/>
                        <a:t>Nationality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532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R101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P8901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hlinkClick r:id="rId2"/>
                        </a:rPr>
                        <a:t>salah@mail.com</a:t>
                      </a:r>
                      <a:endParaRPr lang="en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555-1111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Salah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Egyptian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Liverpool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531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P6723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hlinkClick r:id="rId3"/>
                        </a:rPr>
                        <a:t>mane@mail.com</a:t>
                      </a:r>
                      <a:endParaRPr lang="en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555-2222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Senegalese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Riyadh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57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P4456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hlinkClick r:id="rId4"/>
                        </a:rPr>
                        <a:t>gakpo@mail.com</a:t>
                      </a:r>
                      <a:endParaRPr lang="en-CA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555-3333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 err="1"/>
                        <a:t>Gakpo</a:t>
                      </a:r>
                      <a:endParaRPr lang="en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Dutch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Liverpool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107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P9987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hlinkClick r:id="rId5"/>
                        </a:rPr>
                        <a:t>salah2@mail.com</a:t>
                      </a:r>
                      <a:endParaRPr lang="en-CA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555-4444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Salah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Egyptian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Liverpool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3918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AFB69C-DC03-86FF-A1AC-71AE9FD78C2F}"/>
              </a:ext>
            </a:extLst>
          </p:cNvPr>
          <p:cNvSpPr txBox="1"/>
          <p:nvPr/>
        </p:nvSpPr>
        <p:spPr>
          <a:xfrm>
            <a:off x="3979381" y="4305792"/>
            <a:ext cx="5492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the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many tuples?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What’s the degree of relation?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What’s the cardinality of relation?</a:t>
            </a:r>
          </a:p>
        </p:txBody>
      </p:sp>
    </p:spTree>
    <p:extLst>
      <p:ext uri="{BB962C8B-B14F-4D97-AF65-F5344CB8AC3E}">
        <p14:creationId xmlns:p14="http://schemas.microsoft.com/office/powerpoint/2010/main" val="374080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E7597-F8EB-861A-18C4-CFE2A034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pic>
        <p:nvPicPr>
          <p:cNvPr id="5" name="Content Placeholder 4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9F723316-82F4-7C4B-1D04-47D9419B3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3871" y="1690688"/>
            <a:ext cx="4790267" cy="362318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7FA52B-28E6-E228-C94C-A62C156D1A75}"/>
              </a:ext>
            </a:extLst>
          </p:cNvPr>
          <p:cNvSpPr txBox="1"/>
          <p:nvPr/>
        </p:nvSpPr>
        <p:spPr>
          <a:xfrm>
            <a:off x="888826" y="1823307"/>
            <a:ext cx="53595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Relations are sets, implies uniqueness among the tuple</a:t>
            </a:r>
          </a:p>
          <a:p>
            <a:pPr marL="285750" indent="-285750">
              <a:buFontTx/>
              <a:buChar char="-"/>
            </a:pPr>
            <a:r>
              <a:rPr lang="en-US" dirty="0"/>
              <a:t>Each row has a value of a data item (or a set of values) that uniquely identifies that row in the table &gt;&gt; called the key</a:t>
            </a:r>
          </a:p>
        </p:txBody>
      </p:sp>
    </p:spTree>
    <p:extLst>
      <p:ext uri="{BB962C8B-B14F-4D97-AF65-F5344CB8AC3E}">
        <p14:creationId xmlns:p14="http://schemas.microsoft.com/office/powerpoint/2010/main" val="425360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ED7BB-6C68-4206-ABBF-EB6AF46CB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Superkey</a:t>
            </a:r>
            <a:r>
              <a:rPr lang="en-US" dirty="0"/>
              <a:t> (from slide ER_Jan12)</a:t>
            </a:r>
          </a:p>
        </p:txBody>
      </p:sp>
      <p:pic>
        <p:nvPicPr>
          <p:cNvPr id="5" name="Content Placeholder 4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94155F5C-FB2A-5774-9A68-EFB20C09B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7548" y="1962150"/>
            <a:ext cx="5549900" cy="29337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DE915A-FBEF-1D96-5B97-35114892A897}"/>
              </a:ext>
            </a:extLst>
          </p:cNvPr>
          <p:cNvSpPr txBox="1"/>
          <p:nvPr/>
        </p:nvSpPr>
        <p:spPr>
          <a:xfrm>
            <a:off x="793630" y="2070340"/>
            <a:ext cx="49170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CA" dirty="0"/>
              <a:t>A super key is a group of </a:t>
            </a:r>
            <a:r>
              <a:rPr lang="en-CA" dirty="0">
                <a:highlight>
                  <a:srgbClr val="FFFF00"/>
                </a:highlight>
              </a:rPr>
              <a:t>single or multiple </a:t>
            </a:r>
            <a:r>
              <a:rPr lang="en-CA" dirty="0"/>
              <a:t>keys that </a:t>
            </a:r>
            <a:r>
              <a:rPr lang="en-CA" dirty="0">
                <a:highlight>
                  <a:srgbClr val="FFFF00"/>
                </a:highlight>
              </a:rPr>
              <a:t>uniquely identifies </a:t>
            </a:r>
            <a:r>
              <a:rPr lang="en-CA" dirty="0"/>
              <a:t>rows in a table.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CA" dirty="0"/>
              <a:t>A super key can </a:t>
            </a:r>
            <a:r>
              <a:rPr lang="en-CA" dirty="0">
                <a:highlight>
                  <a:srgbClr val="FFFF00"/>
                </a:highlight>
              </a:rPr>
              <a:t>contain extra attributes </a:t>
            </a:r>
            <a:r>
              <a:rPr lang="en-CA" dirty="0"/>
              <a:t>that aren’t necessary for uniqueness.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CA" dirty="0"/>
              <a:t>For example, if the "STUD_NO" column can uniquely identify a student, adding "SNAME" to it will still form a valid super key, though it's unnecessary.</a:t>
            </a:r>
          </a:p>
          <a:p>
            <a:br>
              <a:rPr lang="en-CA" dirty="0"/>
            </a:b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34398-1D91-AC6B-11E4-6FD753883E65}"/>
              </a:ext>
            </a:extLst>
          </p:cNvPr>
          <p:cNvSpPr txBox="1"/>
          <p:nvPr/>
        </p:nvSpPr>
        <p:spPr>
          <a:xfrm>
            <a:off x="1841591" y="5493518"/>
            <a:ext cx="85088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CA" dirty="0"/>
              <a:t>A super key could be a combination of STUD_NO and PHONE, as this combination uniquely identifies a student.</a:t>
            </a:r>
          </a:p>
          <a:p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1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4D86-54D7-2D8F-91E8-3BC549B0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 (from slide ER_Jan12)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9643C-FA88-8E47-775E-3A0B4E38C7B7}"/>
              </a:ext>
            </a:extLst>
          </p:cNvPr>
          <p:cNvSpPr txBox="1"/>
          <p:nvPr/>
        </p:nvSpPr>
        <p:spPr>
          <a:xfrm>
            <a:off x="491491" y="1931670"/>
            <a:ext cx="51892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CA" dirty="0">
                <a:highlight>
                  <a:srgbClr val="FFFF00"/>
                </a:highlight>
              </a:rPr>
              <a:t>A primary key is a unique key</a:t>
            </a:r>
            <a:r>
              <a:rPr lang="en-CA" dirty="0"/>
              <a:t>, meaning it can uniquely identify each record (tuple) in a table.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CA" dirty="0"/>
              <a:t>It must have </a:t>
            </a:r>
            <a:r>
              <a:rPr lang="en-CA" dirty="0">
                <a:highlight>
                  <a:srgbClr val="FFFF00"/>
                </a:highlight>
              </a:rPr>
              <a:t>unique values</a:t>
            </a:r>
            <a:r>
              <a:rPr lang="en-CA" dirty="0"/>
              <a:t> and </a:t>
            </a:r>
            <a:r>
              <a:rPr lang="en-CA" dirty="0">
                <a:highlight>
                  <a:srgbClr val="FFFF00"/>
                </a:highlight>
              </a:rPr>
              <a:t>cannot contain any duplicate values</a:t>
            </a:r>
            <a:r>
              <a:rPr lang="en-CA" dirty="0"/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CA" dirty="0"/>
              <a:t>A primary key </a:t>
            </a:r>
            <a:r>
              <a:rPr lang="en-CA" dirty="0">
                <a:highlight>
                  <a:srgbClr val="FFFF00"/>
                </a:highlight>
              </a:rPr>
              <a:t>cannot be NULL</a:t>
            </a:r>
            <a:r>
              <a:rPr lang="en-CA" dirty="0"/>
              <a:t>, as it needs to provide a valid, unique identifier for every record.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CA" dirty="0"/>
              <a:t>Databases typically store rows ordered in memory according to primary key for fast access of records using primary key.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CA" dirty="0"/>
              <a:t>The primary key for each entity is </a:t>
            </a:r>
            <a:r>
              <a:rPr lang="en-CA" dirty="0">
                <a:highlight>
                  <a:srgbClr val="FFFF00"/>
                </a:highlight>
              </a:rPr>
              <a:t>underlined</a:t>
            </a:r>
            <a:r>
              <a:rPr lang="en-CA" dirty="0"/>
              <a:t> in the ER mode</a:t>
            </a:r>
          </a:p>
        </p:txBody>
      </p:sp>
      <p:pic>
        <p:nvPicPr>
          <p:cNvPr id="6" name="Picture 5" descr="A screenshot of a phone number&#10;&#10;AI-generated content may be incorrect.">
            <a:extLst>
              <a:ext uri="{FF2B5EF4-FFF2-40B4-BE49-F238E27FC236}">
                <a16:creationId xmlns:a16="http://schemas.microsoft.com/office/drawing/2014/main" id="{AEF093EF-CD1E-407F-8842-7F14510C5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309" y="1690688"/>
            <a:ext cx="5537200" cy="2959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E5CED8-2594-D240-C74D-B78737DA2A05}"/>
              </a:ext>
            </a:extLst>
          </p:cNvPr>
          <p:cNvSpPr txBox="1"/>
          <p:nvPr/>
        </p:nvSpPr>
        <p:spPr>
          <a:xfrm>
            <a:off x="7440930" y="4776589"/>
            <a:ext cx="2743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u="sng" dirty="0"/>
              <a:t>STUD_NO </a:t>
            </a:r>
            <a:r>
              <a:rPr lang="en-CA" i="1" dirty="0"/>
              <a:t>is a primary key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44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C3CEE-50B3-240C-00C7-2CC539B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D3529-54B8-3881-B4B5-616688D3F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8721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values in a cell are considered to be </a:t>
            </a:r>
            <a:r>
              <a:rPr lang="en-US" dirty="0">
                <a:highlight>
                  <a:srgbClr val="FFFF00"/>
                </a:highlight>
              </a:rPr>
              <a:t>atomic</a:t>
            </a:r>
          </a:p>
          <a:p>
            <a:r>
              <a:rPr lang="en-US" dirty="0"/>
              <a:t>each value </a:t>
            </a:r>
            <a:r>
              <a:rPr lang="en-US" dirty="0">
                <a:highlight>
                  <a:srgbClr val="FFFF00"/>
                </a:highlight>
              </a:rPr>
              <a:t>must be from the specified domain for the column</a:t>
            </a:r>
          </a:p>
          <a:p>
            <a:r>
              <a:rPr lang="en-US" dirty="0"/>
              <a:t>null values represent values that are either:</a:t>
            </a:r>
          </a:p>
          <a:p>
            <a:pPr lvl="1"/>
            <a:r>
              <a:rPr lang="en-US" dirty="0"/>
              <a:t>unknown, unavailable or not applicable to certain tuples</a:t>
            </a:r>
          </a:p>
          <a:p>
            <a:pPr lvl="1"/>
            <a:r>
              <a:rPr lang="en-US" dirty="0"/>
              <a:t>null values can be restricted for certain attributes</a:t>
            </a:r>
          </a:p>
          <a:p>
            <a:pPr lvl="1"/>
            <a:r>
              <a:rPr lang="en-US" dirty="0"/>
              <a:t>no primary key attribute can contain NULL values</a:t>
            </a:r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D76FBCC-89EC-8CF9-B484-FF76BE846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375" y="671830"/>
            <a:ext cx="3906625" cy="2307590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F9868A1C-41A1-1FFA-E6E9-2CC6EEE02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540" y="3782060"/>
            <a:ext cx="32258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1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73056-75AE-4CBA-1C1D-86F4C321E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3F461E-CCAA-CADC-526E-90EA38345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18122"/>
              </p:ext>
            </p:extLst>
          </p:nvPr>
        </p:nvGraphicFramePr>
        <p:xfrm>
          <a:off x="2032000" y="2340122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987630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264489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698228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1575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888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Division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555-1111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01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Albert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555-1112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535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Downtown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555-1113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147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 Division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555-1111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94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 Division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555-1111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7931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4E25E9B-7904-72F5-B9D8-630262ABBD72}"/>
              </a:ext>
            </a:extLst>
          </p:cNvPr>
          <p:cNvSpPr txBox="1"/>
          <p:nvPr/>
        </p:nvSpPr>
        <p:spPr>
          <a:xfrm>
            <a:off x="4732966" y="5058137"/>
            <a:ext cx="2726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What’s the problem here?</a:t>
            </a:r>
          </a:p>
        </p:txBody>
      </p:sp>
    </p:spTree>
    <p:extLst>
      <p:ext uri="{BB962C8B-B14F-4D97-AF65-F5344CB8AC3E}">
        <p14:creationId xmlns:p14="http://schemas.microsoft.com/office/powerpoint/2010/main" val="148806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21397-C087-4D5B-5D21-72ACA2CE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A657F8-DEB0-BD24-D685-CE3FCD9AA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091189"/>
              </p:ext>
            </p:extLst>
          </p:nvPr>
        </p:nvGraphicFramePr>
        <p:xfrm>
          <a:off x="1590555" y="2796615"/>
          <a:ext cx="23564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413">
                  <a:extLst>
                    <a:ext uri="{9D8B030D-6E8A-4147-A177-3AD203B41FA5}">
                      <a16:colId xmlns:a16="http://schemas.microsoft.com/office/drawing/2014/main" val="798449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4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Order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Customer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464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572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FBFA81-D0C8-503E-93EC-C2DA517CB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289842"/>
              </p:ext>
            </p:extLst>
          </p:nvPr>
        </p:nvGraphicFramePr>
        <p:xfrm>
          <a:off x="7935411" y="2796615"/>
          <a:ext cx="2356413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413">
                  <a:extLst>
                    <a:ext uri="{9D8B030D-6E8A-4147-A177-3AD203B41FA5}">
                      <a16:colId xmlns:a16="http://schemas.microsoft.com/office/drawing/2014/main" val="798449836"/>
                    </a:ext>
                  </a:extLst>
                </a:gridCol>
              </a:tblGrid>
              <a:tr h="212760">
                <a:tc>
                  <a:txBody>
                    <a:bodyPr/>
                    <a:lstStyle/>
                    <a:p>
                      <a:r>
                        <a:rPr lang="en-US" dirty="0"/>
                        <a:t>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4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Customer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464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572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44DF49-A521-7CC8-4824-7FCE9C2FBE66}"/>
              </a:ext>
            </a:extLst>
          </p:cNvPr>
          <p:cNvSpPr txBox="1"/>
          <p:nvPr/>
        </p:nvSpPr>
        <p:spPr>
          <a:xfrm>
            <a:off x="4062714" y="3166423"/>
            <a:ext cx="61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B28A8-C575-703B-7949-35BA97F27579}"/>
              </a:ext>
            </a:extLst>
          </p:cNvPr>
          <p:cNvSpPr txBox="1"/>
          <p:nvPr/>
        </p:nvSpPr>
        <p:spPr>
          <a:xfrm>
            <a:off x="10395995" y="3166423"/>
            <a:ext cx="61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232CC-7A80-870C-DB39-D81EF2A6FF37}"/>
              </a:ext>
            </a:extLst>
          </p:cNvPr>
          <p:cNvSpPr txBox="1"/>
          <p:nvPr/>
        </p:nvSpPr>
        <p:spPr>
          <a:xfrm>
            <a:off x="4071348" y="353575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A8A32F-2B02-CDFF-755C-EB89A28AC6E1}"/>
              </a:ext>
            </a:extLst>
          </p:cNvPr>
          <p:cNvSpPr txBox="1"/>
          <p:nvPr/>
        </p:nvSpPr>
        <p:spPr>
          <a:xfrm>
            <a:off x="3946968" y="4826824"/>
            <a:ext cx="374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FK originates from Customer’s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5DFA25-9D0B-93F1-2241-833DD286FDFC}"/>
              </a:ext>
            </a:extLst>
          </p:cNvPr>
          <p:cNvSpPr txBox="1"/>
          <p:nvPr/>
        </p:nvSpPr>
        <p:spPr>
          <a:xfrm>
            <a:off x="3946968" y="5558339"/>
            <a:ext cx="3393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kind of relationship is this?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764116-FFB8-A0C3-EFDA-808570FEAE8C}"/>
              </a:ext>
            </a:extLst>
          </p:cNvPr>
          <p:cNvSpPr txBox="1"/>
          <p:nvPr/>
        </p:nvSpPr>
        <p:spPr>
          <a:xfrm>
            <a:off x="7739797" y="2237537"/>
            <a:ext cx="2962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Referenced relation (Parent)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108BA6-4B3C-165E-B98C-474546C4FFD2}"/>
              </a:ext>
            </a:extLst>
          </p:cNvPr>
          <p:cNvSpPr txBox="1"/>
          <p:nvPr/>
        </p:nvSpPr>
        <p:spPr>
          <a:xfrm>
            <a:off x="1401450" y="2237537"/>
            <a:ext cx="2888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Referencing relation (Child)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3822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35EB-188E-AC39-D8BC-7AA8B40A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E1A59-354D-66C9-8246-9DEDFCFFC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Used to specify relationships </a:t>
            </a:r>
            <a:r>
              <a:rPr lang="en-US" dirty="0"/>
              <a:t>among </a:t>
            </a:r>
            <a:r>
              <a:rPr lang="en-US" dirty="0">
                <a:highlight>
                  <a:srgbClr val="FFFF00"/>
                </a:highlight>
              </a:rPr>
              <a:t>tuples in two relations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referencing (child) relation and the referenced relation (parent)</a:t>
            </a:r>
          </a:p>
          <a:p>
            <a:r>
              <a:rPr lang="en-US" dirty="0"/>
              <a:t>Tuples in the referencing relation have attributes called Foreign Key attributes that reference the primary key attributes of the referenced relation</a:t>
            </a:r>
          </a:p>
        </p:txBody>
      </p:sp>
    </p:spTree>
    <p:extLst>
      <p:ext uri="{BB962C8B-B14F-4D97-AF65-F5344CB8AC3E}">
        <p14:creationId xmlns:p14="http://schemas.microsoft.com/office/powerpoint/2010/main" val="190238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CD45-7A3F-C7B8-850A-ED143B37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able of names with green and white text&#10;&#10;AI-generated content may be incorrect.">
            <a:extLst>
              <a:ext uri="{FF2B5EF4-FFF2-40B4-BE49-F238E27FC236}">
                <a16:creationId xmlns:a16="http://schemas.microsoft.com/office/drawing/2014/main" id="{DAAFEA5D-FE02-AB4E-AA86-50960B754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57" y="2485055"/>
            <a:ext cx="5872843" cy="2288681"/>
          </a:xfrm>
        </p:spPr>
      </p:pic>
      <p:pic>
        <p:nvPicPr>
          <p:cNvPr id="7" name="Picture 6" descr="A green and white table with black text&#10;&#10;AI-generated content may be incorrect.">
            <a:extLst>
              <a:ext uri="{FF2B5EF4-FFF2-40B4-BE49-F238E27FC236}">
                <a16:creationId xmlns:a16="http://schemas.microsoft.com/office/drawing/2014/main" id="{83BC56A4-985A-CD98-D92F-8DE21F757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313" y="2669721"/>
            <a:ext cx="4005943" cy="21771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5AC357E-2D97-804E-373E-4DE67FDA8EAA}"/>
              </a:ext>
            </a:extLst>
          </p:cNvPr>
          <p:cNvSpPr txBox="1"/>
          <p:nvPr/>
        </p:nvSpPr>
        <p:spPr>
          <a:xfrm>
            <a:off x="2166257" y="5641231"/>
            <a:ext cx="8293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dept</a:t>
            </a:r>
            <a:r>
              <a:rPr lang="en-US" dirty="0"/>
              <a:t> is a foreign key referencing </a:t>
            </a:r>
            <a:r>
              <a:rPr lang="en-US" dirty="0" err="1"/>
              <a:t>departmentName</a:t>
            </a:r>
            <a:r>
              <a:rPr lang="en-US" dirty="0"/>
              <a:t> (the primary key of department)</a:t>
            </a:r>
          </a:p>
        </p:txBody>
      </p:sp>
    </p:spTree>
    <p:extLst>
      <p:ext uri="{BB962C8B-B14F-4D97-AF65-F5344CB8AC3E}">
        <p14:creationId xmlns:p14="http://schemas.microsoft.com/office/powerpoint/2010/main" val="88690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DED7-03C2-FFB1-95A7-69953BC0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E48FC-FFDB-4CB7-2996-BFA92BC49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197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foreign key </a:t>
            </a:r>
            <a:r>
              <a:rPr lang="en-US" dirty="0">
                <a:highlight>
                  <a:srgbClr val="FFFF00"/>
                </a:highlight>
              </a:rPr>
              <a:t>can be null</a:t>
            </a:r>
          </a:p>
          <a:p>
            <a:pPr lvl="1"/>
            <a:r>
              <a:rPr lang="en-US" dirty="0"/>
              <a:t>a person could have no department association</a:t>
            </a:r>
          </a:p>
          <a:p>
            <a:r>
              <a:rPr lang="en-US" dirty="0"/>
              <a:t>a foreign key </a:t>
            </a:r>
            <a:r>
              <a:rPr lang="en-US" dirty="0">
                <a:highlight>
                  <a:srgbClr val="FFFF00"/>
                </a:highlight>
              </a:rPr>
              <a:t>does not have contain unique values</a:t>
            </a:r>
          </a:p>
          <a:p>
            <a:pPr lvl="1"/>
            <a:r>
              <a:rPr lang="en-US" dirty="0"/>
              <a:t>many people can be associated with the same department</a:t>
            </a:r>
          </a:p>
          <a:p>
            <a:r>
              <a:rPr lang="en-US" dirty="0"/>
              <a:t>the foreign key attributes </a:t>
            </a:r>
            <a:r>
              <a:rPr lang="en-US" dirty="0">
                <a:highlight>
                  <a:srgbClr val="FFFF00"/>
                </a:highlight>
              </a:rPr>
              <a:t>must come from the same domain </a:t>
            </a:r>
            <a:r>
              <a:rPr lang="en-US" dirty="0"/>
              <a:t>as the referenced primary key attributes</a:t>
            </a:r>
          </a:p>
        </p:txBody>
      </p:sp>
      <p:pic>
        <p:nvPicPr>
          <p:cNvPr id="4" name="Content Placeholder 4" descr="A table of names with green and white text&#10;&#10;AI-generated content may be incorrect.">
            <a:extLst>
              <a:ext uri="{FF2B5EF4-FFF2-40B4-BE49-F238E27FC236}">
                <a16:creationId xmlns:a16="http://schemas.microsoft.com/office/drawing/2014/main" id="{3C212DA8-A278-4D41-4675-B88BF6EEF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728" y="1140319"/>
            <a:ext cx="5872843" cy="2288681"/>
          </a:xfrm>
          <a:prstGeom prst="rect">
            <a:avLst/>
          </a:prstGeom>
        </p:spPr>
      </p:pic>
      <p:pic>
        <p:nvPicPr>
          <p:cNvPr id="5" name="Picture 4" descr="A green and white table with black text&#10;&#10;AI-generated content may be incorrect.">
            <a:extLst>
              <a:ext uri="{FF2B5EF4-FFF2-40B4-BE49-F238E27FC236}">
                <a16:creationId xmlns:a16="http://schemas.microsoft.com/office/drawing/2014/main" id="{9A9F9488-F470-70F7-8C20-D997979B7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3" y="4315732"/>
            <a:ext cx="4005943" cy="217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0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CCA9-483A-8D87-7491-5AA8ACC9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foreign key can refer to its own relation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A9B056-3C4D-52F6-8836-70FBE7230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201285"/>
              </p:ext>
            </p:extLst>
          </p:nvPr>
        </p:nvGraphicFramePr>
        <p:xfrm>
          <a:off x="6498771" y="2474175"/>
          <a:ext cx="5159829" cy="1909650"/>
        </p:xfrm>
        <a:graphic>
          <a:graphicData uri="http://schemas.openxmlformats.org/drawingml/2006/table">
            <a:tbl>
              <a:tblPr/>
              <a:tblGrid>
                <a:gridCol w="1719943">
                  <a:extLst>
                    <a:ext uri="{9D8B030D-6E8A-4147-A177-3AD203B41FA5}">
                      <a16:colId xmlns:a16="http://schemas.microsoft.com/office/drawing/2014/main" val="3482531477"/>
                    </a:ext>
                  </a:extLst>
                </a:gridCol>
                <a:gridCol w="1719943">
                  <a:extLst>
                    <a:ext uri="{9D8B030D-6E8A-4147-A177-3AD203B41FA5}">
                      <a16:colId xmlns:a16="http://schemas.microsoft.com/office/drawing/2014/main" val="4017436642"/>
                    </a:ext>
                  </a:extLst>
                </a:gridCol>
                <a:gridCol w="1719943">
                  <a:extLst>
                    <a:ext uri="{9D8B030D-6E8A-4147-A177-3AD203B41FA5}">
                      <a16:colId xmlns:a16="http://schemas.microsoft.com/office/drawing/2014/main" val="4061037501"/>
                    </a:ext>
                  </a:extLst>
                </a:gridCol>
              </a:tblGrid>
              <a:tr h="38193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customerID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referredByID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789354"/>
                  </a:ext>
                </a:extLst>
              </a:tr>
              <a:tr h="38193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251113"/>
                  </a:ext>
                </a:extLst>
              </a:tr>
              <a:tr h="38193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Carlos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464763"/>
                  </a:ext>
                </a:extLst>
              </a:tr>
              <a:tr h="38193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Leylah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824804"/>
                  </a:ext>
                </a:extLst>
              </a:tr>
              <a:tr h="38193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8481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0062E9-6D5E-19FA-AA84-C4FA2488E498}"/>
              </a:ext>
            </a:extLst>
          </p:cNvPr>
          <p:cNvSpPr txBox="1"/>
          <p:nvPr/>
        </p:nvSpPr>
        <p:spPr>
          <a:xfrm>
            <a:off x="838199" y="2019459"/>
            <a:ext cx="54809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 foreign key can refer to its own relation.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Ex: Customers can refer other customers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 err="1"/>
              <a:t>customerID</a:t>
            </a:r>
            <a:r>
              <a:rPr lang="en-CA" dirty="0"/>
              <a:t> = unique ID of the customer (PK)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 err="1"/>
              <a:t>referredByID</a:t>
            </a:r>
            <a:r>
              <a:rPr lang="en-CA" dirty="0"/>
              <a:t> = the ID of the customer who referred them (FK to the same table)</a:t>
            </a:r>
          </a:p>
          <a:p>
            <a:br>
              <a:rPr lang="en-CA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C3B5A-479D-7AE1-4268-817EBC162968}"/>
              </a:ext>
            </a:extLst>
          </p:cNvPr>
          <p:cNvSpPr txBox="1"/>
          <p:nvPr/>
        </p:nvSpPr>
        <p:spPr>
          <a:xfrm>
            <a:off x="3274476" y="5035768"/>
            <a:ext cx="6089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highlight>
                  <a:srgbClr val="FFFF00"/>
                </a:highlight>
              </a:rPr>
              <a:t>Customer.referredByID</a:t>
            </a:r>
            <a:r>
              <a:rPr lang="en-CA" b="1" dirty="0">
                <a:highlight>
                  <a:srgbClr val="FFFF00"/>
                </a:highlight>
              </a:rPr>
              <a:t> (FK) → </a:t>
            </a:r>
            <a:r>
              <a:rPr lang="en-CA" b="1" dirty="0" err="1">
                <a:highlight>
                  <a:srgbClr val="FFFF00"/>
                </a:highlight>
              </a:rPr>
              <a:t>Customer.customerID</a:t>
            </a:r>
            <a:r>
              <a:rPr lang="en-CA" b="1" dirty="0">
                <a:highlight>
                  <a:srgbClr val="FFFF00"/>
                </a:highlight>
              </a:rPr>
              <a:t> (PK)</a:t>
            </a:r>
            <a:endParaRPr lang="en-CA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04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8578-F8D0-6ED2-8759-D92DB6DB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able with names and green text&#10;&#10;AI-generated content may be incorrect.">
            <a:extLst>
              <a:ext uri="{FF2B5EF4-FFF2-40B4-BE49-F238E27FC236}">
                <a16:creationId xmlns:a16="http://schemas.microsoft.com/office/drawing/2014/main" id="{2FD46D96-51AF-7405-FD91-418BD8C47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50" y="1875715"/>
            <a:ext cx="8191500" cy="33528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B4DB45-2F93-1A9D-818A-6730F191A15D}"/>
              </a:ext>
            </a:extLst>
          </p:cNvPr>
          <p:cNvSpPr txBox="1"/>
          <p:nvPr/>
        </p:nvSpPr>
        <p:spPr>
          <a:xfrm>
            <a:off x="3860420" y="5566610"/>
            <a:ext cx="4471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mgrID</a:t>
            </a:r>
            <a:r>
              <a:rPr lang="en-CA" dirty="0"/>
              <a:t> is a foreign key referencing employee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9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7AD3-7A45-6C58-4F4A-22CF80489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FK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B20AA-80BA-305E-AF68-C6B9FB85B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maintains database integrity</a:t>
            </a:r>
          </a:p>
          <a:p>
            <a:r>
              <a:rPr lang="en-US" dirty="0"/>
              <a:t>allows us to make connections between relations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63BA95BF-67BE-3E1B-19ED-6E2158EDE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140" y="3309144"/>
            <a:ext cx="6680200" cy="1384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43EFC9-7FE8-8B78-A57B-31BFDFB9CD6E}"/>
              </a:ext>
            </a:extLst>
          </p:cNvPr>
          <p:cNvSpPr txBox="1"/>
          <p:nvPr/>
        </p:nvSpPr>
        <p:spPr>
          <a:xfrm>
            <a:off x="3657600" y="5112038"/>
            <a:ext cx="5904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can ONLY enter valid values for dept</a:t>
            </a:r>
            <a:br>
              <a:rPr lang="en-CA" dirty="0"/>
            </a:br>
            <a:r>
              <a:rPr lang="en-CA" dirty="0"/>
              <a:t>((departments that exist in the database))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7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428F-7A90-0E2E-234C-330DB49A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B1CB2FC-FE5D-6B37-089C-B483719C4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2466" y="1825625"/>
            <a:ext cx="8367067" cy="4351338"/>
          </a:xfrm>
        </p:spPr>
      </p:pic>
    </p:spTree>
    <p:extLst>
      <p:ext uri="{BB962C8B-B14F-4D97-AF65-F5344CB8AC3E}">
        <p14:creationId xmlns:p14="http://schemas.microsoft.com/office/powerpoint/2010/main" val="751897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foreign relationship&#10;&#10;AI-generated content may be incorrect.">
            <a:extLst>
              <a:ext uri="{FF2B5EF4-FFF2-40B4-BE49-F238E27FC236}">
                <a16:creationId xmlns:a16="http://schemas.microsoft.com/office/drawing/2014/main" id="{128D70BE-8398-7811-06D4-952203129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0057" y="515868"/>
            <a:ext cx="8086146" cy="5826263"/>
          </a:xfrm>
        </p:spPr>
      </p:pic>
    </p:spTree>
    <p:extLst>
      <p:ext uri="{BB962C8B-B14F-4D97-AF65-F5344CB8AC3E}">
        <p14:creationId xmlns:p14="http://schemas.microsoft.com/office/powerpoint/2010/main" val="325511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BE3A-1862-B35D-4E66-84D428CC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2A9F-B0FE-EE91-CD78-20CBD39F6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9400" cy="1864632"/>
          </a:xfrm>
        </p:spPr>
        <p:txBody>
          <a:bodyPr/>
          <a:lstStyle/>
          <a:p>
            <a:r>
              <a:rPr lang="en-US" dirty="0"/>
              <a:t>Parent table = the table being referenced (it owns the PK).</a:t>
            </a:r>
          </a:p>
          <a:p>
            <a:r>
              <a:rPr lang="en-US" dirty="0"/>
              <a:t>Child table = the table that stores the FK (it depends on the parent).</a:t>
            </a: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E186F6B5-0154-A024-BE37-E38944522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543" y="365124"/>
            <a:ext cx="4514850" cy="6135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5DF6F8-B0F0-DB58-F480-2AFC20EC1137}"/>
              </a:ext>
            </a:extLst>
          </p:cNvPr>
          <p:cNvSpPr txBox="1"/>
          <p:nvPr/>
        </p:nvSpPr>
        <p:spPr>
          <a:xfrm>
            <a:off x="1055914" y="4669828"/>
            <a:ext cx="60089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Parent</a:t>
            </a:r>
            <a:r>
              <a:rPr lang="en-US" dirty="0"/>
              <a:t>: department (because </a:t>
            </a:r>
            <a:r>
              <a:rPr lang="en-US" dirty="0" err="1"/>
              <a:t>dept_name</a:t>
            </a:r>
            <a:r>
              <a:rPr lang="en-US" dirty="0"/>
              <a:t> is its PK) </a:t>
            </a:r>
          </a:p>
          <a:p>
            <a:r>
              <a:rPr lang="en-US" b="1" dirty="0"/>
              <a:t>Child</a:t>
            </a:r>
            <a:r>
              <a:rPr lang="en-US" dirty="0"/>
              <a:t>: student (because it stores </a:t>
            </a:r>
            <a:r>
              <a:rPr lang="en-US" dirty="0" err="1"/>
              <a:t>dept_name</a:t>
            </a:r>
            <a:r>
              <a:rPr lang="en-US" dirty="0"/>
              <a:t> to refer to department)</a:t>
            </a:r>
          </a:p>
          <a:p>
            <a:endParaRPr lang="en-US" dirty="0"/>
          </a:p>
          <a:p>
            <a:r>
              <a:rPr lang="en-CA" b="1" dirty="0" err="1">
                <a:highlight>
                  <a:srgbClr val="FFFF00"/>
                </a:highlight>
              </a:rPr>
              <a:t>student.dept_name</a:t>
            </a:r>
            <a:r>
              <a:rPr lang="en-CA" b="1" dirty="0">
                <a:highlight>
                  <a:srgbClr val="FFFF00"/>
                </a:highlight>
              </a:rPr>
              <a:t> (FK) → </a:t>
            </a:r>
            <a:r>
              <a:rPr lang="en-CA" b="1" dirty="0" err="1">
                <a:highlight>
                  <a:srgbClr val="FFFF00"/>
                </a:highlight>
              </a:rPr>
              <a:t>department.dept_name</a:t>
            </a:r>
            <a:r>
              <a:rPr lang="en-CA" b="1" dirty="0">
                <a:highlight>
                  <a:srgbClr val="FFFF00"/>
                </a:highlight>
              </a:rPr>
              <a:t> (PK)</a:t>
            </a:r>
            <a:endParaRPr lang="en-CA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7D84F-8738-1F79-2285-05C171A0D672}"/>
              </a:ext>
            </a:extLst>
          </p:cNvPr>
          <p:cNvSpPr txBox="1"/>
          <p:nvPr/>
        </p:nvSpPr>
        <p:spPr>
          <a:xfrm>
            <a:off x="2302329" y="4023497"/>
            <a:ext cx="2585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Department ↔ Student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66943-A1DA-9D63-9627-FD76C4C9134B}"/>
              </a:ext>
            </a:extLst>
          </p:cNvPr>
          <p:cNvSpPr txBox="1"/>
          <p:nvPr/>
        </p:nvSpPr>
        <p:spPr>
          <a:xfrm>
            <a:off x="2046663" y="6316023"/>
            <a:ext cx="4969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every student must belong to a valid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45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51483-7E26-6530-F06B-8CB6A7059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1C54-FB83-D2BF-DE71-2F2ACF20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B6E0F-AF92-69AA-A174-E5CC0780B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9400" cy="1864632"/>
          </a:xfrm>
        </p:spPr>
        <p:txBody>
          <a:bodyPr/>
          <a:lstStyle/>
          <a:p>
            <a:r>
              <a:rPr lang="en-US" dirty="0"/>
              <a:t>Parent table = the table being referenced (it owns the PK).</a:t>
            </a:r>
          </a:p>
          <a:p>
            <a:r>
              <a:rPr lang="en-US" dirty="0"/>
              <a:t>Child table = the table that stores the FK (it depends on the parent).</a:t>
            </a: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4B6C2880-B52C-7DB7-574E-7F0A688D4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543" y="365124"/>
            <a:ext cx="4514850" cy="6135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A75178-3546-5115-F0C1-B2918D2636B7}"/>
              </a:ext>
            </a:extLst>
          </p:cNvPr>
          <p:cNvSpPr txBox="1"/>
          <p:nvPr/>
        </p:nvSpPr>
        <p:spPr>
          <a:xfrm>
            <a:off x="1055914" y="4594854"/>
            <a:ext cx="60089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Parent</a:t>
            </a:r>
            <a:r>
              <a:rPr lang="en-US" dirty="0"/>
              <a:t>: department (because </a:t>
            </a:r>
            <a:r>
              <a:rPr lang="en-US" dirty="0" err="1"/>
              <a:t>dept_name</a:t>
            </a:r>
            <a:r>
              <a:rPr lang="en-US" dirty="0"/>
              <a:t> is its PK) </a:t>
            </a:r>
          </a:p>
          <a:p>
            <a:r>
              <a:rPr lang="en-US" b="1" dirty="0"/>
              <a:t>Child</a:t>
            </a:r>
            <a:r>
              <a:rPr lang="en-US" dirty="0"/>
              <a:t>: instructor</a:t>
            </a:r>
          </a:p>
          <a:p>
            <a:endParaRPr lang="en-US" dirty="0"/>
          </a:p>
          <a:p>
            <a:r>
              <a:rPr lang="en-CA" b="1" dirty="0" err="1">
                <a:highlight>
                  <a:srgbClr val="FFFF00"/>
                </a:highlight>
              </a:rPr>
              <a:t>instructor.dept_name</a:t>
            </a:r>
            <a:r>
              <a:rPr lang="en-CA" b="1" dirty="0">
                <a:highlight>
                  <a:srgbClr val="FFFF00"/>
                </a:highlight>
              </a:rPr>
              <a:t> (FK) → </a:t>
            </a:r>
            <a:r>
              <a:rPr lang="en-CA" b="1" dirty="0" err="1">
                <a:highlight>
                  <a:srgbClr val="FFFF00"/>
                </a:highlight>
              </a:rPr>
              <a:t>department.dept_name</a:t>
            </a:r>
            <a:r>
              <a:rPr lang="en-CA" b="1" dirty="0">
                <a:highlight>
                  <a:srgbClr val="FFFF00"/>
                </a:highlight>
              </a:rPr>
              <a:t> (PK)</a:t>
            </a:r>
            <a:endParaRPr lang="en-CA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694D8-A28F-1EE3-8620-1D6C30D40F2D}"/>
              </a:ext>
            </a:extLst>
          </p:cNvPr>
          <p:cNvSpPr txBox="1"/>
          <p:nvPr/>
        </p:nvSpPr>
        <p:spPr>
          <a:xfrm>
            <a:off x="2302329" y="4023497"/>
            <a:ext cx="279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Department ↔ Instructor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ECBE0-EC53-9183-6103-4A36EDE93527}"/>
              </a:ext>
            </a:extLst>
          </p:cNvPr>
          <p:cNvSpPr txBox="1"/>
          <p:nvPr/>
        </p:nvSpPr>
        <p:spPr>
          <a:xfrm>
            <a:off x="1825894" y="6308209"/>
            <a:ext cx="5238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 instructor must belong to a valid department.</a:t>
            </a:r>
          </a:p>
        </p:txBody>
      </p:sp>
    </p:spTree>
    <p:extLst>
      <p:ext uri="{BB962C8B-B14F-4D97-AF65-F5344CB8AC3E}">
        <p14:creationId xmlns:p14="http://schemas.microsoft.com/office/powerpoint/2010/main" val="171064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7F8A3-8F9D-26F3-9A29-8B1F4AB2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0B32-0D39-1E7A-4267-EAF99FA34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29EC4-1451-9BDB-AD82-1D4B81C9B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9400" cy="1864632"/>
          </a:xfrm>
        </p:spPr>
        <p:txBody>
          <a:bodyPr/>
          <a:lstStyle/>
          <a:p>
            <a:r>
              <a:rPr lang="en-US" dirty="0"/>
              <a:t>Parent table = the table being referenced (it owns the PK).</a:t>
            </a:r>
          </a:p>
          <a:p>
            <a:r>
              <a:rPr lang="en-US" dirty="0"/>
              <a:t>Child table = the table that stores the FK (it depends on the parent).</a:t>
            </a: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C997AD94-6AE3-FD4F-C914-083497D2A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543" y="365124"/>
            <a:ext cx="4514850" cy="6135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7EEC2C-0C56-D788-0469-90FE71B347C7}"/>
              </a:ext>
            </a:extLst>
          </p:cNvPr>
          <p:cNvSpPr txBox="1"/>
          <p:nvPr/>
        </p:nvSpPr>
        <p:spPr>
          <a:xfrm>
            <a:off x="1458685" y="4611182"/>
            <a:ext cx="6008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Parent</a:t>
            </a:r>
            <a:r>
              <a:rPr lang="en-US" dirty="0"/>
              <a:t>: student (because ID is the PK)</a:t>
            </a:r>
          </a:p>
          <a:p>
            <a:r>
              <a:rPr lang="en-US" b="1" dirty="0"/>
              <a:t>Child</a:t>
            </a:r>
            <a:r>
              <a:rPr lang="en-US" dirty="0"/>
              <a:t>: advisor (because it stores </a:t>
            </a:r>
            <a:r>
              <a:rPr lang="en-US" dirty="0" err="1"/>
              <a:t>s_id</a:t>
            </a:r>
            <a:r>
              <a:rPr lang="en-US" dirty="0"/>
              <a:t>)</a:t>
            </a:r>
          </a:p>
          <a:p>
            <a:endParaRPr lang="en-US" b="1" dirty="0"/>
          </a:p>
          <a:p>
            <a:r>
              <a:rPr lang="en-CA" b="1" dirty="0" err="1">
                <a:highlight>
                  <a:srgbClr val="FFFF00"/>
                </a:highlight>
              </a:rPr>
              <a:t>advisor.s_id</a:t>
            </a:r>
            <a:r>
              <a:rPr lang="en-CA" b="1" dirty="0">
                <a:highlight>
                  <a:srgbClr val="FFFF00"/>
                </a:highlight>
              </a:rPr>
              <a:t> (FK) → </a:t>
            </a:r>
            <a:r>
              <a:rPr lang="en-CA" b="1" dirty="0" err="1">
                <a:highlight>
                  <a:srgbClr val="FFFF00"/>
                </a:highlight>
              </a:rPr>
              <a:t>student.ID</a:t>
            </a:r>
            <a:r>
              <a:rPr lang="en-CA" b="1" dirty="0">
                <a:highlight>
                  <a:srgbClr val="FFFF00"/>
                </a:highlight>
              </a:rPr>
              <a:t> (PK)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733FE1-5812-A9C0-06D4-414F31AC514E}"/>
              </a:ext>
            </a:extLst>
          </p:cNvPr>
          <p:cNvSpPr txBox="1"/>
          <p:nvPr/>
        </p:nvSpPr>
        <p:spPr>
          <a:xfrm>
            <a:off x="2302329" y="4023497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Student ↔ Advisor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B23CD5-32E3-413A-048C-4786507D037C}"/>
              </a:ext>
            </a:extLst>
          </p:cNvPr>
          <p:cNvSpPr txBox="1"/>
          <p:nvPr/>
        </p:nvSpPr>
        <p:spPr>
          <a:xfrm>
            <a:off x="620486" y="6198826"/>
            <a:ext cx="8276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can’t put a student into the advisor table unless that student exists in student.</a:t>
            </a:r>
          </a:p>
        </p:txBody>
      </p:sp>
    </p:spTree>
    <p:extLst>
      <p:ext uri="{BB962C8B-B14F-4D97-AF65-F5344CB8AC3E}">
        <p14:creationId xmlns:p14="http://schemas.microsoft.com/office/powerpoint/2010/main" val="4463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63251-30A4-218C-6819-10C66DBF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8D504-594D-6897-6242-1428BAEE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49A6-6CBA-19B0-A3FA-4CEB1B815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9400" cy="1864632"/>
          </a:xfrm>
        </p:spPr>
        <p:txBody>
          <a:bodyPr/>
          <a:lstStyle/>
          <a:p>
            <a:r>
              <a:rPr lang="en-US" dirty="0"/>
              <a:t>Parent table = the table being referenced (it owns the PK).</a:t>
            </a:r>
          </a:p>
          <a:p>
            <a:r>
              <a:rPr lang="en-US" dirty="0"/>
              <a:t>Child table = the table that stores the FK (it depends on the parent).</a:t>
            </a: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DA49CC8C-4A7F-C0F8-0957-9F95F6CE9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543" y="365124"/>
            <a:ext cx="4514850" cy="6135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77CFA9-391A-15EA-D1C9-0DBF8CDEDB22}"/>
              </a:ext>
            </a:extLst>
          </p:cNvPr>
          <p:cNvSpPr txBox="1"/>
          <p:nvPr/>
        </p:nvSpPr>
        <p:spPr>
          <a:xfrm>
            <a:off x="1458685" y="4660168"/>
            <a:ext cx="6008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Parent: </a:t>
            </a:r>
            <a:r>
              <a:rPr lang="en-CA" dirty="0"/>
              <a:t>instructor</a:t>
            </a:r>
            <a:r>
              <a:rPr lang="en-US" dirty="0"/>
              <a:t> (because ID is the PK)</a:t>
            </a:r>
          </a:p>
          <a:p>
            <a:r>
              <a:rPr lang="en-US" dirty="0"/>
              <a:t>Child: advisor (because it stores </a:t>
            </a:r>
            <a:r>
              <a:rPr lang="en-US" dirty="0" err="1"/>
              <a:t>s_id</a:t>
            </a:r>
            <a:r>
              <a:rPr lang="en-US" dirty="0"/>
              <a:t>)</a:t>
            </a:r>
          </a:p>
          <a:p>
            <a:endParaRPr lang="en-US" b="1" dirty="0"/>
          </a:p>
          <a:p>
            <a:r>
              <a:rPr lang="en-CA" b="1" dirty="0" err="1">
                <a:highlight>
                  <a:srgbClr val="FFFF00"/>
                </a:highlight>
              </a:rPr>
              <a:t>advisor.i_id</a:t>
            </a:r>
            <a:r>
              <a:rPr lang="en-CA" b="1" dirty="0">
                <a:highlight>
                  <a:srgbClr val="FFFF00"/>
                </a:highlight>
              </a:rPr>
              <a:t> (FK) → </a:t>
            </a:r>
            <a:r>
              <a:rPr lang="en-CA" b="1" dirty="0" err="1">
                <a:highlight>
                  <a:srgbClr val="FFFF00"/>
                </a:highlight>
              </a:rPr>
              <a:t>instructor.ID</a:t>
            </a:r>
            <a:r>
              <a:rPr lang="en-CA" b="1" dirty="0">
                <a:highlight>
                  <a:srgbClr val="FFFF00"/>
                </a:highlight>
              </a:rPr>
              <a:t> (PK)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BF256-61AD-5253-5855-9AA63D24BDAE}"/>
              </a:ext>
            </a:extLst>
          </p:cNvPr>
          <p:cNvSpPr txBox="1"/>
          <p:nvPr/>
        </p:nvSpPr>
        <p:spPr>
          <a:xfrm>
            <a:off x="2302329" y="4023497"/>
            <a:ext cx="23199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Instructor ↔ Advisor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DBDFA-B077-6190-3B0A-ED30ACDBA828}"/>
              </a:ext>
            </a:extLst>
          </p:cNvPr>
          <p:cNvSpPr txBox="1"/>
          <p:nvPr/>
        </p:nvSpPr>
        <p:spPr>
          <a:xfrm>
            <a:off x="985602" y="6131357"/>
            <a:ext cx="569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advisor must be a real instructor that exists in instructor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01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F10B-4D86-F24C-33AA-7239DAE1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 this!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ACEF6A-C64E-3EE1-F7C8-3AE59D72B5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9557" y="1825625"/>
            <a:ext cx="7412885" cy="5032375"/>
          </a:xfrm>
        </p:spPr>
      </p:pic>
    </p:spTree>
    <p:extLst>
      <p:ext uri="{BB962C8B-B14F-4D97-AF65-F5344CB8AC3E}">
        <p14:creationId xmlns:p14="http://schemas.microsoft.com/office/powerpoint/2010/main" val="228115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2095</TotalTime>
  <Words>1471</Words>
  <Application>Microsoft Macintosh PowerPoint</Application>
  <PresentationFormat>Widescreen</PresentationFormat>
  <Paragraphs>283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Relational Model</vt:lpstr>
      <vt:lpstr>Phases of Database Design</vt:lpstr>
      <vt:lpstr>Relational Model History</vt:lpstr>
      <vt:lpstr>Relational Model</vt:lpstr>
      <vt:lpstr>Relational Model</vt:lpstr>
      <vt:lpstr>Relational Schema</vt:lpstr>
      <vt:lpstr>Example of a Relation</vt:lpstr>
      <vt:lpstr>Relational Model Concepts (Domain)</vt:lpstr>
      <vt:lpstr>Characteristics of a Relation</vt:lpstr>
      <vt:lpstr>Characteristics of a Relation</vt:lpstr>
      <vt:lpstr>Degree</vt:lpstr>
      <vt:lpstr>Cardinality</vt:lpstr>
      <vt:lpstr>PowerPoint Presentation</vt:lpstr>
      <vt:lpstr>Keys</vt:lpstr>
      <vt:lpstr>Superkey (from slide ER_Jan12)</vt:lpstr>
      <vt:lpstr>Primary key (from slide ER_Jan12)</vt:lpstr>
      <vt:lpstr>Data Values</vt:lpstr>
      <vt:lpstr>Foreign Key</vt:lpstr>
      <vt:lpstr>Foreign Key</vt:lpstr>
      <vt:lpstr>Foreign Keys</vt:lpstr>
      <vt:lpstr>PowerPoint Presentation</vt:lpstr>
      <vt:lpstr>Foreign Keys</vt:lpstr>
      <vt:lpstr>A foreign key can refer to its own relation</vt:lpstr>
      <vt:lpstr>PowerPoint Presentation</vt:lpstr>
      <vt:lpstr>What does FK do?</vt:lpstr>
      <vt:lpstr>PowerPoint Presentation</vt:lpstr>
      <vt:lpstr>PowerPoint Presentation</vt:lpstr>
      <vt:lpstr>Solve</vt:lpstr>
      <vt:lpstr>Solve</vt:lpstr>
      <vt:lpstr>Solve</vt:lpstr>
      <vt:lpstr>Solve</vt:lpstr>
      <vt:lpstr>Interpret this!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4</cp:revision>
  <dcterms:created xsi:type="dcterms:W3CDTF">2026-01-20T02:40:19Z</dcterms:created>
  <dcterms:modified xsi:type="dcterms:W3CDTF">2026-01-28T01:58:49Z</dcterms:modified>
</cp:coreProperties>
</file>