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2"/>
    <p:sldId id="256" r:id="rId3"/>
    <p:sldId id="275" r:id="rId4"/>
    <p:sldId id="27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49"/>
    <p:restoredTop sz="94587"/>
  </p:normalViewPr>
  <p:slideViewPr>
    <p:cSldViewPr snapToGrid="0">
      <p:cViewPr varScale="1">
        <p:scale>
          <a:sx n="68" d="100"/>
          <a:sy n="68" d="100"/>
        </p:scale>
        <p:origin x="224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81CDC-BAA0-0887-0111-0D9931FF7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1BE70-8AC3-48B1-6EA9-20D37C144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E4FCC-472F-CA97-31FB-F07ABD85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D0650-5B69-0683-A685-449009E07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9337C-2B7A-7C5A-FF42-B9356873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35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CB27-4EA7-FF5A-BCDB-88238F31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7C7E4-2E3A-CBDA-4105-95A2E7949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10CDE-5CD5-41EA-D5BA-05EBD4C7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412C3-09BE-E080-3F5A-16745BD5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3EC76-51B5-EB48-A3F8-AC300EF4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740A1-EF35-8416-BD8D-246B27F0B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499BD-5C3D-09F5-1EFC-92516A278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2213D-A695-45A7-CAE0-DAC77A9E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7A706-F6D4-B023-9736-28C2ADC5F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83FB4-EEAE-72E4-E480-F8F3E8FD7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52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1CBF6-47C9-8E90-1B35-C198242A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0184C-AFA7-5712-AAEB-03CB94F87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14BFC-8EBF-42AE-3854-2C473B741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6EC3E-CB71-111D-AFC7-AB8005A80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44155-F002-7754-F6D4-20CE08718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FB978-C0FC-B0C9-C5EA-A70E58CCA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8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2BE36-8A93-3E33-30FC-43225FC8D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F1C4D-9876-3437-F965-59AB70336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8C36D-D06C-7580-ADC4-0577720AC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F3803-24D2-25D2-F316-4F9F50C07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35D87-DB35-1005-E9E3-FE941A3F3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76C78E-2193-FE5A-8CA2-1FDF41F6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C1D0F-1955-A5BE-8A07-006E244C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1A902-148F-66E9-BDCC-B45ACEC5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C488E-7A9A-472C-0DE6-600863A3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35B88-6858-6462-3ED5-4AFB371B1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D34CF-2FD4-37D2-193B-9B7F1E34D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A9937-39D0-8B8B-F843-D7F3145C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4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7F6260-5D9B-F3B3-F677-78E9976B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0D97A-7FE1-7B6F-53C4-78B7F2E78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CF6D0-0CEB-DA65-CB91-630135173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0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16E2-3CEC-44F4-5CF0-EAD0E049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C1F44-8DAF-46F9-7A20-FA6C3142E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1ABD3-A1C9-C8BC-D015-B5D6BDAEC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6CC13-3041-27BA-6D49-FA1705AE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45160-442E-EFE3-EC6E-62731750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6EF39-3E09-46C5-BC69-A23A46C7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81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56331-0A7E-DA8E-6C19-338710CB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7FFAB-04AB-CB0E-7C6A-2670A27D5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6FBCE-61AE-9544-66E8-089D484F9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F125A-AB90-0A6F-8E00-818FD897C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8E656-168B-3C8B-4EE4-F249DFE2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BCA20-C57F-5D17-C885-873B8ADC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1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8174-2E5A-5526-F0DF-EAC388EB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845FE-0C9C-C084-6EA4-C440DA899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1783-E16B-207D-9CEB-249195B8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2A9F7-6D3A-7A1A-0325-3A1706C6A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45C5-DC4C-F24E-B808-5EB7BF44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4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6C225-6A58-9AA4-4EDA-946465C096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04A6D-44B5-5420-01B6-93106886B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57A8B-22AA-75C3-9DD3-5725EF34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3C010-6947-5A4C-7877-2269D90FA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3197-693D-AC43-7867-A54DD0D8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9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6F2C7-B981-FE78-CBC7-FA051D5D4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7F78-83E5-B755-F7D8-BA2624DA9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BE9B1-5A99-416B-F1FD-FC33964B5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DA097-B639-0048-BF92-6F8E2970377D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4BE67-B293-0C45-B779-6C1287B8B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350D9-0BF5-D193-F7FA-F4E70CD1E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FC7B2-02F4-3641-B9B8-819581988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2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5294-109D-E060-7D5F-29380C64A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6921A-132E-A40E-0727-3326ACB46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Midterm: Feb 23, 2026. In class </a:t>
            </a:r>
          </a:p>
          <a:p>
            <a:r>
              <a:rPr lang="en-US" dirty="0"/>
              <a:t>What to expect:</a:t>
            </a:r>
          </a:p>
          <a:p>
            <a:pPr lvl="1"/>
            <a:r>
              <a:rPr lang="en-US" dirty="0"/>
              <a:t>True/False</a:t>
            </a:r>
          </a:p>
          <a:p>
            <a:pPr lvl="1"/>
            <a:r>
              <a:rPr lang="en-US" dirty="0"/>
              <a:t>Short answer</a:t>
            </a:r>
          </a:p>
          <a:p>
            <a:pPr lvl="1"/>
            <a:r>
              <a:rPr lang="en-US" dirty="0"/>
              <a:t>ER diagram (simple one)</a:t>
            </a:r>
          </a:p>
          <a:p>
            <a:r>
              <a:rPr lang="en-US" dirty="0"/>
              <a:t>How to draw ER diagram: [you must write your student ID]</a:t>
            </a:r>
          </a:p>
          <a:p>
            <a:pPr lvl="1"/>
            <a:r>
              <a:rPr lang="en-US" dirty="0" err="1"/>
              <a:t>ipad</a:t>
            </a:r>
            <a:endParaRPr lang="en-US" dirty="0"/>
          </a:p>
          <a:p>
            <a:pPr lvl="1"/>
            <a:r>
              <a:rPr lang="en-US" dirty="0" err="1"/>
              <a:t>Draw.io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Paper (click picture with your phone)</a:t>
            </a:r>
          </a:p>
          <a:p>
            <a:r>
              <a:rPr lang="en-US" dirty="0"/>
              <a:t>Feb 13 (Friday): Review class</a:t>
            </a:r>
          </a:p>
          <a:p>
            <a:pPr lvl="1"/>
            <a:r>
              <a:rPr lang="en-US" dirty="0"/>
              <a:t>By Feb 11</a:t>
            </a:r>
            <a:r>
              <a:rPr lang="en-US" baseline="30000" dirty="0"/>
              <a:t>th</a:t>
            </a:r>
            <a:r>
              <a:rPr lang="en-US" dirty="0"/>
              <a:t>, email me what contents you wanted me to cover again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37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DB4DD-38D6-3A95-972E-926C137BB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Intro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6A0D7-5291-EE35-ED5B-343B006612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118562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chema&#10;&#10;AI-generated content may be incorrect.">
            <a:extLst>
              <a:ext uri="{FF2B5EF4-FFF2-40B4-BE49-F238E27FC236}">
                <a16:creationId xmlns:a16="http://schemas.microsoft.com/office/drawing/2014/main" id="{B72B64CC-05F3-DE19-F9F5-1A73FE60B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4576" y="138112"/>
            <a:ext cx="9619516" cy="6581775"/>
          </a:xfrm>
        </p:spPr>
      </p:pic>
    </p:spTree>
    <p:extLst>
      <p:ext uri="{BB962C8B-B14F-4D97-AF65-F5344CB8AC3E}">
        <p14:creationId xmlns:p14="http://schemas.microsoft.com/office/powerpoint/2010/main" val="1601807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1E7D9-E17A-6CD0-E085-F1071F2A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are going to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B93FF-D30C-AC06-599D-C15FB5823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Attend the class the learn about the queries</a:t>
            </a:r>
          </a:p>
          <a:p>
            <a:r>
              <a:rPr lang="en-US" dirty="0"/>
              <a:t>Review the slides</a:t>
            </a:r>
          </a:p>
          <a:p>
            <a:r>
              <a:rPr lang="en-US" dirty="0"/>
              <a:t>Try them by your own!</a:t>
            </a:r>
          </a:p>
          <a:p>
            <a:endParaRPr lang="en-US" dirty="0"/>
          </a:p>
        </p:txBody>
      </p:sp>
      <p:pic>
        <p:nvPicPr>
          <p:cNvPr id="5" name="Picture 4" descr="A screenshot of a computer script&#10;&#10;AI-generated content may be incorrect.">
            <a:extLst>
              <a:ext uri="{FF2B5EF4-FFF2-40B4-BE49-F238E27FC236}">
                <a16:creationId xmlns:a16="http://schemas.microsoft.com/office/drawing/2014/main" id="{7C297B64-468B-A006-5932-118361C3B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69157"/>
            <a:ext cx="4146550" cy="1917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9E4AF0-9194-7F42-3497-89B88981DB7F}"/>
              </a:ext>
            </a:extLst>
          </p:cNvPr>
          <p:cNvSpPr txBox="1"/>
          <p:nvPr/>
        </p:nvSpPr>
        <p:spPr>
          <a:xfrm>
            <a:off x="1437622" y="6025454"/>
            <a:ext cx="3214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University Database Script File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26ECC2-65F7-C1BD-E62E-11C4FA0FB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0" y="3630380"/>
            <a:ext cx="4572000" cy="23950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EDB35F-995C-6078-0174-F29F0F519DBA}"/>
              </a:ext>
            </a:extLst>
          </p:cNvPr>
          <p:cNvSpPr txBox="1"/>
          <p:nvPr/>
        </p:nvSpPr>
        <p:spPr>
          <a:xfrm>
            <a:off x="7290835" y="6226834"/>
            <a:ext cx="2182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UniversityDataPDF1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FF8407-2B70-1D01-2F6F-C3E0EE013A3B}"/>
              </a:ext>
            </a:extLst>
          </p:cNvPr>
          <p:cNvSpPr txBox="1"/>
          <p:nvPr/>
        </p:nvSpPr>
        <p:spPr>
          <a:xfrm>
            <a:off x="8934450" y="1502459"/>
            <a:ext cx="20427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Also other external</a:t>
            </a:r>
          </a:p>
          <a:p>
            <a:r>
              <a:rPr lang="en-US" dirty="0"/>
              <a:t>links</a:t>
            </a:r>
          </a:p>
        </p:txBody>
      </p:sp>
    </p:spTree>
    <p:extLst>
      <p:ext uri="{BB962C8B-B14F-4D97-AF65-F5344CB8AC3E}">
        <p14:creationId xmlns:p14="http://schemas.microsoft.com/office/powerpoint/2010/main" val="193028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42209-593B-B23E-F867-A308B020C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SQL we 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95458-A883-BD7E-2A49-5C07C66B0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execute queries against a database to answer questions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>
                <a:highlight>
                  <a:srgbClr val="FFFF00"/>
                </a:highlight>
              </a:rPr>
              <a:t>retrieve data </a:t>
            </a:r>
            <a:r>
              <a:rPr lang="en-US" dirty="0"/>
              <a:t>from a database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>
                <a:highlight>
                  <a:srgbClr val="FFFF00"/>
                </a:highlight>
              </a:rPr>
              <a:t>insert</a:t>
            </a:r>
            <a:r>
              <a:rPr lang="en-US" dirty="0"/>
              <a:t> records in a database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>
                <a:highlight>
                  <a:srgbClr val="FFFF00"/>
                </a:highlight>
              </a:rPr>
              <a:t>update</a:t>
            </a:r>
            <a:r>
              <a:rPr lang="en-US" dirty="0"/>
              <a:t> records in a database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>
                <a:highlight>
                  <a:srgbClr val="FFFF00"/>
                </a:highlight>
              </a:rPr>
              <a:t>delete</a:t>
            </a:r>
            <a:r>
              <a:rPr lang="en-US" dirty="0"/>
              <a:t> records from a database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>
                <a:highlight>
                  <a:srgbClr val="FFFF00"/>
                </a:highlight>
              </a:rPr>
              <a:t>create</a:t>
            </a:r>
            <a:r>
              <a:rPr lang="en-US" dirty="0"/>
              <a:t> new databases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>
                <a:highlight>
                  <a:srgbClr val="FFFF00"/>
                </a:highlight>
              </a:rPr>
              <a:t>create</a:t>
            </a:r>
            <a:r>
              <a:rPr lang="en-US" dirty="0"/>
              <a:t> new tables in a database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>
                <a:highlight>
                  <a:srgbClr val="FFFF00"/>
                </a:highlight>
              </a:rPr>
              <a:t>create</a:t>
            </a:r>
            <a:r>
              <a:rPr lang="en-US" dirty="0"/>
              <a:t> views in a database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>
                <a:highlight>
                  <a:srgbClr val="FFFF00"/>
                </a:highlight>
              </a:rPr>
              <a:t>set security permissions </a:t>
            </a:r>
            <a:r>
              <a:rPr lang="en-US" dirty="0"/>
              <a:t>on database objects</a:t>
            </a:r>
            <a:br>
              <a:rPr lang="en-US" dirty="0"/>
            </a:br>
            <a:r>
              <a:rPr lang="en-US" dirty="0"/>
              <a:t>• ....and more</a:t>
            </a:r>
          </a:p>
        </p:txBody>
      </p:sp>
    </p:spTree>
    <p:extLst>
      <p:ext uri="{BB962C8B-B14F-4D97-AF65-F5344CB8AC3E}">
        <p14:creationId xmlns:p14="http://schemas.microsoft.com/office/powerpoint/2010/main" val="116195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8D9B-1D60-3005-3843-360E8DE3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5DEE7-3332-6821-EC36-C0DAB7DD1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- extracts data from a database</a:t>
            </a:r>
            <a:br>
              <a:rPr lang="en-US" dirty="0"/>
            </a:br>
            <a:r>
              <a:rPr lang="en-US" dirty="0"/>
              <a:t>• UPDATE - updates data in a database</a:t>
            </a:r>
            <a:br>
              <a:rPr lang="en-US" dirty="0"/>
            </a:br>
            <a:r>
              <a:rPr lang="en-US" dirty="0"/>
              <a:t>• DELETE - deletes data from a database</a:t>
            </a:r>
            <a:br>
              <a:rPr lang="en-US" dirty="0"/>
            </a:br>
            <a:r>
              <a:rPr lang="en-US" dirty="0"/>
              <a:t>• INSERT INTO - inserts new data into a database</a:t>
            </a:r>
            <a:br>
              <a:rPr lang="en-US" dirty="0"/>
            </a:br>
            <a:r>
              <a:rPr lang="en-US" dirty="0"/>
              <a:t>• CREATE DATABASE - creates a new database</a:t>
            </a:r>
            <a:br>
              <a:rPr lang="en-US" dirty="0"/>
            </a:br>
            <a:r>
              <a:rPr lang="en-US" dirty="0"/>
              <a:t>• CREATE TABLE - creates a new table</a:t>
            </a:r>
            <a:br>
              <a:rPr lang="en-US" dirty="0"/>
            </a:br>
            <a:r>
              <a:rPr lang="en-US" dirty="0"/>
              <a:t>• ALTER TABLE - modifies a table</a:t>
            </a:r>
            <a:br>
              <a:rPr lang="en-US" dirty="0"/>
            </a:br>
            <a:r>
              <a:rPr lang="en-US" dirty="0"/>
              <a:t>• DROP TABLE - deletes a table</a:t>
            </a:r>
            <a:br>
              <a:rPr lang="en-US" dirty="0"/>
            </a:br>
            <a:r>
              <a:rPr lang="en-US" dirty="0"/>
              <a:t>• CREATE INDEX - creates an index (search key)</a:t>
            </a:r>
            <a:br>
              <a:rPr lang="en-US" dirty="0"/>
            </a:br>
            <a:r>
              <a:rPr lang="en-US" dirty="0"/>
              <a:t>• DROP INDEX - deletes an index</a:t>
            </a:r>
          </a:p>
        </p:txBody>
      </p:sp>
    </p:spTree>
    <p:extLst>
      <p:ext uri="{BB962C8B-B14F-4D97-AF65-F5344CB8AC3E}">
        <p14:creationId xmlns:p14="http://schemas.microsoft.com/office/powerpoint/2010/main" val="1074155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BD7A-35BB-561B-560B-F746B82CC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Query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67F81-96DB-3DA7-34D4-35522FF9F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typical SQL query has the form: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result of an SQL query is a relation (but it may contain duplicate tuples)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C4D28B5-1487-0D22-01CA-DECD254D5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968" y="2345623"/>
            <a:ext cx="39878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6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BBE4-6C12-D5B7-4517-E0ACBDFE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Select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B8B9-B829-C455-E6F8-504B06B73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clause lists the attributes desired in the result of a query</a:t>
            </a:r>
          </a:p>
          <a:p>
            <a:r>
              <a:rPr lang="en-US" dirty="0"/>
              <a:t>Example: find the names of all instructors:</a:t>
            </a:r>
          </a:p>
        </p:txBody>
      </p:sp>
      <p:pic>
        <p:nvPicPr>
          <p:cNvPr id="5" name="Picture 4" descr="A close-up of black text&#10;&#10;AI-generated content may be incorrect.">
            <a:extLst>
              <a:ext uri="{FF2B5EF4-FFF2-40B4-BE49-F238E27FC236}">
                <a16:creationId xmlns:a16="http://schemas.microsoft.com/office/drawing/2014/main" id="{6C23EFB5-EC73-49FF-B325-28A9B5445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144" y="3675380"/>
            <a:ext cx="36957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0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A53C-91EE-CBE9-CA0E-4DF3EFCD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Select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5CC18-F52F-6A81-FC0E-670D8E237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 </a:t>
            </a:r>
            <a:r>
              <a:rPr lang="en-US" dirty="0">
                <a:highlight>
                  <a:srgbClr val="FFFF00"/>
                </a:highlight>
              </a:rPr>
              <a:t>project operation</a:t>
            </a:r>
            <a:r>
              <a:rPr lang="en-US" dirty="0"/>
              <a:t> in Relational Algebra</a:t>
            </a:r>
          </a:p>
        </p:txBody>
      </p:sp>
      <p:pic>
        <p:nvPicPr>
          <p:cNvPr id="5" name="Picture 4" descr="A close-up of a name&#10;&#10;AI-generated content may be incorrect.">
            <a:extLst>
              <a:ext uri="{FF2B5EF4-FFF2-40B4-BE49-F238E27FC236}">
                <a16:creationId xmlns:a16="http://schemas.microsoft.com/office/drawing/2014/main" id="{2DF320AD-AA1F-D592-274E-07D5C5EA1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2730500"/>
            <a:ext cx="4686300" cy="1397000"/>
          </a:xfrm>
          <a:prstGeom prst="rect">
            <a:avLst/>
          </a:prstGeom>
        </p:spPr>
      </p:pic>
      <p:pic>
        <p:nvPicPr>
          <p:cNvPr id="7" name="Picture 6" descr="A close up of a name&#10;&#10;AI-generated content may be incorrect.">
            <a:extLst>
              <a:ext uri="{FF2B5EF4-FFF2-40B4-BE49-F238E27FC236}">
                <a16:creationId xmlns:a16="http://schemas.microsoft.com/office/drawing/2014/main" id="{4D3B0BB3-A79B-79DF-50A6-CEDE7E27B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533703"/>
            <a:ext cx="7772400" cy="99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0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692DC-C255-185B-A76A-8DB766E6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Select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1FB5E-C79E-C80C-A6A2-32329FB38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allows duplicates in relations as well as in query results</a:t>
            </a:r>
          </a:p>
          <a:p>
            <a:r>
              <a:rPr lang="en-US" dirty="0"/>
              <a:t>To </a:t>
            </a:r>
            <a:r>
              <a:rPr lang="en-US" dirty="0">
                <a:highlight>
                  <a:srgbClr val="FFFF00"/>
                </a:highlight>
              </a:rPr>
              <a:t>force the elimination </a:t>
            </a:r>
            <a:r>
              <a:rPr lang="en-US" dirty="0"/>
              <a:t>of duplicates, insert the keyword </a:t>
            </a:r>
            <a:r>
              <a:rPr lang="en-US" dirty="0">
                <a:highlight>
                  <a:srgbClr val="FFFF00"/>
                </a:highlight>
              </a:rPr>
              <a:t>distinct</a:t>
            </a:r>
            <a:r>
              <a:rPr lang="en-US" dirty="0"/>
              <a:t> after select.</a:t>
            </a:r>
          </a:p>
          <a:p>
            <a:r>
              <a:rPr lang="en-US" dirty="0"/>
              <a:t>Find the names of all departments with instructors, and remove duplicates</a:t>
            </a:r>
          </a:p>
        </p:txBody>
      </p:sp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393AF7BE-2E5F-945F-F4E3-2B84FC078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50" y="4291464"/>
            <a:ext cx="43307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7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D1AA-0702-080B-DD90-F3F6A4397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Select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324C9-4BE0-EC37-E97A-3363F8DE2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>
                <a:highlight>
                  <a:srgbClr val="FFFF00"/>
                </a:highlight>
              </a:rPr>
              <a:t>asterisk</a:t>
            </a:r>
            <a:r>
              <a:rPr lang="en-US" dirty="0"/>
              <a:t> in the select clause denotes “all attributes”</a:t>
            </a:r>
          </a:p>
          <a:p>
            <a:endParaRPr lang="en-US" dirty="0"/>
          </a:p>
          <a:p>
            <a:endParaRPr lang="en-US" dirty="0"/>
          </a:p>
          <a:p>
            <a:r>
              <a:rPr lang="en-CA" dirty="0"/>
              <a:t>The select clause can contain arithmetic expressions involving the operation, </a:t>
            </a:r>
            <a:r>
              <a:rPr lang="en-CA" dirty="0">
                <a:highlight>
                  <a:srgbClr val="FFFF00"/>
                </a:highlight>
              </a:rPr>
              <a:t>+, –, *, and / </a:t>
            </a:r>
            <a:r>
              <a:rPr lang="en-CA" dirty="0"/>
              <a:t>operating on constants or attributes of tuples.</a:t>
            </a:r>
            <a:endParaRPr lang="en-US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A81240B-132D-64D5-E251-9E63F17F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650" y="5187081"/>
            <a:ext cx="6616700" cy="1117600"/>
          </a:xfrm>
          <a:prstGeom prst="rect">
            <a:avLst/>
          </a:prstGeom>
        </p:spPr>
      </p:pic>
      <p:pic>
        <p:nvPicPr>
          <p:cNvPr id="7" name="Picture 6" descr="A close-up of a sign&#10;&#10;AI-generated content may be incorrect.">
            <a:extLst>
              <a:ext uri="{FF2B5EF4-FFF2-40B4-BE49-F238E27FC236}">
                <a16:creationId xmlns:a16="http://schemas.microsoft.com/office/drawing/2014/main" id="{521EC0DE-D630-6E97-5BA9-11E127113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332" y="2238008"/>
            <a:ext cx="28448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2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of names and numbers&#10;&#10;AI-generated content may be incorrect.">
            <a:extLst>
              <a:ext uri="{FF2B5EF4-FFF2-40B4-BE49-F238E27FC236}">
                <a16:creationId xmlns:a16="http://schemas.microsoft.com/office/drawing/2014/main" id="{3C0CCEFC-B623-6E23-4ECD-399076853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8967" y="0"/>
            <a:ext cx="5651500" cy="3835400"/>
          </a:xfrm>
        </p:spPr>
      </p:pic>
      <p:pic>
        <p:nvPicPr>
          <p:cNvPr id="7" name="Picture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B81431F4-053B-F167-E641-1C6A84889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0" y="3692224"/>
            <a:ext cx="4051300" cy="3073400"/>
          </a:xfrm>
          <a:prstGeom prst="rect">
            <a:avLst/>
          </a:prstGeom>
        </p:spPr>
      </p:pic>
      <p:pic>
        <p:nvPicPr>
          <p:cNvPr id="9" name="Picture 8" descr="A close-up of a sign&#10;&#10;AI-generated content may be incorrect.">
            <a:extLst>
              <a:ext uri="{FF2B5EF4-FFF2-40B4-BE49-F238E27FC236}">
                <a16:creationId xmlns:a16="http://schemas.microsoft.com/office/drawing/2014/main" id="{CD740A7F-E742-0708-A50E-55F7388A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856" y="0"/>
            <a:ext cx="2705100" cy="901700"/>
          </a:xfrm>
          <a:prstGeom prst="rect">
            <a:avLst/>
          </a:prstGeom>
        </p:spPr>
      </p:pic>
      <p:pic>
        <p:nvPicPr>
          <p:cNvPr id="11" name="Picture 10" descr="A close-up of black text&#10;&#10;AI-generated content may be incorrect.">
            <a:extLst>
              <a:ext uri="{FF2B5EF4-FFF2-40B4-BE49-F238E27FC236}">
                <a16:creationId xmlns:a16="http://schemas.microsoft.com/office/drawing/2014/main" id="{F599E461-24D0-BF96-5317-F4616DCCC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050" y="3431406"/>
            <a:ext cx="3505200" cy="825500"/>
          </a:xfrm>
          <a:prstGeom prst="rect">
            <a:avLst/>
          </a:prstGeom>
        </p:spPr>
      </p:pic>
      <p:pic>
        <p:nvPicPr>
          <p:cNvPr id="13" name="Picture 12" descr="A close-up of a sign&#10;&#10;AI-generated content may be incorrect.">
            <a:extLst>
              <a:ext uri="{FF2B5EF4-FFF2-40B4-BE49-F238E27FC236}">
                <a16:creationId xmlns:a16="http://schemas.microsoft.com/office/drawing/2014/main" id="{C3F8C84A-E79E-662C-C7B2-84636DFBC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9367" y="5228924"/>
            <a:ext cx="2476500" cy="901700"/>
          </a:xfrm>
          <a:prstGeom prst="rect">
            <a:avLst/>
          </a:prstGeom>
        </p:spPr>
      </p:pic>
      <p:pic>
        <p:nvPicPr>
          <p:cNvPr id="15" name="Picture 1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ECB8724-BF32-0442-C229-520BE23B92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0279" y="139700"/>
            <a:ext cx="1257300" cy="3556000"/>
          </a:xfrm>
          <a:prstGeom prst="rect">
            <a:avLst/>
          </a:prstGeom>
        </p:spPr>
      </p:pic>
      <p:pic>
        <p:nvPicPr>
          <p:cNvPr id="17" name="Picture 16" descr="A close-up of a cell phone screen&#10;&#10;AI-generated content may be incorrect.">
            <a:extLst>
              <a:ext uri="{FF2B5EF4-FFF2-40B4-BE49-F238E27FC236}">
                <a16:creationId xmlns:a16="http://schemas.microsoft.com/office/drawing/2014/main" id="{2E9F6B9E-9ECE-ECCA-47DF-B64647E8C0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0096" y="1558624"/>
            <a:ext cx="1193800" cy="2133600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9B0226-EC2D-1465-268D-07C7ED0E7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9985" y="3946826"/>
            <a:ext cx="35306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9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E8D2-E056-54AD-BDDD-F2476521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Where Clause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5E3E1-0044-8DC5-FCDD-BD3094D50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where clause specifies </a:t>
            </a:r>
            <a:r>
              <a:rPr lang="en-US" dirty="0">
                <a:highlight>
                  <a:srgbClr val="FFFF00"/>
                </a:highlight>
              </a:rPr>
              <a:t>conditions that the result must satisfy</a:t>
            </a:r>
          </a:p>
          <a:p>
            <a:r>
              <a:rPr lang="en-US" dirty="0"/>
              <a:t>Find all instructors in Comp. Sci. dept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2A0EEE9-8AC7-7FE6-D23D-5C284299D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450" y="3626452"/>
            <a:ext cx="54991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9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9260-CA14-9535-5E99-936CB746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Where Clause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1D6A-3C22-0AE3-93AE-AA7CF7CD5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Implements the </a:t>
            </a:r>
            <a:r>
              <a:rPr lang="en-US" dirty="0">
                <a:highlight>
                  <a:srgbClr val="FFFF00"/>
                </a:highlight>
              </a:rPr>
              <a:t>select operator </a:t>
            </a:r>
            <a:r>
              <a:rPr lang="en-US" dirty="0"/>
              <a:t>in Relational Algebra</a:t>
            </a:r>
          </a:p>
          <a:p>
            <a:endParaRPr lang="en-US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2ED822E-758B-C4B7-D5E5-413A49D4C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2482850"/>
            <a:ext cx="7670800" cy="1892300"/>
          </a:xfrm>
          <a:prstGeom prst="rect">
            <a:avLst/>
          </a:prstGeom>
        </p:spPr>
      </p:pic>
      <p:pic>
        <p:nvPicPr>
          <p:cNvPr id="7" name="Picture 6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877D83DD-85EA-1DAA-F388-58881F3AA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619" y="5204259"/>
            <a:ext cx="50165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1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E9B0-3315-B52B-ADA9-0482E4BB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pic>
        <p:nvPicPr>
          <p:cNvPr id="5" name="Content Placeholder 4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AEBC6487-B59A-E84D-62C5-DF75C270F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0550" y="3372644"/>
            <a:ext cx="5930900" cy="1257300"/>
          </a:xfrm>
        </p:spPr>
      </p:pic>
    </p:spTree>
    <p:extLst>
      <p:ext uri="{BB962C8B-B14F-4D97-AF65-F5344CB8AC3E}">
        <p14:creationId xmlns:p14="http://schemas.microsoft.com/office/powerpoint/2010/main" val="319344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A732-6B78-51B2-C0A5-A91B568A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And, Or, Not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46562-1392-E5B4-5B32-AE4A8795A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 results can be combined using the logical connectives and, or, and not.</a:t>
            </a:r>
          </a:p>
          <a:p>
            <a:r>
              <a:rPr lang="en-CA" dirty="0"/>
              <a:t>Find all instructors in Comp. Sci. or Finance depts with salary &gt; 80,000</a:t>
            </a:r>
            <a:endParaRPr lang="en-US" dirty="0"/>
          </a:p>
        </p:txBody>
      </p:sp>
      <p:pic>
        <p:nvPicPr>
          <p:cNvPr id="5" name="Picture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858396DC-3067-D2B0-ACEF-5EC4F9BA7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228" y="4074895"/>
            <a:ext cx="7772400" cy="178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63848-C8C1-1630-BB63-CB6DC0E69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133F4-7D15-6C0C-324E-B1ABEEE97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Find all instructors in Comp. Sci. dept but leave out Brandt</a:t>
            </a:r>
            <a:endParaRPr lang="en-US" dirty="0"/>
          </a:p>
        </p:txBody>
      </p:sp>
      <p:pic>
        <p:nvPicPr>
          <p:cNvPr id="5" name="Picture 4" descr="A black text with black text&#10;&#10;AI-generated content may be incorrect.">
            <a:extLst>
              <a:ext uri="{FF2B5EF4-FFF2-40B4-BE49-F238E27FC236}">
                <a16:creationId xmlns:a16="http://schemas.microsoft.com/office/drawing/2014/main" id="{EAA2059B-F514-0895-69F3-C9F9A1AA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432" y="3148397"/>
            <a:ext cx="7772400" cy="190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4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BADD-2BB7-FB7A-D540-041D64043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Between</a:t>
            </a:r>
          </a:p>
        </p:txBody>
      </p:sp>
      <p:pic>
        <p:nvPicPr>
          <p:cNvPr id="5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8C37EB2-4C03-D5C5-1243-0CA8CA7CC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650" y="2337594"/>
            <a:ext cx="8648700" cy="3327400"/>
          </a:xfrm>
        </p:spPr>
      </p:pic>
    </p:spTree>
    <p:extLst>
      <p:ext uri="{BB962C8B-B14F-4D97-AF65-F5344CB8AC3E}">
        <p14:creationId xmlns:p14="http://schemas.microsoft.com/office/powerpoint/2010/main" val="136134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EC572-F05B-549E-5971-82243CF2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CFC14-844E-52ED-7551-7A258C31B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37263"/>
          </a:xfrm>
        </p:spPr>
        <p:txBody>
          <a:bodyPr/>
          <a:lstStyle/>
          <a:p>
            <a:r>
              <a:rPr lang="en-CA" dirty="0"/>
              <a:t>Search for a text pattern</a:t>
            </a:r>
          </a:p>
          <a:p>
            <a:r>
              <a:rPr lang="en-CA" dirty="0"/>
              <a:t>Show me </a:t>
            </a:r>
            <a:r>
              <a:rPr lang="en-CA" b="1" dirty="0"/>
              <a:t>all instructors</a:t>
            </a:r>
            <a:r>
              <a:rPr lang="en-CA" dirty="0"/>
              <a:t> whose name </a:t>
            </a:r>
            <a:r>
              <a:rPr lang="en-CA" b="1" dirty="0"/>
              <a:t>either starts with the letter B or</a:t>
            </a:r>
            <a:r>
              <a:rPr lang="en-CA" dirty="0"/>
              <a:t> has </a:t>
            </a:r>
            <a:r>
              <a:rPr lang="en-CA" b="1" dirty="0"/>
              <a:t>‘o’ as the second letter</a:t>
            </a:r>
            <a:r>
              <a:rPr lang="en-CA" dirty="0"/>
              <a:t>.”</a:t>
            </a:r>
            <a:endParaRPr lang="en-US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F014BF6-05E3-F6D3-55FD-45063DBED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935" y="3246120"/>
            <a:ext cx="7772400" cy="24482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560010-76C3-2886-4F81-E1DBFBB2E785}"/>
              </a:ext>
            </a:extLst>
          </p:cNvPr>
          <p:cNvSpPr txBox="1"/>
          <p:nvPr/>
        </p:nvSpPr>
        <p:spPr>
          <a:xfrm>
            <a:off x="3888175" y="5938970"/>
            <a:ext cx="4206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Matches </a:t>
            </a:r>
            <a:r>
              <a:rPr lang="en-CA" b="1" dirty="0"/>
              <a:t>any name that starts with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Any name whose </a:t>
            </a:r>
            <a:r>
              <a:rPr lang="en-CA" b="1" dirty="0"/>
              <a:t>second letter is 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68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2BBA9-A4D2-45D2-AB3B-52444BFC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767C5-F764-F559-347F-4412BE6CD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possible values for an attribute</a:t>
            </a:r>
          </a:p>
          <a:p>
            <a:r>
              <a:rPr lang="en-CA" dirty="0"/>
              <a:t>Show me </a:t>
            </a:r>
            <a:r>
              <a:rPr lang="en-CA" b="1" dirty="0"/>
              <a:t>all instructors</a:t>
            </a:r>
            <a:r>
              <a:rPr lang="en-CA" dirty="0"/>
              <a:t> whose </a:t>
            </a:r>
            <a:r>
              <a:rPr lang="en-CA" b="1" dirty="0"/>
              <a:t>salary is either 72,000 or 80,000</a:t>
            </a:r>
            <a:r>
              <a:rPr lang="en-CA" dirty="0"/>
              <a:t>.</a:t>
            </a:r>
            <a:br>
              <a:rPr lang="en-CA" dirty="0"/>
            </a:br>
            <a:endParaRPr lang="en-US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C407E7C-6349-E874-092A-3CE8FEBD5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630" y="3573463"/>
            <a:ext cx="76200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0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E42B-B407-3651-CFD7-805B3973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8DFFD-9EB9-94E5-8561-D57DDACA9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Orders the output (ASC or DESC)</a:t>
            </a:r>
          </a:p>
          <a:p>
            <a:r>
              <a:rPr lang="en-US" dirty="0"/>
              <a:t>Show me all instructors, but arrange them in order of their salary, from lowest to highest.</a:t>
            </a:r>
          </a:p>
        </p:txBody>
      </p:sp>
      <p:pic>
        <p:nvPicPr>
          <p:cNvPr id="5" name="Picture 4" descr="A close-up of black text&#10;&#10;AI-generated content may be incorrect.">
            <a:extLst>
              <a:ext uri="{FF2B5EF4-FFF2-40B4-BE49-F238E27FC236}">
                <a16:creationId xmlns:a16="http://schemas.microsoft.com/office/drawing/2014/main" id="{8D8B03B5-48D5-FCEF-68E2-A37B2CA34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071" y="3661611"/>
            <a:ext cx="340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5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D261-8D07-3EFE-A5CC-79584FC6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804EA-27AB-9703-8080-A9BA8B275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Show me </a:t>
            </a:r>
            <a:r>
              <a:rPr lang="en-CA" b="1" dirty="0"/>
              <a:t>all instructors</a:t>
            </a:r>
            <a:r>
              <a:rPr lang="en-CA" dirty="0"/>
              <a:t>, but </a:t>
            </a:r>
            <a:r>
              <a:rPr lang="en-CA" b="1" dirty="0"/>
              <a:t>sort them by salary from highest to lowest</a:t>
            </a:r>
            <a:r>
              <a:rPr lang="en-CA" dirty="0"/>
              <a:t>.</a:t>
            </a:r>
          </a:p>
          <a:p>
            <a:endParaRPr lang="en-US" dirty="0"/>
          </a:p>
        </p:txBody>
      </p:sp>
      <p:pic>
        <p:nvPicPr>
          <p:cNvPr id="5" name="Picture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EA0B6EAF-E9B9-5716-4690-96F4FA399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866" y="3063173"/>
            <a:ext cx="34290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1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609</Words>
  <Application>Microsoft Macintosh PowerPoint</Application>
  <PresentationFormat>Widescreen</PresentationFormat>
  <Paragraphs>72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Announcement</vt:lpstr>
      <vt:lpstr>SQL Intro</vt:lpstr>
      <vt:lpstr>PowerPoint Presentation</vt:lpstr>
      <vt:lpstr>How we are going to learn</vt:lpstr>
      <vt:lpstr>With SQL we can</vt:lpstr>
      <vt:lpstr>Important Commands</vt:lpstr>
      <vt:lpstr>Basic Query Structure</vt:lpstr>
      <vt:lpstr>The Select Clause</vt:lpstr>
      <vt:lpstr>The Select Clause</vt:lpstr>
      <vt:lpstr>The Select Clause</vt:lpstr>
      <vt:lpstr>The Select Clause</vt:lpstr>
      <vt:lpstr>PowerPoint Presentation</vt:lpstr>
      <vt:lpstr>The Where Clause</vt:lpstr>
      <vt:lpstr>The Where Clause</vt:lpstr>
      <vt:lpstr>Operators</vt:lpstr>
      <vt:lpstr>And, Or, Not</vt:lpstr>
      <vt:lpstr>Not</vt:lpstr>
      <vt:lpstr>Between</vt:lpstr>
      <vt:lpstr>Like</vt:lpstr>
      <vt:lpstr>In</vt:lpstr>
      <vt:lpstr>Order by</vt:lpstr>
      <vt:lpstr>Order by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8</cp:revision>
  <dcterms:created xsi:type="dcterms:W3CDTF">2026-02-09T02:38:26Z</dcterms:created>
  <dcterms:modified xsi:type="dcterms:W3CDTF">2026-02-09T04:14:17Z</dcterms:modified>
</cp:coreProperties>
</file>