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89" r:id="rId3"/>
    <p:sldId id="290" r:id="rId4"/>
    <p:sldId id="257" r:id="rId5"/>
    <p:sldId id="258" r:id="rId6"/>
    <p:sldId id="259" r:id="rId7"/>
    <p:sldId id="260" r:id="rId8"/>
    <p:sldId id="272" r:id="rId9"/>
    <p:sldId id="273" r:id="rId10"/>
    <p:sldId id="274" r:id="rId11"/>
    <p:sldId id="275" r:id="rId12"/>
    <p:sldId id="278" r:id="rId13"/>
    <p:sldId id="261" r:id="rId14"/>
    <p:sldId id="270" r:id="rId15"/>
    <p:sldId id="262" r:id="rId16"/>
    <p:sldId id="271" r:id="rId17"/>
    <p:sldId id="263" r:id="rId18"/>
    <p:sldId id="264" r:id="rId19"/>
    <p:sldId id="265" r:id="rId20"/>
    <p:sldId id="280" r:id="rId21"/>
    <p:sldId id="281" r:id="rId22"/>
    <p:sldId id="279" r:id="rId23"/>
    <p:sldId id="282" r:id="rId24"/>
    <p:sldId id="266" r:id="rId25"/>
    <p:sldId id="269" r:id="rId26"/>
    <p:sldId id="268" r:id="rId27"/>
    <p:sldId id="283" r:id="rId28"/>
    <p:sldId id="284" r:id="rId29"/>
    <p:sldId id="285" r:id="rId30"/>
    <p:sldId id="286" r:id="rId31"/>
    <p:sldId id="291" r:id="rId32"/>
    <p:sldId id="287" r:id="rId33"/>
    <p:sldId id="292" r:id="rId34"/>
    <p:sldId id="288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719"/>
    <p:restoredTop sz="94638"/>
  </p:normalViewPr>
  <p:slideViewPr>
    <p:cSldViewPr snapToGrid="0">
      <p:cViewPr varScale="1">
        <p:scale>
          <a:sx n="75" d="100"/>
          <a:sy n="75" d="100"/>
        </p:scale>
        <p:origin x="160" y="2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1490A4-C082-F045-B902-207D8BAE2DA4}" type="datetimeFigureOut">
              <a:rPr lang="en-US" smtClean="0"/>
              <a:t>1/6/26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D185C9-A943-0845-A48A-88DF8D7E8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463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Data silos are isolated data collections within an organization, controlled by one department or system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making them inaccessible to others,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D185C9-A943-0845-A48A-88DF8D7E8B5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0388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D185C9-A943-0845-A48A-88DF8D7E8B5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7810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2DFE1-AC9E-2D36-2E36-923409E3A8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E903CE-79F6-CD6C-7AEC-05E945DAA7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B25FF-4BF5-A0EB-B70A-1058497AE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0B109-F92C-6B46-AD80-30A381C0C646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3C99CA-4046-FC9A-C87A-44E4F91DA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F3487-D9B7-9DFF-EEC9-6BFB44BD2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D49AC-4D3D-0E4A-AE4D-36DDB2BD0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9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A0F7F-82E8-0CF5-3260-6937B385B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9028D-8153-2AFA-C20F-62C01E566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D82DB-953B-6668-F900-20F0EB4C8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0B109-F92C-6B46-AD80-30A381C0C646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D7400-9BF3-0321-7DAC-D90DC93F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2447E-1C51-FF77-0432-B2F3F80D9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D49AC-4D3D-0E4A-AE4D-36DDB2BD0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766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6F891-20CC-D4A4-3625-C7C5329E3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0881F4-9FC9-7CC9-2F32-6764A9E0CC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4ADB8-F4AD-9C9B-57BA-E8EB306CB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0B109-F92C-6B46-AD80-30A381C0C646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E4844-27F4-FAB5-4F2E-40E99831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290BB-1882-C5CD-41C2-9A0CCA8B6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D49AC-4D3D-0E4A-AE4D-36DDB2BD0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01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CA9C6-B6B2-C53A-A486-8D56BFF53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F7A1B-4D67-3C1F-A5D5-3A061E7C1A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5CE356-B995-6802-5795-8AA85DC694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4BBFE-26F3-008F-22D6-7B0FC2E8F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0B109-F92C-6B46-AD80-30A381C0C646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D23936-6194-F54D-6A6B-DA696E87D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54E1E9-70ED-6398-B5E6-55E9B5E42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D49AC-4D3D-0E4A-AE4D-36DDB2BD0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773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E3E08-FD02-B717-89CB-A5217B91B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46102C-F9C4-187B-3D7C-BB7C1382BD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F3EE5A-EA97-F5B6-879C-E6ECAC67C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E0438B-F9D2-8957-AF02-BD3D2FD797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A423C0-6B58-FB6E-61B3-E2CF84094C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9DBEC4-2EEC-BD6F-3B16-FD1B9D214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0B109-F92C-6B46-AD80-30A381C0C646}" type="datetimeFigureOut">
              <a:rPr lang="en-US" smtClean="0"/>
              <a:t>1/6/26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13CAD0-C82C-910E-9A52-F4D28D8C9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674624-FB2A-D7F0-4717-90E2B8A41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D49AC-4D3D-0E4A-AE4D-36DDB2BD0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346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F2E39-D514-FF29-EE17-721880033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D2D86C-8B98-DD18-1D80-E12F235AA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0B109-F92C-6B46-AD80-30A381C0C646}" type="datetimeFigureOut">
              <a:rPr lang="en-US" smtClean="0"/>
              <a:t>1/6/26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E99D85-0114-27E1-9E40-763A8C6A3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FF2657-9E76-C3C0-1FAE-2FC5379E2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D49AC-4D3D-0E4A-AE4D-36DDB2BD0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767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C53ABA-09E3-D114-DA8D-B5F58C4AA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0B109-F92C-6B46-AD80-30A381C0C646}" type="datetimeFigureOut">
              <a:rPr lang="en-US" smtClean="0"/>
              <a:t>1/6/26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A9A301-5081-97DE-04FC-955D4470F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76198F-0B1D-851C-E147-4E876D0C6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D49AC-4D3D-0E4A-AE4D-36DDB2BD0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928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381F0-2A16-76F6-A02A-EE5DC7E46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F808D-C96E-C84D-F409-67CF1F0D2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6DF2EA-8032-7297-4DD0-E0149BBA73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FB2241-1F9B-8A94-0005-C63BE2EFA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0B109-F92C-6B46-AD80-30A381C0C646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92AA39-695E-B746-72C7-CB1360F53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AB74B9-83D8-D2CB-E19A-6350BCD7D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D49AC-4D3D-0E4A-AE4D-36DDB2BD0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474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9646E-7DA7-9E25-2A22-C8873A5EF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EDB50A-7E33-4CE5-F5DE-A61E3071C1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6320B4-6D87-A411-B38E-1E1196D33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393E1E-5934-3E63-A5B2-A98BFD06E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0B109-F92C-6B46-AD80-30A381C0C646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C96C60-2AA7-F941-710C-E4E704EB7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E95802-CBBA-259B-9669-01BC432FB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D49AC-4D3D-0E4A-AE4D-36DDB2BD0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308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6B21A-0475-81E3-69A6-51F8A93E5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72F467-9101-10E9-2C0B-9985B38CB5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28424-89C4-9D7A-3790-3D8B3D036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0B109-F92C-6B46-AD80-30A381C0C646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E8099-A174-C579-48E4-DB91C342F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9BB2C-B0CD-2D9B-81B4-8A9BD6852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D49AC-4D3D-0E4A-AE4D-36DDB2BD0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831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15A7A1-AD86-E54E-3555-0B7E4D64EF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277EE0-7BC9-ABB1-3B3A-0EE2B7119A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95C5A-11B3-A2D5-9ABF-D5CD1C9F3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0B109-F92C-6B46-AD80-30A381C0C646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B66F48-92B7-C06A-E597-F136F61DF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EDAF6-8670-61E7-306C-92D3D48FD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D49AC-4D3D-0E4A-AE4D-36DDB2BD0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293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EF183A-10F1-087A-4F53-3578FB628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BC9CE8-6577-60F8-47D9-A60C5A835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8D816-754E-92D7-FB97-7B717A4EFB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B0B109-F92C-6B46-AD80-30A381C0C646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C69B8-EAE5-7E1B-CEC4-672E236892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E2A37-6945-5F5E-1E83-8CFE54E122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AD49AC-4D3D-0E4A-AE4D-36DDB2BD0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307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E7844-BD6C-049C-A59B-B8E0D80BD9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DB Intro W26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E497CD-3BC7-FDC6-0ACB-DB2424C4D0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Instructor: Kazi Amit Hasan</a:t>
            </a:r>
          </a:p>
        </p:txBody>
      </p:sp>
    </p:spTree>
    <p:extLst>
      <p:ext uri="{BB962C8B-B14F-4D97-AF65-F5344CB8AC3E}">
        <p14:creationId xmlns:p14="http://schemas.microsoft.com/office/powerpoint/2010/main" val="2175084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92280-DCA1-8BFF-11A1-D0AB9165D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255E3-204B-60F1-850F-3906AC1EB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Mid term quiz: Feb 23, 2026 (in class)</a:t>
            </a:r>
          </a:p>
          <a:p>
            <a:r>
              <a:rPr lang="en-US" dirty="0"/>
              <a:t>Topics: Whatever we cover before reading week. </a:t>
            </a:r>
          </a:p>
          <a:p>
            <a:r>
              <a:rPr lang="en-US" dirty="0"/>
              <a:t>Instructor office hour: Wednesday 11.30 AM to 12.30 PM (Location will be posted in </a:t>
            </a:r>
            <a:r>
              <a:rPr lang="en-US" dirty="0" err="1"/>
              <a:t>OnQ</a:t>
            </a:r>
            <a:r>
              <a:rPr lang="en-US" dirty="0"/>
              <a:t>)</a:t>
            </a:r>
          </a:p>
          <a:p>
            <a:r>
              <a:rPr lang="en-US" dirty="0"/>
              <a:t>TA office hour: Every Wednesday 6.30PM to 8 PM (Location will be posted in </a:t>
            </a:r>
            <a:r>
              <a:rPr lang="en-US" dirty="0" err="1"/>
              <a:t>OnQ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05109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3E1D2-5A58-A7F5-DD3D-F362385C9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deadlines (Tentative)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26CFAF6-7DB8-610B-73F9-29350DE127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0985326"/>
              </p:ext>
            </p:extLst>
          </p:nvPr>
        </p:nvGraphicFramePr>
        <p:xfrm>
          <a:off x="2032000" y="2162386"/>
          <a:ext cx="8128000" cy="211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5873368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6184631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Assignment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Deadline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872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Software Setup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Jan 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8475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Project 1 (ER diagram)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Jan 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2037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Project 2 (Relational Model Implementation)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Feb 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950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Project 3 (Web application)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April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795796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24E9389-A24D-B136-7049-76655AD2817B}"/>
              </a:ext>
            </a:extLst>
          </p:cNvPr>
          <p:cNvSpPr txBox="1"/>
          <p:nvPr/>
        </p:nvSpPr>
        <p:spPr>
          <a:xfrm>
            <a:off x="1905000" y="4907280"/>
            <a:ext cx="7921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Dates are tentative. Date may change depending on what we cover in the class</a:t>
            </a:r>
          </a:p>
        </p:txBody>
      </p:sp>
    </p:spTree>
    <p:extLst>
      <p:ext uri="{BB962C8B-B14F-4D97-AF65-F5344CB8AC3E}">
        <p14:creationId xmlns:p14="http://schemas.microsoft.com/office/powerpoint/2010/main" val="2003281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4A889-3239-4BCD-7073-3EAC08970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are being generated every minute</a:t>
            </a:r>
          </a:p>
        </p:txBody>
      </p:sp>
      <p:pic>
        <p:nvPicPr>
          <p:cNvPr id="5" name="Picture 4" descr="A graph of growth in blue and white&#10;&#10;AI-generated content may be incorrect.">
            <a:extLst>
              <a:ext uri="{FF2B5EF4-FFF2-40B4-BE49-F238E27FC236}">
                <a16:creationId xmlns:a16="http://schemas.microsoft.com/office/drawing/2014/main" id="{EBCE7BBE-AA08-250D-951B-D2ACBC8B4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61" y="1429522"/>
            <a:ext cx="6362982" cy="5063353"/>
          </a:xfrm>
          <a:prstGeom prst="rect">
            <a:avLst/>
          </a:prstGeom>
        </p:spPr>
      </p:pic>
      <p:pic>
        <p:nvPicPr>
          <p:cNvPr id="7" name="Picture 6" descr="A close-up of a sign&#10;&#10;AI-generated content may be incorrect.">
            <a:extLst>
              <a:ext uri="{FF2B5EF4-FFF2-40B4-BE49-F238E27FC236}">
                <a16:creationId xmlns:a16="http://schemas.microsoft.com/office/drawing/2014/main" id="{3385B087-AA02-BC61-9799-AFD11936F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1182" y="1519881"/>
            <a:ext cx="4717707" cy="8892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5A2542-A3A3-3604-1CB8-C77DCBE4FB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7522" y="2409082"/>
            <a:ext cx="4805025" cy="36394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457F848-21DC-C8F7-651C-31A338F2A64F}"/>
              </a:ext>
            </a:extLst>
          </p:cNvPr>
          <p:cNvSpPr txBox="1"/>
          <p:nvPr/>
        </p:nvSpPr>
        <p:spPr>
          <a:xfrm>
            <a:off x="2570206" y="6390773"/>
            <a:ext cx="6738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https://</a:t>
            </a:r>
            <a:r>
              <a:rPr lang="en-US" dirty="0" err="1"/>
              <a:t>explodingtopics.com</a:t>
            </a:r>
            <a:r>
              <a:rPr lang="en-US" dirty="0"/>
              <a:t>/blog/data-generated-per-day</a:t>
            </a:r>
          </a:p>
        </p:txBody>
      </p:sp>
    </p:spTree>
    <p:extLst>
      <p:ext uri="{BB962C8B-B14F-4D97-AF65-F5344CB8AC3E}">
        <p14:creationId xmlns:p14="http://schemas.microsoft.com/office/powerpoint/2010/main" val="2662136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6F4F94-D1F5-FF23-DF89-43983FB2934E}"/>
              </a:ext>
            </a:extLst>
          </p:cNvPr>
          <p:cNvSpPr txBox="1"/>
          <p:nvPr/>
        </p:nvSpPr>
        <p:spPr>
          <a:xfrm>
            <a:off x="889686" y="1235676"/>
            <a:ext cx="1645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What is data?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74F6CA-9149-7584-C126-CD7884BDA297}"/>
              </a:ext>
            </a:extLst>
          </p:cNvPr>
          <p:cNvSpPr txBox="1"/>
          <p:nvPr/>
        </p:nvSpPr>
        <p:spPr>
          <a:xfrm>
            <a:off x="8567351" y="1235676"/>
            <a:ext cx="21493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What is database?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279CAF-94A6-8172-C5FF-BAB47C062403}"/>
              </a:ext>
            </a:extLst>
          </p:cNvPr>
          <p:cNvSpPr txBox="1"/>
          <p:nvPr/>
        </p:nvSpPr>
        <p:spPr>
          <a:xfrm>
            <a:off x="1062681" y="2088292"/>
            <a:ext cx="38880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Collection of </a:t>
            </a:r>
            <a:r>
              <a:rPr lang="en-US" dirty="0">
                <a:highlight>
                  <a:srgbClr val="FFFF00"/>
                </a:highlight>
              </a:rPr>
              <a:t>raw facts </a:t>
            </a:r>
            <a:r>
              <a:rPr lang="en-US" dirty="0"/>
              <a:t>and figures </a:t>
            </a:r>
          </a:p>
          <a:p>
            <a:pPr marL="285750" indent="-285750">
              <a:buFontTx/>
              <a:buChar char="-"/>
            </a:pPr>
            <a:r>
              <a:rPr lang="en-US" dirty="0"/>
              <a:t>Must have meanings</a:t>
            </a:r>
          </a:p>
          <a:p>
            <a:pPr marL="285750" indent="-285750">
              <a:buFontTx/>
              <a:buChar char="-"/>
            </a:pPr>
            <a:r>
              <a:rPr lang="en-US" dirty="0"/>
              <a:t>Unprocessed and unorganized </a:t>
            </a:r>
          </a:p>
          <a:p>
            <a:pPr marL="285750" indent="-285750">
              <a:buFontTx/>
              <a:buChar char="-"/>
            </a:pPr>
            <a:r>
              <a:rPr lang="en-US" dirty="0"/>
              <a:t>Ex: 101, Bus, Bird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5C704E-981A-BEA5-C22B-69F7B327EA7D}"/>
              </a:ext>
            </a:extLst>
          </p:cNvPr>
          <p:cNvSpPr txBox="1"/>
          <p:nvPr/>
        </p:nvSpPr>
        <p:spPr>
          <a:xfrm>
            <a:off x="7405816" y="2088292"/>
            <a:ext cx="41353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Organized collection </a:t>
            </a:r>
            <a:r>
              <a:rPr lang="en-US" dirty="0">
                <a:highlight>
                  <a:srgbClr val="FFFF00"/>
                </a:highlight>
              </a:rPr>
              <a:t>of related data </a:t>
            </a:r>
          </a:p>
          <a:p>
            <a:pPr marL="285750" indent="-285750">
              <a:buFontTx/>
              <a:buChar char="-"/>
            </a:pPr>
            <a:r>
              <a:rPr lang="en-US" dirty="0"/>
              <a:t>Structured and meaningful </a:t>
            </a:r>
          </a:p>
          <a:p>
            <a:pPr marL="285750" indent="-285750">
              <a:buFontTx/>
              <a:buChar char="-"/>
            </a:pPr>
            <a:r>
              <a:rPr lang="en-US" dirty="0"/>
              <a:t>Managed using Database Management System (DBMS) </a:t>
            </a:r>
          </a:p>
          <a:p>
            <a:pPr marL="285750" indent="-285750">
              <a:buFontTx/>
              <a:buChar char="-"/>
            </a:pPr>
            <a:r>
              <a:rPr lang="en-US" dirty="0"/>
              <a:t>Ex: Student database (ID, Name, Age, Grade)</a:t>
            </a:r>
          </a:p>
        </p:txBody>
      </p:sp>
    </p:spTree>
    <p:extLst>
      <p:ext uri="{BB962C8B-B14F-4D97-AF65-F5344CB8AC3E}">
        <p14:creationId xmlns:p14="http://schemas.microsoft.com/office/powerpoint/2010/main" val="3472023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164DB-7AD0-46A6-9568-8C6BB2C18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Examples of where databases are used?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DE05C5-4458-501B-AA37-E54093A2CC32}"/>
              </a:ext>
            </a:extLst>
          </p:cNvPr>
          <p:cNvSpPr txBox="1"/>
          <p:nvPr/>
        </p:nvSpPr>
        <p:spPr>
          <a:xfrm>
            <a:off x="976184" y="1816443"/>
            <a:ext cx="89117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b="1" dirty="0"/>
              <a:t>Enterprise information: 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Sales: For customers, product and purchase information 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HR department: For information about employees, salaries, payroll taxes 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Banking and finance: </a:t>
            </a:r>
            <a:r>
              <a:rPr lang="en-US" dirty="0"/>
              <a:t>For purchases on credit cards and generation of monthly statements. 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Universities</a:t>
            </a:r>
            <a:r>
              <a:rPr lang="en-US" dirty="0"/>
              <a:t>: For student information, course registrations, and grades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0188D3-1D27-C457-5668-C1E0E70CB2C5}"/>
              </a:ext>
            </a:extLst>
          </p:cNvPr>
          <p:cNvSpPr txBox="1"/>
          <p:nvPr/>
        </p:nvSpPr>
        <p:spPr>
          <a:xfrm>
            <a:off x="4077730" y="4559643"/>
            <a:ext cx="2176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Any other example? </a:t>
            </a:r>
          </a:p>
        </p:txBody>
      </p:sp>
    </p:spTree>
    <p:extLst>
      <p:ext uri="{BB962C8B-B14F-4D97-AF65-F5344CB8AC3E}">
        <p14:creationId xmlns:p14="http://schemas.microsoft.com/office/powerpoint/2010/main" val="1489138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61F4C-DEE3-FAFC-E38B-9E38B92E8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data in Database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68A272-30AB-D7F6-F51D-A8D4C61C8E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018428"/>
              </p:ext>
            </p:extLst>
          </p:nvPr>
        </p:nvGraphicFramePr>
        <p:xfrm>
          <a:off x="1661297" y="1626235"/>
          <a:ext cx="8128000" cy="3050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874913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9080431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4947322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643698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Feature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Structured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Semi-structured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Unstructured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36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Organized.</a:t>
                      </a:r>
                    </a:p>
                    <a:p>
                      <a:r>
                        <a:rPr lang="en-US" dirty="0"/>
                        <a:t>Rows and 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Partially organized.</a:t>
                      </a:r>
                    </a:p>
                    <a:p>
                      <a:r>
                        <a:rPr lang="en-US" dirty="0"/>
                        <a:t>Tags or markers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predefined format,</a:t>
                      </a:r>
                    </a:p>
                    <a:p>
                      <a:r>
                        <a:rPr lang="en-US" dirty="0"/>
                        <a:t>Raw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397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Schema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0794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Storage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CA" dirty="0"/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CA" dirty="0"/>
                    </a:p>
                  </a:txBody>
                  <a:tcPr marL="95250" marR="95250" marT="95250" marB="95250"/>
                </a:tc>
                <a:extLst>
                  <a:ext uri="{0D108BD9-81ED-4DB2-BD59-A6C34878D82A}">
                    <a16:rowId xmlns:a16="http://schemas.microsoft.com/office/drawing/2014/main" val="237804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Scalability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CA" dirty="0"/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CA" dirty="0"/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CA" dirty="0"/>
                    </a:p>
                  </a:txBody>
                  <a:tcPr marL="95250" marR="95250" marT="95250" marB="95250"/>
                </a:tc>
                <a:extLst>
                  <a:ext uri="{0D108BD9-81ED-4DB2-BD59-A6C34878D82A}">
                    <a16:rowId xmlns:a16="http://schemas.microsoft.com/office/drawing/2014/main" val="985444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CA" dirty="0"/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CA" dirty="0"/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CA" dirty="0"/>
                    </a:p>
                  </a:txBody>
                  <a:tcPr marL="95250" marR="95250" marT="95250" marB="95250"/>
                </a:tc>
                <a:extLst>
                  <a:ext uri="{0D108BD9-81ED-4DB2-BD59-A6C34878D82A}">
                    <a16:rowId xmlns:a16="http://schemas.microsoft.com/office/drawing/2014/main" val="2563038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2499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67466-C190-6FB4-5BB5-C65FFD1B5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E5A4E-387E-308E-5E4C-B85514E73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data in Database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31BD3A7-A3D8-BFC0-0A21-D318338932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6792190"/>
              </p:ext>
            </p:extLst>
          </p:nvPr>
        </p:nvGraphicFramePr>
        <p:xfrm>
          <a:off x="1661297" y="1626235"/>
          <a:ext cx="8128000" cy="35941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874913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9080431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4947322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643698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Feature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Structured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Semi-structured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Unstructured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36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Organized.</a:t>
                      </a:r>
                    </a:p>
                    <a:p>
                      <a:r>
                        <a:rPr lang="en-US" dirty="0"/>
                        <a:t>Rows and 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Partially organized.</a:t>
                      </a:r>
                    </a:p>
                    <a:p>
                      <a:r>
                        <a:rPr lang="en-US" dirty="0"/>
                        <a:t>Tags or markers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predefined format,</a:t>
                      </a:r>
                    </a:p>
                    <a:p>
                      <a:r>
                        <a:rPr lang="en-US" dirty="0"/>
                        <a:t>Raw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397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Schema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Strict, predefined</a:t>
                      </a:r>
                    </a:p>
                    <a:p>
                      <a:r>
                        <a:rPr lang="en-US" dirty="0"/>
                        <a:t>(</a:t>
                      </a:r>
                      <a:r>
                        <a:rPr lang="en-US" dirty="0" err="1"/>
                        <a:t>e.g</a:t>
                      </a:r>
                      <a:r>
                        <a:rPr lang="en-US" dirty="0"/>
                        <a:t> tables)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Flexible schema but still has metadata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schema, highly flexible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0794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Storage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CA" dirty="0"/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CA" dirty="0"/>
                    </a:p>
                  </a:txBody>
                  <a:tcPr marL="95250" marR="95250" marT="95250" marB="95250"/>
                </a:tc>
                <a:extLst>
                  <a:ext uri="{0D108BD9-81ED-4DB2-BD59-A6C34878D82A}">
                    <a16:rowId xmlns:a16="http://schemas.microsoft.com/office/drawing/2014/main" val="237804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Scalability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CA" dirty="0"/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CA" dirty="0"/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CA" dirty="0"/>
                    </a:p>
                  </a:txBody>
                  <a:tcPr marL="95250" marR="95250" marT="95250" marB="95250"/>
                </a:tc>
                <a:extLst>
                  <a:ext uri="{0D108BD9-81ED-4DB2-BD59-A6C34878D82A}">
                    <a16:rowId xmlns:a16="http://schemas.microsoft.com/office/drawing/2014/main" val="985444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CA" dirty="0"/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CA" dirty="0"/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CA" dirty="0"/>
                    </a:p>
                  </a:txBody>
                  <a:tcPr marL="95250" marR="95250" marT="95250" marB="95250"/>
                </a:tc>
                <a:extLst>
                  <a:ext uri="{0D108BD9-81ED-4DB2-BD59-A6C34878D82A}">
                    <a16:rowId xmlns:a16="http://schemas.microsoft.com/office/drawing/2014/main" val="2563038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1133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C163C-D7C4-187D-81E5-83FDA7317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6945C-BB09-4FBC-9DD2-1C84A12BD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data in Database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7578D46-2C63-3AEC-E3AF-E8C71CE591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7101945"/>
              </p:ext>
            </p:extLst>
          </p:nvPr>
        </p:nvGraphicFramePr>
        <p:xfrm>
          <a:off x="1661297" y="1626235"/>
          <a:ext cx="8128000" cy="4043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874913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9080431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4947322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643698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Feature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Structured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Semi-structured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Unstructured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36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Organized.</a:t>
                      </a:r>
                    </a:p>
                    <a:p>
                      <a:r>
                        <a:rPr lang="en-US" dirty="0"/>
                        <a:t>Rows and 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Partially organized.</a:t>
                      </a:r>
                    </a:p>
                    <a:p>
                      <a:r>
                        <a:rPr lang="en-US" dirty="0"/>
                        <a:t>Tags or markers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predefined format,</a:t>
                      </a:r>
                    </a:p>
                    <a:p>
                      <a:r>
                        <a:rPr lang="en-US" dirty="0"/>
                        <a:t>Raw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397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Schema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Strict, predefined</a:t>
                      </a:r>
                    </a:p>
                    <a:p>
                      <a:r>
                        <a:rPr lang="en-US" dirty="0"/>
                        <a:t>(</a:t>
                      </a:r>
                      <a:r>
                        <a:rPr lang="en-US" dirty="0" err="1"/>
                        <a:t>e.g</a:t>
                      </a:r>
                      <a:r>
                        <a:rPr lang="en-US" dirty="0"/>
                        <a:t> tables)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Flexible schema but still has metadata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schema, highly flexible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0794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Storage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Relational database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(SQL)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CA" dirty="0"/>
                        <a:t>JSON, XML, YAML, NoSQL database</a:t>
                      </a:r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CA" dirty="0"/>
                        <a:t>Text files, images,</a:t>
                      </a:r>
                    </a:p>
                    <a:p>
                      <a:pPr rtl="0" fontAlgn="t">
                        <a:buNone/>
                      </a:pPr>
                      <a:r>
                        <a:rPr lang="en-CA" dirty="0"/>
                        <a:t>NoSQL database</a:t>
                      </a:r>
                    </a:p>
                  </a:txBody>
                  <a:tcPr marL="95250" marR="95250" marT="95250" marB="95250"/>
                </a:tc>
                <a:extLst>
                  <a:ext uri="{0D108BD9-81ED-4DB2-BD59-A6C34878D82A}">
                    <a16:rowId xmlns:a16="http://schemas.microsoft.com/office/drawing/2014/main" val="237804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Scalability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CA" dirty="0"/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CA" dirty="0"/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CA" dirty="0"/>
                    </a:p>
                  </a:txBody>
                  <a:tcPr marL="95250" marR="95250" marT="95250" marB="95250"/>
                </a:tc>
                <a:extLst>
                  <a:ext uri="{0D108BD9-81ED-4DB2-BD59-A6C34878D82A}">
                    <a16:rowId xmlns:a16="http://schemas.microsoft.com/office/drawing/2014/main" val="985444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CA" dirty="0"/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CA" dirty="0"/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CA" dirty="0"/>
                    </a:p>
                  </a:txBody>
                  <a:tcPr marL="95250" marR="95250" marT="95250" marB="95250"/>
                </a:tc>
                <a:extLst>
                  <a:ext uri="{0D108BD9-81ED-4DB2-BD59-A6C34878D82A}">
                    <a16:rowId xmlns:a16="http://schemas.microsoft.com/office/drawing/2014/main" val="2563038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9285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A2930-54EF-98D2-8405-F81FA4ADE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4C456-19D1-25CF-A278-2731A8F6B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data in Database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52DF06D-BD9D-4497-01DF-AB51978597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558423"/>
              </p:ext>
            </p:extLst>
          </p:nvPr>
        </p:nvGraphicFramePr>
        <p:xfrm>
          <a:off x="1661297" y="1626235"/>
          <a:ext cx="8128000" cy="4592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874913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9080431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4947322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643698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Feature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Structured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Semi-structured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Unstructured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36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Organized.</a:t>
                      </a:r>
                    </a:p>
                    <a:p>
                      <a:r>
                        <a:rPr lang="en-US" dirty="0"/>
                        <a:t>Rows and 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Partially organized.</a:t>
                      </a:r>
                    </a:p>
                    <a:p>
                      <a:r>
                        <a:rPr lang="en-US" dirty="0"/>
                        <a:t>Tags or markers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predefined format,</a:t>
                      </a:r>
                    </a:p>
                    <a:p>
                      <a:r>
                        <a:rPr lang="en-US" dirty="0"/>
                        <a:t>Raw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397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Schema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Strict, predefined</a:t>
                      </a:r>
                    </a:p>
                    <a:p>
                      <a:r>
                        <a:rPr lang="en-US" dirty="0"/>
                        <a:t>(</a:t>
                      </a:r>
                      <a:r>
                        <a:rPr lang="en-US" dirty="0" err="1"/>
                        <a:t>e.g</a:t>
                      </a:r>
                      <a:r>
                        <a:rPr lang="en-US" dirty="0"/>
                        <a:t> tables)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Flexible schema but still has metadata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schema, highly flexible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0794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Storage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Relational database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(SQL)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CA" dirty="0"/>
                        <a:t>JSON, XML, YAML, NoSQL database</a:t>
                      </a:r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CA" dirty="0"/>
                        <a:t>Text files, images,</a:t>
                      </a:r>
                    </a:p>
                    <a:p>
                      <a:pPr rtl="0" fontAlgn="t">
                        <a:buNone/>
                      </a:pPr>
                      <a:r>
                        <a:rPr lang="en-CA" dirty="0"/>
                        <a:t>NoSQL database</a:t>
                      </a:r>
                    </a:p>
                  </a:txBody>
                  <a:tcPr marL="95250" marR="95250" marT="95250" marB="95250"/>
                </a:tc>
                <a:extLst>
                  <a:ext uri="{0D108BD9-81ED-4DB2-BD59-A6C34878D82A}">
                    <a16:rowId xmlns:a16="http://schemas.microsoft.com/office/drawing/2014/main" val="237804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Scalability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CA" dirty="0"/>
                        <a:t>Vertical scaling</a:t>
                      </a:r>
                    </a:p>
                    <a:p>
                      <a:pPr rtl="0" fontAlgn="t">
                        <a:buNone/>
                      </a:pPr>
                      <a:r>
                        <a:rPr lang="en-CA" dirty="0"/>
                        <a:t>(bigger server)</a:t>
                      </a:r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CA" dirty="0"/>
                        <a:t>Horizontal scaling</a:t>
                      </a:r>
                    </a:p>
                    <a:p>
                      <a:pPr rtl="0" fontAlgn="t">
                        <a:buNone/>
                      </a:pPr>
                      <a:r>
                        <a:rPr lang="en-CA" dirty="0"/>
                        <a:t>(distributed systems)</a:t>
                      </a:r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CA" dirty="0"/>
                        <a:t>Requires special storage and indexing</a:t>
                      </a:r>
                    </a:p>
                  </a:txBody>
                  <a:tcPr marL="95250" marR="95250" marT="95250" marB="95250"/>
                </a:tc>
                <a:extLst>
                  <a:ext uri="{0D108BD9-81ED-4DB2-BD59-A6C34878D82A}">
                    <a16:rowId xmlns:a16="http://schemas.microsoft.com/office/drawing/2014/main" val="985444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CA" dirty="0"/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CA" dirty="0"/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CA" dirty="0"/>
                    </a:p>
                  </a:txBody>
                  <a:tcPr marL="95250" marR="95250" marT="95250" marB="95250"/>
                </a:tc>
                <a:extLst>
                  <a:ext uri="{0D108BD9-81ED-4DB2-BD59-A6C34878D82A}">
                    <a16:rowId xmlns:a16="http://schemas.microsoft.com/office/drawing/2014/main" val="2563038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2540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80019-474B-9A73-1DF8-EC4B54CDB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7A44C-C38A-3A9D-1900-42D2B9904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data in Database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81DF282-40C8-7172-1282-FC068E5ADA78}"/>
              </a:ext>
            </a:extLst>
          </p:cNvPr>
          <p:cNvGraphicFramePr>
            <a:graphicFrameLocks noGrp="1"/>
          </p:cNvGraphicFramePr>
          <p:nvPr/>
        </p:nvGraphicFramePr>
        <p:xfrm>
          <a:off x="1661297" y="1626235"/>
          <a:ext cx="8128000" cy="4866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874913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9080431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4947322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643698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Feature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Structured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Semi-structured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Unstructured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36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Organized.</a:t>
                      </a:r>
                    </a:p>
                    <a:p>
                      <a:r>
                        <a:rPr lang="en-US" dirty="0"/>
                        <a:t>Rows and 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Partially organized.</a:t>
                      </a:r>
                    </a:p>
                    <a:p>
                      <a:r>
                        <a:rPr lang="en-US" dirty="0"/>
                        <a:t>Tags or markers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predefined format,</a:t>
                      </a:r>
                    </a:p>
                    <a:p>
                      <a:r>
                        <a:rPr lang="en-US" dirty="0"/>
                        <a:t>Raw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397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Schema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Strict, predefined</a:t>
                      </a:r>
                    </a:p>
                    <a:p>
                      <a:r>
                        <a:rPr lang="en-US" dirty="0"/>
                        <a:t>(</a:t>
                      </a:r>
                      <a:r>
                        <a:rPr lang="en-US" dirty="0" err="1"/>
                        <a:t>e.g</a:t>
                      </a:r>
                      <a:r>
                        <a:rPr lang="en-US" dirty="0"/>
                        <a:t> tables)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Flexible schema but still has metadata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schema, highly flexible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0794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Storage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Relational database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(SQL)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CA" dirty="0"/>
                        <a:t>JSON, XML, YAML, NoSQL database</a:t>
                      </a:r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CA" dirty="0"/>
                        <a:t>Text files, images,</a:t>
                      </a:r>
                    </a:p>
                    <a:p>
                      <a:pPr rtl="0" fontAlgn="t">
                        <a:buNone/>
                      </a:pPr>
                      <a:r>
                        <a:rPr lang="en-CA" dirty="0"/>
                        <a:t>NoSQL database</a:t>
                      </a:r>
                    </a:p>
                  </a:txBody>
                  <a:tcPr marL="95250" marR="95250" marT="95250" marB="95250"/>
                </a:tc>
                <a:extLst>
                  <a:ext uri="{0D108BD9-81ED-4DB2-BD59-A6C34878D82A}">
                    <a16:rowId xmlns:a16="http://schemas.microsoft.com/office/drawing/2014/main" val="237804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Scalability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CA" dirty="0"/>
                        <a:t>Vertical scaling</a:t>
                      </a:r>
                    </a:p>
                    <a:p>
                      <a:pPr rtl="0" fontAlgn="t">
                        <a:buNone/>
                      </a:pPr>
                      <a:r>
                        <a:rPr lang="en-CA" dirty="0"/>
                        <a:t>(bigger server)</a:t>
                      </a:r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CA" dirty="0"/>
                        <a:t>Horizontal scaling</a:t>
                      </a:r>
                    </a:p>
                    <a:p>
                      <a:pPr rtl="0" fontAlgn="t">
                        <a:buNone/>
                      </a:pPr>
                      <a:r>
                        <a:rPr lang="en-CA" dirty="0"/>
                        <a:t>(distributed systems)</a:t>
                      </a:r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CA" dirty="0"/>
                        <a:t>Requires special storage and indexing</a:t>
                      </a:r>
                    </a:p>
                  </a:txBody>
                  <a:tcPr marL="95250" marR="95250" marT="95250" marB="95250"/>
                </a:tc>
                <a:extLst>
                  <a:ext uri="{0D108BD9-81ED-4DB2-BD59-A6C34878D82A}">
                    <a16:rowId xmlns:a16="http://schemas.microsoft.com/office/drawing/2014/main" val="985444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CA" dirty="0"/>
                        <a:t>Customer database</a:t>
                      </a:r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CA" dirty="0"/>
                        <a:t>HTML, JSON</a:t>
                      </a:r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CA" dirty="0"/>
                        <a:t>Social media posts, images</a:t>
                      </a:r>
                    </a:p>
                  </a:txBody>
                  <a:tcPr marL="95250" marR="95250" marT="95250" marB="95250"/>
                </a:tc>
                <a:extLst>
                  <a:ext uri="{0D108BD9-81ED-4DB2-BD59-A6C34878D82A}">
                    <a16:rowId xmlns:a16="http://schemas.microsoft.com/office/drawing/2014/main" val="2563038723"/>
                  </a:ext>
                </a:extLst>
              </a:tr>
            </a:tbl>
          </a:graphicData>
        </a:graphic>
      </p:graphicFrame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2B2BA0D-D45C-9F9B-2307-5BC4BA1CB471}"/>
              </a:ext>
            </a:extLst>
          </p:cNvPr>
          <p:cNvSpPr/>
          <p:nvPr/>
        </p:nvSpPr>
        <p:spPr>
          <a:xfrm>
            <a:off x="3673098" y="3789336"/>
            <a:ext cx="1557580" cy="953145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220622-DCE3-1F0C-4FEF-80E4DA8324FC}"/>
              </a:ext>
            </a:extLst>
          </p:cNvPr>
          <p:cNvSpPr txBox="1"/>
          <p:nvPr/>
        </p:nvSpPr>
        <p:spPr>
          <a:xfrm>
            <a:off x="10345118" y="2766447"/>
            <a:ext cx="16040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I want to:</a:t>
            </a:r>
          </a:p>
          <a:p>
            <a:pPr marL="285750" indent="-285750">
              <a:buFontTx/>
              <a:buChar char="-"/>
            </a:pPr>
            <a:r>
              <a:rPr lang="en-US" dirty="0"/>
              <a:t>Update </a:t>
            </a:r>
          </a:p>
          <a:p>
            <a:pPr marL="285750" indent="-285750">
              <a:buFontTx/>
              <a:buChar char="-"/>
            </a:pPr>
            <a:r>
              <a:rPr lang="en-US" dirty="0"/>
              <a:t>Add</a:t>
            </a:r>
          </a:p>
          <a:p>
            <a:pPr marL="285750" indent="-285750">
              <a:buFontTx/>
              <a:buChar char="-"/>
            </a:pPr>
            <a:r>
              <a:rPr lang="en-US" dirty="0"/>
              <a:t>Delete </a:t>
            </a:r>
          </a:p>
          <a:p>
            <a:pPr marL="285750" indent="-285750">
              <a:buFontTx/>
              <a:buChar char="-"/>
            </a:pPr>
            <a:r>
              <a:rPr lang="en-US" dirty="0"/>
              <a:t>Create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53CB60-3700-22B6-5D77-1C7BD114FBCA}"/>
              </a:ext>
            </a:extLst>
          </p:cNvPr>
          <p:cNvSpPr txBox="1"/>
          <p:nvPr/>
        </p:nvSpPr>
        <p:spPr>
          <a:xfrm>
            <a:off x="10205634" y="4557815"/>
            <a:ext cx="1654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Need a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1E348F-9852-0B05-274E-7076F8EDFEDE}"/>
              </a:ext>
            </a:extLst>
          </p:cNvPr>
          <p:cNvSpPr txBox="1"/>
          <p:nvPr/>
        </p:nvSpPr>
        <p:spPr>
          <a:xfrm>
            <a:off x="10530703" y="5241187"/>
            <a:ext cx="795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DBMS</a:t>
            </a:r>
          </a:p>
        </p:txBody>
      </p:sp>
    </p:spTree>
    <p:extLst>
      <p:ext uri="{BB962C8B-B14F-4D97-AF65-F5344CB8AC3E}">
        <p14:creationId xmlns:p14="http://schemas.microsoft.com/office/powerpoint/2010/main" val="2381279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  <p:bldP spid="6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0934C5D-2117-ED9D-A4FD-945AFE9C5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CE24E-3C8F-6624-9B52-1FCC53CDF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data in Database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0EB454-B6C7-68C3-16D5-A07781E2EB05}"/>
              </a:ext>
            </a:extLst>
          </p:cNvPr>
          <p:cNvGraphicFramePr>
            <a:graphicFrameLocks noGrp="1"/>
          </p:cNvGraphicFramePr>
          <p:nvPr/>
        </p:nvGraphicFramePr>
        <p:xfrm>
          <a:off x="1661297" y="1626235"/>
          <a:ext cx="8128000" cy="4866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874913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9080431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4947322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643698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Feature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Structured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Semi-structured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Unstructured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36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Organized.</a:t>
                      </a:r>
                    </a:p>
                    <a:p>
                      <a:r>
                        <a:rPr lang="en-US" dirty="0"/>
                        <a:t>Rows and 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Partially organized.</a:t>
                      </a:r>
                    </a:p>
                    <a:p>
                      <a:r>
                        <a:rPr lang="en-US" dirty="0"/>
                        <a:t>Tags or markers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predefined format,</a:t>
                      </a:r>
                    </a:p>
                    <a:p>
                      <a:r>
                        <a:rPr lang="en-US" dirty="0"/>
                        <a:t>Raw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397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Schema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Strict, predefined</a:t>
                      </a:r>
                    </a:p>
                    <a:p>
                      <a:r>
                        <a:rPr lang="en-US" dirty="0"/>
                        <a:t>(</a:t>
                      </a:r>
                      <a:r>
                        <a:rPr lang="en-US" dirty="0" err="1"/>
                        <a:t>e.g</a:t>
                      </a:r>
                      <a:r>
                        <a:rPr lang="en-US" dirty="0"/>
                        <a:t> tables)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Flexible schema but still has metadata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schema, highly flexible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0794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Storage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Relational database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(SQL)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CA" dirty="0"/>
                        <a:t>JSON, XML, YAML, NoSQL database</a:t>
                      </a:r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CA" dirty="0"/>
                        <a:t>Text files, images,</a:t>
                      </a:r>
                    </a:p>
                    <a:p>
                      <a:pPr rtl="0" fontAlgn="t">
                        <a:buNone/>
                      </a:pPr>
                      <a:r>
                        <a:rPr lang="en-CA" dirty="0"/>
                        <a:t>NoSQL database</a:t>
                      </a:r>
                    </a:p>
                  </a:txBody>
                  <a:tcPr marL="95250" marR="95250" marT="95250" marB="95250"/>
                </a:tc>
                <a:extLst>
                  <a:ext uri="{0D108BD9-81ED-4DB2-BD59-A6C34878D82A}">
                    <a16:rowId xmlns:a16="http://schemas.microsoft.com/office/drawing/2014/main" val="237804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Scalability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CA" dirty="0"/>
                        <a:t>Vertical scaling</a:t>
                      </a:r>
                    </a:p>
                    <a:p>
                      <a:pPr rtl="0" fontAlgn="t">
                        <a:buNone/>
                      </a:pPr>
                      <a:r>
                        <a:rPr lang="en-CA" dirty="0"/>
                        <a:t>(bigger server)</a:t>
                      </a:r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CA" dirty="0"/>
                        <a:t>Horizontal scaling</a:t>
                      </a:r>
                    </a:p>
                    <a:p>
                      <a:pPr rtl="0" fontAlgn="t">
                        <a:buNone/>
                      </a:pPr>
                      <a:r>
                        <a:rPr lang="en-CA" dirty="0"/>
                        <a:t>(distributed systems)</a:t>
                      </a:r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CA" dirty="0"/>
                        <a:t>Requires special storage and indexing</a:t>
                      </a:r>
                    </a:p>
                  </a:txBody>
                  <a:tcPr marL="95250" marR="95250" marT="95250" marB="95250"/>
                </a:tc>
                <a:extLst>
                  <a:ext uri="{0D108BD9-81ED-4DB2-BD59-A6C34878D82A}">
                    <a16:rowId xmlns:a16="http://schemas.microsoft.com/office/drawing/2014/main" val="985444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CA" dirty="0"/>
                        <a:t>Customer database</a:t>
                      </a:r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CA" dirty="0"/>
                        <a:t>HTML, JSON</a:t>
                      </a:r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CA" dirty="0"/>
                        <a:t>Social media posts, images</a:t>
                      </a:r>
                    </a:p>
                  </a:txBody>
                  <a:tcPr marL="95250" marR="95250" marT="95250" marB="95250"/>
                </a:tc>
                <a:extLst>
                  <a:ext uri="{0D108BD9-81ED-4DB2-BD59-A6C34878D82A}">
                    <a16:rowId xmlns:a16="http://schemas.microsoft.com/office/drawing/2014/main" val="2563038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7698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01ED1-A797-929A-9B81-FAAAF7F59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Study Database?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618B5-752F-DDF8-1BA8-5DC90C1FA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6200" y="1690688"/>
            <a:ext cx="6578600" cy="59584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When is the last time you hit a database?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2408D0-491B-89B6-B061-3E354BED8C92}"/>
              </a:ext>
            </a:extLst>
          </p:cNvPr>
          <p:cNvSpPr txBox="1"/>
          <p:nvPr/>
        </p:nvSpPr>
        <p:spPr>
          <a:xfrm>
            <a:off x="880533" y="2641600"/>
            <a:ext cx="8636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is a key resource of most organization.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DBMSs are a key component in most applications: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banking, making reservations, purchasing, borrowing a book, checking your</a:t>
            </a:r>
            <a:br>
              <a:rPr lang="en-US" dirty="0"/>
            </a:br>
            <a:r>
              <a:rPr lang="en-US" dirty="0"/>
              <a:t>marks/schedule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browsing an online catalog, video-on-demand, interactive maps &amp; images,</a:t>
            </a:r>
            <a:br>
              <a:rPr lang="en-US" dirty="0"/>
            </a:br>
            <a:r>
              <a:rPr lang="en-US" dirty="0"/>
              <a:t>data warehouses, social networks, search engines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 online shopping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836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E8323-9566-607B-4FCD-58B6E7AAF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90D29-9ED0-185E-2F10-66A939CEA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Study Database?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24A23A-5550-1678-A694-C41FF8499EF3}"/>
              </a:ext>
            </a:extLst>
          </p:cNvPr>
          <p:cNvSpPr txBox="1"/>
          <p:nvPr/>
        </p:nvSpPr>
        <p:spPr>
          <a:xfrm>
            <a:off x="838200" y="1690688"/>
            <a:ext cx="8636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DB systems involve fundamental concepts in computer science</a:t>
            </a:r>
            <a:br>
              <a:rPr lang="en-CA" dirty="0"/>
            </a:br>
            <a:r>
              <a:rPr lang="en-CA" dirty="0"/>
              <a:t>◦ </a:t>
            </a:r>
            <a:r>
              <a:rPr lang="en-CA" b="1" dirty="0"/>
              <a:t>Abstraction</a:t>
            </a:r>
            <a:r>
              <a:rPr lang="en-CA" dirty="0"/>
              <a:t> – data models, languages (SQL, relational algebra)</a:t>
            </a:r>
            <a:br>
              <a:rPr lang="en-CA" dirty="0"/>
            </a:br>
            <a:r>
              <a:rPr lang="en-CA" dirty="0"/>
              <a:t>◦ </a:t>
            </a:r>
            <a:r>
              <a:rPr lang="en-CA" b="1" dirty="0"/>
              <a:t>Concurrency</a:t>
            </a:r>
            <a:r>
              <a:rPr lang="en-CA" dirty="0"/>
              <a:t> – locking, concurrency control protocols</a:t>
            </a:r>
            <a:br>
              <a:rPr lang="en-CA" dirty="0"/>
            </a:br>
            <a:r>
              <a:rPr lang="en-CA" dirty="0"/>
              <a:t>◦ </a:t>
            </a:r>
            <a:r>
              <a:rPr lang="en-CA" b="1" dirty="0"/>
              <a:t>Security</a:t>
            </a:r>
            <a:br>
              <a:rPr lang="en-CA" dirty="0"/>
            </a:br>
            <a:r>
              <a:rPr lang="en-CA" dirty="0"/>
              <a:t>◦ </a:t>
            </a:r>
            <a:r>
              <a:rPr lang="en-CA" b="1" dirty="0"/>
              <a:t>Optimization</a:t>
            </a:r>
            <a:br>
              <a:rPr lang="en-CA" dirty="0"/>
            </a:br>
            <a:r>
              <a:rPr lang="en-CA" dirty="0"/>
              <a:t>◦ </a:t>
            </a:r>
            <a:r>
              <a:rPr lang="en-CA" b="1" dirty="0"/>
              <a:t>Performance management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7617D8-5560-90EE-ACCF-F45CEFDB3818}"/>
              </a:ext>
            </a:extLst>
          </p:cNvPr>
          <p:cNvSpPr txBox="1"/>
          <p:nvPr/>
        </p:nvSpPr>
        <p:spPr>
          <a:xfrm>
            <a:off x="4842933" y="4910667"/>
            <a:ext cx="699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JOBS</a:t>
            </a:r>
          </a:p>
        </p:txBody>
      </p:sp>
    </p:spTree>
    <p:extLst>
      <p:ext uri="{BB962C8B-B14F-4D97-AF65-F5344CB8AC3E}">
        <p14:creationId xmlns:p14="http://schemas.microsoft.com/office/powerpoint/2010/main" val="2321649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847F8-5A25-22C2-9115-819DAD65D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Relational DBs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A05D2-0448-DFA5-0836-A7508D0CC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79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Relational DBMS are one of the most prevalent, successful and enduring software systems</a:t>
            </a:r>
          </a:p>
          <a:p>
            <a:pPr marL="0" indent="0">
              <a:buNone/>
            </a:pPr>
            <a:endParaRPr lang="en-US" dirty="0"/>
          </a:p>
          <a:p>
            <a:pPr>
              <a:buFontTx/>
              <a:buChar char="-"/>
            </a:pPr>
            <a:r>
              <a:rPr lang="en-US" b="1" dirty="0"/>
              <a:t>IBM DB2: 1974</a:t>
            </a:r>
          </a:p>
          <a:p>
            <a:pPr lvl="1">
              <a:buFontTx/>
              <a:buChar char="-"/>
            </a:pPr>
            <a:r>
              <a:rPr lang="en-CA" dirty="0"/>
              <a:t>IBM built a prototype called </a:t>
            </a:r>
            <a:r>
              <a:rPr lang="en-CA" b="1" dirty="0"/>
              <a:t>System-R</a:t>
            </a:r>
            <a:r>
              <a:rPr lang="en-CA" dirty="0"/>
              <a:t>. This is historically significant because it was the project that created </a:t>
            </a:r>
            <a:r>
              <a:rPr lang="en-CA" b="1" dirty="0"/>
              <a:t>SQL</a:t>
            </a:r>
            <a:r>
              <a:rPr lang="en-CA" dirty="0"/>
              <a:t> (Structured Query Language)</a:t>
            </a:r>
          </a:p>
          <a:p>
            <a:pPr lvl="1">
              <a:buFontTx/>
              <a:buChar char="-"/>
            </a:pPr>
            <a:r>
              <a:rPr lang="en-CA" dirty="0"/>
              <a:t>invented the Relational Database, but they didn't immediately sell it. </a:t>
            </a:r>
            <a:endParaRPr lang="en-US" dirty="0"/>
          </a:p>
          <a:p>
            <a:pPr>
              <a:buFontTx/>
              <a:buChar char="-"/>
            </a:pPr>
            <a:r>
              <a:rPr lang="en-US" b="1" dirty="0"/>
              <a:t>Oracle: 1977</a:t>
            </a:r>
          </a:p>
          <a:p>
            <a:pPr lvl="1">
              <a:buFontTx/>
              <a:buChar char="-"/>
            </a:pPr>
            <a:r>
              <a:rPr lang="en-CA" dirty="0"/>
              <a:t>releasing a commercial product first</a:t>
            </a:r>
          </a:p>
          <a:p>
            <a:pPr lvl="1">
              <a:buFontTx/>
              <a:buChar char="-"/>
            </a:pPr>
            <a:r>
              <a:rPr lang="en-CA" dirty="0"/>
              <a:t>became the dominant database for huge corporations and banks. </a:t>
            </a:r>
          </a:p>
          <a:p>
            <a:pPr lvl="1">
              <a:buFontTx/>
              <a:buChar char="-"/>
            </a:pPr>
            <a:r>
              <a:rPr lang="en-US" dirty="0"/>
              <a:t>Expensive and powerful</a:t>
            </a:r>
          </a:p>
        </p:txBody>
      </p:sp>
    </p:spTree>
    <p:extLst>
      <p:ext uri="{BB962C8B-B14F-4D97-AF65-F5344CB8AC3E}">
        <p14:creationId xmlns:p14="http://schemas.microsoft.com/office/powerpoint/2010/main" val="2266009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3E6E1-7628-3873-210C-45139AFA1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55054-CF95-A788-513B-59CE0BE89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Relational DBs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9E244-443B-DD8D-C8A4-57CB4CCD9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79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pPr>
              <a:buFontTx/>
              <a:buChar char="-"/>
            </a:pPr>
            <a:r>
              <a:rPr lang="en-US" b="1" dirty="0"/>
              <a:t>MySQL: 1995</a:t>
            </a:r>
          </a:p>
          <a:p>
            <a:pPr lvl="1">
              <a:buFontTx/>
              <a:buChar char="-"/>
            </a:pPr>
            <a:r>
              <a:rPr lang="en-US" dirty="0"/>
              <a:t>Two versions: Open source and enterprise</a:t>
            </a:r>
          </a:p>
          <a:p>
            <a:pPr lvl="1">
              <a:buFontTx/>
              <a:buChar char="-"/>
            </a:pPr>
            <a:r>
              <a:rPr lang="en-US" dirty="0"/>
              <a:t>Declared DBMS of the year 2019</a:t>
            </a:r>
          </a:p>
          <a:p>
            <a:pPr>
              <a:buFontTx/>
              <a:buChar char="-"/>
            </a:pPr>
            <a:r>
              <a:rPr lang="en-US" b="1" dirty="0"/>
              <a:t>Microsoft </a:t>
            </a:r>
            <a:r>
              <a:rPr lang="en-US" b="1" dirty="0" err="1"/>
              <a:t>SQLServer</a:t>
            </a:r>
            <a:r>
              <a:rPr lang="en-US" b="1" dirty="0"/>
              <a:t>: 1989</a:t>
            </a:r>
          </a:p>
          <a:p>
            <a:pPr lvl="1">
              <a:buFontTx/>
              <a:buChar char="-"/>
            </a:pPr>
            <a:r>
              <a:rPr lang="en-CA" dirty="0"/>
              <a:t>If a company uses Windows Servers and .NET code, they almost always use SQL Server. It is known for having great user interface tools</a:t>
            </a:r>
            <a:endParaRPr lang="en-US" dirty="0"/>
          </a:p>
          <a:p>
            <a:pPr>
              <a:buFontTx/>
              <a:buChar char="-"/>
            </a:pPr>
            <a:r>
              <a:rPr lang="en-US" b="1" dirty="0"/>
              <a:t>PostgreSQL: 1988</a:t>
            </a:r>
          </a:p>
          <a:p>
            <a:pPr lvl="1">
              <a:buFontTx/>
              <a:buChar char="-"/>
            </a:pPr>
            <a:r>
              <a:rPr lang="en-US" dirty="0"/>
              <a:t>Open sourced</a:t>
            </a:r>
          </a:p>
          <a:p>
            <a:pPr lvl="1">
              <a:buFontTx/>
              <a:buChar char="-"/>
            </a:pPr>
            <a:r>
              <a:rPr lang="en-US" dirty="0"/>
              <a:t>Considered as feature rich and strict than MySQL</a:t>
            </a:r>
          </a:p>
        </p:txBody>
      </p:sp>
    </p:spTree>
    <p:extLst>
      <p:ext uri="{BB962C8B-B14F-4D97-AF65-F5344CB8AC3E}">
        <p14:creationId xmlns:p14="http://schemas.microsoft.com/office/powerpoint/2010/main" val="1685000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D2262-3AC4-B03B-C288-A09E34288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Non Relational DBs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93804-D658-5060-8309-792D35D37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Other type of databases include:</a:t>
            </a:r>
          </a:p>
          <a:p>
            <a:pPr lvl="1"/>
            <a:r>
              <a:rPr lang="en-US" dirty="0"/>
              <a:t>MongoDB, CouchDB:</a:t>
            </a:r>
          </a:p>
          <a:p>
            <a:pPr lvl="2"/>
            <a:r>
              <a:rPr lang="en-US" dirty="0"/>
              <a:t>Store data as documents (</a:t>
            </a:r>
            <a:r>
              <a:rPr lang="en-US" dirty="0" err="1"/>
              <a:t>json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Redis, DynamoDB:</a:t>
            </a:r>
          </a:p>
          <a:p>
            <a:pPr lvl="2"/>
            <a:r>
              <a:rPr lang="en-US" dirty="0"/>
              <a:t>Key/value pairs</a:t>
            </a:r>
          </a:p>
          <a:p>
            <a:pPr lvl="1"/>
            <a:r>
              <a:rPr lang="en-US" dirty="0"/>
              <a:t>Cassandra, </a:t>
            </a:r>
            <a:r>
              <a:rPr lang="en-US" dirty="0" err="1"/>
              <a:t>Hbase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store data by columns (useful for data analytics applications)</a:t>
            </a:r>
          </a:p>
          <a:p>
            <a:pPr lvl="1"/>
            <a:r>
              <a:rPr lang="en-US" dirty="0"/>
              <a:t>Neo4j, Amazon Neptune </a:t>
            </a:r>
          </a:p>
          <a:p>
            <a:pPr lvl="2"/>
            <a:r>
              <a:rPr lang="en-US" dirty="0"/>
              <a:t>graph databases – useful for social networks, recommendation systems etc.</a:t>
            </a:r>
            <a:br>
              <a:rPr lang="en-US" dirty="0"/>
            </a:b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272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CCEA9-70E8-5AF3-2946-BC67A6641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CISC/CMPE 332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2CB36-0806-7F17-61A1-824478A49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683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This course focuses on the basics of Relational Systems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22706D-EF42-B43E-D10B-196D00E3EF0B}"/>
              </a:ext>
            </a:extLst>
          </p:cNvPr>
          <p:cNvSpPr txBox="1"/>
          <p:nvPr/>
        </p:nvSpPr>
        <p:spPr>
          <a:xfrm>
            <a:off x="4047067" y="3059668"/>
            <a:ext cx="4034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Why are we stuck in the “dark ages”?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68BD19-C328-B7CA-B01B-3D7FB5F885AA}"/>
              </a:ext>
            </a:extLst>
          </p:cNvPr>
          <p:cNvSpPr txBox="1"/>
          <p:nvPr/>
        </p:nvSpPr>
        <p:spPr>
          <a:xfrm>
            <a:off x="2506134" y="4282390"/>
            <a:ext cx="77467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Because these systems are still in mainstream use and the major DBMSs are</a:t>
            </a:r>
            <a:br>
              <a:rPr lang="en-CA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936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48415-5B8F-AF19-94CA-72FDBE980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Concepts and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229B0-72B5-FE81-9272-A1C66D512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Data Model: </a:t>
            </a:r>
            <a:r>
              <a:rPr lang="en-US" dirty="0"/>
              <a:t>the rules/language we use to describe data using:</a:t>
            </a:r>
          </a:p>
          <a:p>
            <a:pPr lvl="1"/>
            <a:r>
              <a:rPr lang="en-US" dirty="0"/>
              <a:t>Uses a collections of tools (diagram/specialized vocabulary)</a:t>
            </a:r>
          </a:p>
          <a:p>
            <a:r>
              <a:rPr lang="en-US" b="1" dirty="0"/>
              <a:t>Types of data model: </a:t>
            </a:r>
          </a:p>
          <a:p>
            <a:pPr lvl="1"/>
            <a:r>
              <a:rPr lang="en-US" dirty="0"/>
              <a:t>Relational Model</a:t>
            </a:r>
          </a:p>
          <a:p>
            <a:pPr lvl="1"/>
            <a:r>
              <a:rPr lang="en-US" dirty="0"/>
              <a:t>Entity Relationship (ER) Model </a:t>
            </a:r>
          </a:p>
          <a:p>
            <a:pPr lvl="1"/>
            <a:r>
              <a:rPr lang="en-US" dirty="0"/>
              <a:t>Hierarchical Model</a:t>
            </a:r>
          </a:p>
          <a:p>
            <a:pPr lvl="1"/>
            <a:r>
              <a:rPr lang="en-US" dirty="0"/>
              <a:t>Object Based Data Model</a:t>
            </a:r>
          </a:p>
          <a:p>
            <a:pPr lvl="1"/>
            <a:r>
              <a:rPr lang="en-US" dirty="0"/>
              <a:t>Network data model </a:t>
            </a:r>
            <a:r>
              <a:rPr lang="en-US" dirty="0" err="1"/>
              <a:t>etc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946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66743-1495-2904-C97E-11081A368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F95F1-00B4-A0BF-BB5C-A0DEAAED7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Concepts and Terminology</a:t>
            </a:r>
          </a:p>
        </p:txBody>
      </p:sp>
      <p:pic>
        <p:nvPicPr>
          <p:cNvPr id="5" name="Picture 4" descr="A diagram of a relationship model&#10;&#10;AI-generated content may be incorrect.">
            <a:extLst>
              <a:ext uri="{FF2B5EF4-FFF2-40B4-BE49-F238E27FC236}">
                <a16:creationId xmlns:a16="http://schemas.microsoft.com/office/drawing/2014/main" id="{0199F880-F982-EC61-B9C2-B419F86F7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6906" y="1588174"/>
            <a:ext cx="4913788" cy="3681651"/>
          </a:xfrm>
          <a:prstGeom prst="rect">
            <a:avLst/>
          </a:prstGeom>
        </p:spPr>
      </p:pic>
      <p:pic>
        <p:nvPicPr>
          <p:cNvPr id="7" name="Picture 6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5C3C2997-5F3F-0C42-F64B-F230DB6BB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44" y="1863984"/>
            <a:ext cx="5534056" cy="3681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912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ECF85-DA26-A8E0-DF02-DB74FDB13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986B6-6622-C352-5F75-BBE49FA3A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Concepts and Terminology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94A619-7E11-8675-C851-56CC7B90910A}"/>
              </a:ext>
            </a:extLst>
          </p:cNvPr>
          <p:cNvSpPr txBox="1"/>
          <p:nvPr/>
        </p:nvSpPr>
        <p:spPr>
          <a:xfrm>
            <a:off x="965201" y="1690688"/>
            <a:ext cx="91609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Semi structured data models:</a:t>
            </a:r>
          </a:p>
          <a:p>
            <a:r>
              <a:rPr lang="en-US" dirty="0"/>
              <a:t>- Permits the specification of data where individual data items of the same type have different sets of attributes. </a:t>
            </a:r>
          </a:p>
        </p:txBody>
      </p:sp>
      <p:pic>
        <p:nvPicPr>
          <p:cNvPr id="6" name="Picture 5" descr="A computer code with red text&#10;&#10;AI-generated content may be incorrect.">
            <a:extLst>
              <a:ext uri="{FF2B5EF4-FFF2-40B4-BE49-F238E27FC236}">
                <a16:creationId xmlns:a16="http://schemas.microsoft.com/office/drawing/2014/main" id="{B775E281-103C-C4C9-E84C-E0D390B19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434" y="3262312"/>
            <a:ext cx="3479800" cy="1714500"/>
          </a:xfrm>
          <a:prstGeom prst="rect">
            <a:avLst/>
          </a:prstGeom>
        </p:spPr>
      </p:pic>
      <p:pic>
        <p:nvPicPr>
          <p:cNvPr id="9" name="Picture 8" descr="A computer code with text&#10;&#10;AI-generated content may be incorrect.">
            <a:extLst>
              <a:ext uri="{FF2B5EF4-FFF2-40B4-BE49-F238E27FC236}">
                <a16:creationId xmlns:a16="http://schemas.microsoft.com/office/drawing/2014/main" id="{9F74836C-DACC-3D9B-CCC3-63129937CA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166" y="3016251"/>
            <a:ext cx="4470400" cy="2095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E99BE8A-112F-4F28-14FA-9168292D576D}"/>
              </a:ext>
            </a:extLst>
          </p:cNvPr>
          <p:cNvSpPr txBox="1"/>
          <p:nvPr/>
        </p:nvSpPr>
        <p:spPr>
          <a:xfrm>
            <a:off x="4284133" y="5621867"/>
            <a:ext cx="33739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Both are employee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Second one has an extra field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Still valid</a:t>
            </a:r>
          </a:p>
        </p:txBody>
      </p:sp>
    </p:spTree>
    <p:extLst>
      <p:ext uri="{BB962C8B-B14F-4D97-AF65-F5344CB8AC3E}">
        <p14:creationId xmlns:p14="http://schemas.microsoft.com/office/powerpoint/2010/main" val="475061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B4607-3951-21D1-9F3C-4A0C37107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D4175-C6AB-6853-565E-D87E2B301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Concepts and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DAE37-B02C-EC93-DFC4-B5F37AA65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85933" cy="4351338"/>
          </a:xfrm>
        </p:spPr>
        <p:txBody>
          <a:bodyPr>
            <a:normAutofit/>
          </a:bodyPr>
          <a:lstStyle/>
          <a:p>
            <a:r>
              <a:rPr lang="en-US" b="1" dirty="0"/>
              <a:t>Schema</a:t>
            </a:r>
            <a:r>
              <a:rPr lang="en-US" dirty="0"/>
              <a:t>: the actual description of database using data model</a:t>
            </a:r>
          </a:p>
          <a:p>
            <a:r>
              <a:rPr lang="en-US" dirty="0"/>
              <a:t>It describes:</a:t>
            </a:r>
          </a:p>
          <a:p>
            <a:pPr lvl="1"/>
            <a:r>
              <a:rPr lang="en-US" dirty="0"/>
              <a:t>What data is stored</a:t>
            </a:r>
          </a:p>
          <a:p>
            <a:pPr lvl="1"/>
            <a:r>
              <a:rPr lang="en-US" dirty="0"/>
              <a:t>How it structured</a:t>
            </a:r>
          </a:p>
          <a:p>
            <a:pPr lvl="1"/>
            <a:r>
              <a:rPr lang="en-US" dirty="0"/>
              <a:t>Relationships and constraints</a:t>
            </a:r>
          </a:p>
          <a:p>
            <a:r>
              <a:rPr lang="en-US" dirty="0"/>
              <a:t>Schema works as the final blueprint of database created using data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4FBDA2-E7BA-DA1E-A674-51B2C2E03842}"/>
              </a:ext>
            </a:extLst>
          </p:cNvPr>
          <p:cNvSpPr txBox="1"/>
          <p:nvPr/>
        </p:nvSpPr>
        <p:spPr>
          <a:xfrm>
            <a:off x="8227751" y="1825625"/>
            <a:ext cx="3126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of relational schema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8BA822-C2FE-711C-FD49-28EC7012B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2500" y="2329894"/>
            <a:ext cx="48895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613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80B2A-B0F2-FF28-C1C1-CB8262E4A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664D6-15E8-819F-CF6E-6294D7137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Concepts and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0ECAC-48B5-B71E-3A52-94FDB4771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59533" cy="4351338"/>
          </a:xfrm>
        </p:spPr>
        <p:txBody>
          <a:bodyPr>
            <a:normAutofit/>
          </a:bodyPr>
          <a:lstStyle/>
          <a:p>
            <a:r>
              <a:rPr lang="en-US" dirty="0"/>
              <a:t>Database management system (DBMS)</a:t>
            </a:r>
          </a:p>
          <a:p>
            <a:pPr lvl="1"/>
            <a:r>
              <a:rPr lang="en-US" dirty="0"/>
              <a:t>Set of programs that enable users to perform certain operations in DB</a:t>
            </a:r>
          </a:p>
          <a:p>
            <a:pPr lvl="2"/>
            <a:r>
              <a:rPr lang="en-US" dirty="0"/>
              <a:t>MySQL, DB2, Oracle</a:t>
            </a:r>
          </a:p>
        </p:txBody>
      </p:sp>
    </p:spTree>
    <p:extLst>
      <p:ext uri="{BB962C8B-B14F-4D97-AF65-F5344CB8AC3E}">
        <p14:creationId xmlns:p14="http://schemas.microsoft.com/office/powerpoint/2010/main" val="39279256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4D389-093F-84FF-8769-0E2423689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Life Before DBMSs</a:t>
            </a:r>
          </a:p>
        </p:txBody>
      </p:sp>
      <p:pic>
        <p:nvPicPr>
          <p:cNvPr id="5" name="Picture 4" descr="Stone statues of primitive men&#10;&#10;AI-generated content may be incorrect.">
            <a:extLst>
              <a:ext uri="{FF2B5EF4-FFF2-40B4-BE49-F238E27FC236}">
                <a16:creationId xmlns:a16="http://schemas.microsoft.com/office/drawing/2014/main" id="{B4943D42-8F1D-E334-6B2F-4F64308D2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8200" y="1492250"/>
            <a:ext cx="6045200" cy="387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E64D81-0030-AB21-0E2E-4D33817208DC}"/>
              </a:ext>
            </a:extLst>
          </p:cNvPr>
          <p:cNvSpPr txBox="1"/>
          <p:nvPr/>
        </p:nvSpPr>
        <p:spPr>
          <a:xfrm>
            <a:off x="558802" y="1557338"/>
            <a:ext cx="50800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Before “integrated databases” (a system managing data accessible by concurrent users):</a:t>
            </a:r>
          </a:p>
          <a:p>
            <a:endParaRPr lang="en-CA" dirty="0"/>
          </a:p>
          <a:p>
            <a:endParaRPr lang="en-CA" dirty="0"/>
          </a:p>
          <a:p>
            <a:pPr marL="285750" indent="-285750">
              <a:buFontTx/>
              <a:buChar char="-"/>
            </a:pPr>
            <a:r>
              <a:rPr lang="en-CA" dirty="0"/>
              <a:t>applications and data were tightly coupled.</a:t>
            </a:r>
          </a:p>
          <a:p>
            <a:pPr marL="285750" indent="-285750">
              <a:buFontTx/>
              <a:buChar char="-"/>
            </a:pPr>
            <a:r>
              <a:rPr lang="en-CA" dirty="0"/>
              <a:t>flat files used for data storage</a:t>
            </a:r>
          </a:p>
          <a:p>
            <a:pPr marL="285750" indent="-285750">
              <a:buFontTx/>
              <a:buChar char="-"/>
            </a:pPr>
            <a:r>
              <a:rPr lang="en-CA" dirty="0"/>
              <a:t>often storage of data was repeated</a:t>
            </a:r>
          </a:p>
          <a:p>
            <a:pPr marL="285750" indent="-285750">
              <a:buFontTx/>
              <a:buChar char="-"/>
            </a:pPr>
            <a:r>
              <a:rPr lang="en-CA" dirty="0"/>
              <a:t>data files were created specifically for that department.</a:t>
            </a:r>
          </a:p>
          <a:p>
            <a:pPr marL="285750" indent="-285750">
              <a:buFontTx/>
              <a:buChar char="-"/>
            </a:pPr>
            <a:r>
              <a:rPr lang="en-CA" dirty="0"/>
              <a:t>“data silos” – inaccessible to other departments within the same organization</a:t>
            </a:r>
            <a:br>
              <a:rPr lang="en-CA" dirty="0">
                <a:effectLst/>
              </a:rPr>
            </a:br>
            <a:br>
              <a:rPr lang="en-CA" dirty="0"/>
            </a:br>
            <a:br>
              <a:rPr lang="en-CA" dirty="0"/>
            </a:br>
            <a:endParaRPr lang="en-CA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963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77442-266A-F1E3-B3C3-7D729EC2D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Advantages of Integrated DBMS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84EA6-B8D3-470B-A213-805B932BB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950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1. Sharing of data</a:t>
            </a:r>
            <a:br>
              <a:rPr lang="en-US" dirty="0"/>
            </a:br>
            <a:r>
              <a:rPr lang="en-US" dirty="0"/>
              <a:t>2. Reduced redundancy – data stored only once (reduces errors)</a:t>
            </a:r>
            <a:br>
              <a:rPr lang="en-US" dirty="0"/>
            </a:br>
            <a:r>
              <a:rPr lang="en-US" dirty="0"/>
              <a:t>3. Data Consistency – any update only needs to be done once</a:t>
            </a:r>
            <a:br>
              <a:rPr lang="en-US" dirty="0"/>
            </a:br>
            <a:r>
              <a:rPr lang="en-US" dirty="0"/>
              <a:t>4. Better Security – all access through the DBMS – easy to track</a:t>
            </a:r>
            <a:br>
              <a:rPr lang="en-US" dirty="0"/>
            </a:br>
            <a:r>
              <a:rPr lang="en-US" dirty="0"/>
              <a:t>5. Improved Integrity – rules/constraints that the data must</a:t>
            </a:r>
            <a:br>
              <a:rPr lang="en-US" dirty="0"/>
            </a:br>
            <a:r>
              <a:rPr lang="en-US" dirty="0"/>
              <a:t>follow can be enforced by the DBMS (e.g. </a:t>
            </a:r>
            <a:r>
              <a:rPr lang="en-US" dirty="0" err="1"/>
              <a:t>prereq</a:t>
            </a:r>
            <a:r>
              <a:rPr lang="en-US" dirty="0"/>
              <a:t> courses)</a:t>
            </a:r>
            <a:br>
              <a:rPr lang="en-US" dirty="0"/>
            </a:br>
            <a:r>
              <a:rPr lang="en-US" dirty="0"/>
              <a:t>6. Faster application development &amp; decoupling of</a:t>
            </a:r>
            <a:br>
              <a:rPr lang="en-US" dirty="0"/>
            </a:br>
            <a:r>
              <a:rPr lang="en-US" dirty="0"/>
              <a:t>data/applications</a:t>
            </a:r>
            <a:br>
              <a:rPr lang="en-US" dirty="0"/>
            </a:br>
            <a:r>
              <a:rPr lang="en-US" dirty="0"/>
              <a:t>7. Concurrency control -- multiple accesses at the same time</a:t>
            </a:r>
            <a:br>
              <a:rPr lang="en-US" dirty="0"/>
            </a:br>
            <a:r>
              <a:rPr lang="en-US" dirty="0"/>
              <a:t>without interference</a:t>
            </a:r>
            <a:br>
              <a:rPr lang="en-US" dirty="0"/>
            </a:br>
            <a:r>
              <a:rPr lang="en-US" dirty="0"/>
              <a:t>8. Backup and recovery built into the DBMS</a:t>
            </a:r>
          </a:p>
        </p:txBody>
      </p:sp>
    </p:spTree>
    <p:extLst>
      <p:ext uri="{BB962C8B-B14F-4D97-AF65-F5344CB8AC3E}">
        <p14:creationId xmlns:p14="http://schemas.microsoft.com/office/powerpoint/2010/main" val="26490791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B1D95-66FF-CE6C-8011-3F88C3CC1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Human Roles in DBMSs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17392-C452-F3B1-5FB6-116A3CF43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End Users:</a:t>
            </a:r>
          </a:p>
          <a:p>
            <a:pPr lvl="1"/>
            <a:r>
              <a:rPr lang="en-CA" dirty="0"/>
              <a:t>sophisticated users who know how to query the data using a query language</a:t>
            </a:r>
          </a:p>
          <a:p>
            <a:pPr lvl="1"/>
            <a:r>
              <a:rPr lang="en-CA" dirty="0"/>
              <a:t>data scientists – using AI tools to identify patterns, relationships or trends</a:t>
            </a:r>
          </a:p>
          <a:p>
            <a:pPr lvl="1"/>
            <a:r>
              <a:rPr lang="en-CA" dirty="0"/>
              <a:t>naïve users – using applications to select specific things to do (restricted</a:t>
            </a:r>
            <a:br>
              <a:rPr lang="en-CA" dirty="0"/>
            </a:br>
            <a:r>
              <a:rPr lang="en-CA" dirty="0"/>
              <a:t>access</a:t>
            </a:r>
            <a:endParaRPr lang="en-US" dirty="0"/>
          </a:p>
          <a:p>
            <a:r>
              <a:rPr lang="en-US" b="1" dirty="0">
                <a:highlight>
                  <a:srgbClr val="FFFF00"/>
                </a:highlight>
              </a:rPr>
              <a:t>Application Programmers:</a:t>
            </a:r>
          </a:p>
          <a:p>
            <a:pPr lvl="1"/>
            <a:r>
              <a:rPr lang="en-CA" dirty="0"/>
              <a:t>programmers that build database access into their applications</a:t>
            </a:r>
            <a:endParaRPr lang="en-US" dirty="0"/>
          </a:p>
          <a:p>
            <a:r>
              <a:rPr lang="en-US" b="1" dirty="0">
                <a:highlight>
                  <a:srgbClr val="FFFF00"/>
                </a:highlight>
              </a:rPr>
              <a:t>Database Administrator:</a:t>
            </a:r>
          </a:p>
          <a:p>
            <a:pPr lvl="1"/>
            <a:r>
              <a:rPr lang="en-CA" dirty="0"/>
              <a:t>responsible for designing (maybe), securing and maintaining the database.</a:t>
            </a:r>
          </a:p>
          <a:p>
            <a:pPr lvl="1"/>
            <a:r>
              <a:rPr lang="en-CA" dirty="0"/>
              <a:t>superuser – controls who can access what data</a:t>
            </a:r>
          </a:p>
          <a:p>
            <a:pPr lvl="1"/>
            <a:r>
              <a:rPr lang="en-CA" dirty="0"/>
              <a:t>backup/restores</a:t>
            </a:r>
          </a:p>
          <a:p>
            <a:pPr lvl="1"/>
            <a:r>
              <a:rPr lang="en-CA" dirty="0"/>
              <a:t>security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014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69A57-1E24-9D26-246C-2A523D38F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Database System Environment</a:t>
            </a:r>
          </a:p>
        </p:txBody>
      </p:sp>
      <p:pic>
        <p:nvPicPr>
          <p:cNvPr id="7" name="Picture 6" descr="Diagram of software processing process&#10;&#10;AI-generated content may be incorrect.">
            <a:extLst>
              <a:ext uri="{FF2B5EF4-FFF2-40B4-BE49-F238E27FC236}">
                <a16:creationId xmlns:a16="http://schemas.microsoft.com/office/drawing/2014/main" id="{426FAEAB-0277-B533-0708-B308A00C9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1867" y="1422399"/>
            <a:ext cx="7772400" cy="48929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51725FA-CDAD-2364-8D05-B425C20D3234}"/>
              </a:ext>
            </a:extLst>
          </p:cNvPr>
          <p:cNvSpPr txBox="1"/>
          <p:nvPr/>
        </p:nvSpPr>
        <p:spPr>
          <a:xfrm>
            <a:off x="389467" y="1620309"/>
            <a:ext cx="2980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Users/Programmers do not touch the DB directly.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5754A4-FA08-8179-BE19-106A623A3817}"/>
              </a:ext>
            </a:extLst>
          </p:cNvPr>
          <p:cNvSpPr txBox="1"/>
          <p:nvPr/>
        </p:nvSpPr>
        <p:spPr>
          <a:xfrm>
            <a:off x="389467" y="2484207"/>
            <a:ext cx="29802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Represents web applications, desktop software’s, SQL queries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519CB9-4A86-E1E3-D93E-9E6C0C613BAB}"/>
              </a:ext>
            </a:extLst>
          </p:cNvPr>
          <p:cNvSpPr txBox="1"/>
          <p:nvPr/>
        </p:nvSpPr>
        <p:spPr>
          <a:xfrm>
            <a:off x="389467" y="3625104"/>
            <a:ext cx="25061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Process query, checks permissions, optimize queries </a:t>
            </a:r>
            <a:r>
              <a:rPr lang="en-US" dirty="0" err="1"/>
              <a:t>etx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22FEA4-14E3-A011-A649-BFA32DF2BE60}"/>
              </a:ext>
            </a:extLst>
          </p:cNvPr>
          <p:cNvSpPr txBox="1"/>
          <p:nvPr/>
        </p:nvSpPr>
        <p:spPr>
          <a:xfrm>
            <a:off x="389467" y="4591360"/>
            <a:ext cx="2506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Reads and writes data on disk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5035D0-C3FE-C875-FB2A-413E16BCD374}"/>
              </a:ext>
            </a:extLst>
          </p:cNvPr>
          <p:cNvSpPr txBox="1"/>
          <p:nvPr/>
        </p:nvSpPr>
        <p:spPr>
          <a:xfrm>
            <a:off x="389467" y="5237691"/>
            <a:ext cx="22013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Contains schema, definition, constraints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125A33-DE37-04AD-F275-497332487A93}"/>
              </a:ext>
            </a:extLst>
          </p:cNvPr>
          <p:cNvSpPr txBox="1"/>
          <p:nvPr/>
        </p:nvSpPr>
        <p:spPr>
          <a:xfrm>
            <a:off x="8551334" y="6315330"/>
            <a:ext cx="2263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Contains actual data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80D3CA8-B598-CB7D-D0AF-C2DA908041E6}"/>
              </a:ext>
            </a:extLst>
          </p:cNvPr>
          <p:cNvCxnSpPr>
            <a:stCxn id="8" idx="3"/>
          </p:cNvCxnSpPr>
          <p:nvPr/>
        </p:nvCxnSpPr>
        <p:spPr>
          <a:xfrm flipV="1">
            <a:off x="3369734" y="1620309"/>
            <a:ext cx="3505199" cy="3231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3E9A491-B725-F646-D218-B39629DB15A6}"/>
              </a:ext>
            </a:extLst>
          </p:cNvPr>
          <p:cNvCxnSpPr>
            <a:cxnSpLocks/>
          </p:cNvCxnSpPr>
          <p:nvPr/>
        </p:nvCxnSpPr>
        <p:spPr>
          <a:xfrm flipV="1">
            <a:off x="2895599" y="2484207"/>
            <a:ext cx="3318934" cy="5165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651BDE6-5142-91B7-F57D-DF92E3BF3A45}"/>
              </a:ext>
            </a:extLst>
          </p:cNvPr>
          <p:cNvCxnSpPr>
            <a:cxnSpLocks/>
          </p:cNvCxnSpPr>
          <p:nvPr/>
        </p:nvCxnSpPr>
        <p:spPr>
          <a:xfrm flipV="1">
            <a:off x="2895599" y="3482906"/>
            <a:ext cx="3318934" cy="5165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7AC120C-3C68-2870-6A86-04807DC56E07}"/>
              </a:ext>
            </a:extLst>
          </p:cNvPr>
          <p:cNvCxnSpPr>
            <a:cxnSpLocks/>
          </p:cNvCxnSpPr>
          <p:nvPr/>
        </p:nvCxnSpPr>
        <p:spPr>
          <a:xfrm flipV="1">
            <a:off x="2895599" y="4540180"/>
            <a:ext cx="3200401" cy="2258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2F25D03-4916-B10B-B060-76BE37731F72}"/>
              </a:ext>
            </a:extLst>
          </p:cNvPr>
          <p:cNvCxnSpPr>
            <a:cxnSpLocks/>
          </p:cNvCxnSpPr>
          <p:nvPr/>
        </p:nvCxnSpPr>
        <p:spPr>
          <a:xfrm flipV="1">
            <a:off x="2201334" y="5823275"/>
            <a:ext cx="2920999" cy="607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2348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3C55D-E4A8-ECD2-4457-892CF1CDE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Phases of Database Design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BD3D65-AF45-868B-0114-009A33595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4700" y="1690688"/>
            <a:ext cx="6792134" cy="39920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3793FD-12B2-8B3F-27EE-3FC88E37E39C}"/>
              </a:ext>
            </a:extLst>
          </p:cNvPr>
          <p:cNvSpPr txBox="1"/>
          <p:nvPr/>
        </p:nvSpPr>
        <p:spPr>
          <a:xfrm>
            <a:off x="626533" y="1930400"/>
            <a:ext cx="430106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highlight>
                  <a:srgbClr val="FFFF00"/>
                </a:highlight>
              </a:rPr>
              <a:t>Requirment Analysis: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Understand and document what the database needs to store and how users will use it.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Collect requirements, define business rules  </a:t>
            </a:r>
            <a:r>
              <a:rPr lang="en-US" dirty="0" err="1"/>
              <a:t>etc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b="1" dirty="0">
                <a:highlight>
                  <a:srgbClr val="FFFF00"/>
                </a:highlight>
              </a:rPr>
              <a:t>Conceptual Design: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C</a:t>
            </a:r>
            <a:r>
              <a:rPr lang="en-CA" dirty="0" err="1"/>
              <a:t>reate</a:t>
            </a:r>
            <a:r>
              <a:rPr lang="en-CA" dirty="0"/>
              <a:t> high-level data model independent of any specific DBMS.</a:t>
            </a:r>
          </a:p>
          <a:p>
            <a:pPr marL="742950" lvl="1" indent="-285750">
              <a:buFontTx/>
              <a:buChar char="-"/>
            </a:pPr>
            <a:r>
              <a:rPr lang="en-CA" dirty="0"/>
              <a:t>Get an ER diagram as conceptual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92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36DDE-EEF4-A08C-2DE5-811193B6D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A0F1F-0A53-2FA8-D560-2192A25D9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Phases of Database Design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49EC8E-2AF2-5C20-7171-DC71376BC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4700" y="1690688"/>
            <a:ext cx="6792134" cy="39920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B8B854-0854-850A-1C97-07393917FC26}"/>
              </a:ext>
            </a:extLst>
          </p:cNvPr>
          <p:cNvSpPr txBox="1"/>
          <p:nvPr/>
        </p:nvSpPr>
        <p:spPr>
          <a:xfrm>
            <a:off x="626533" y="1930400"/>
            <a:ext cx="430106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4. Logical Design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convert the ER diagram into a logical schema, usually relational tables.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Using primary keys, foreign keys </a:t>
            </a:r>
            <a:r>
              <a:rPr lang="en-US" dirty="0" err="1"/>
              <a:t>etc</a:t>
            </a: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Output is an implementation schema</a:t>
            </a:r>
          </a:p>
          <a:p>
            <a:r>
              <a:rPr lang="en-US" b="1" dirty="0">
                <a:highlight>
                  <a:srgbClr val="FFFF00"/>
                </a:highlight>
              </a:rPr>
              <a:t>5. Physical Design</a:t>
            </a:r>
          </a:p>
          <a:p>
            <a:pPr marL="742950" lvl="1" indent="-285750">
              <a:buFontTx/>
              <a:buChar char="-"/>
            </a:pPr>
            <a:r>
              <a:rPr lang="en-CA" dirty="0"/>
              <a:t>Specify how the logical design will be physically implemented in a particular DBMS.</a:t>
            </a:r>
          </a:p>
          <a:p>
            <a:pPr marL="742950" lvl="1" indent="-285750">
              <a:buFontTx/>
              <a:buChar char="-"/>
            </a:pPr>
            <a:r>
              <a:rPr lang="en-CA" dirty="0"/>
              <a:t>Use MySQL, choose data types, storage optimization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00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D488B-C29E-324D-4A2B-81E811B2F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 Schema DB Architecture </a:t>
            </a:r>
          </a:p>
        </p:txBody>
      </p:sp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3B4F9EEC-F42F-E8DC-8906-B239AD1BF9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97800" y="1927754"/>
            <a:ext cx="4394200" cy="27051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26CC8D-F88C-6B15-37AF-293EC17ED993}"/>
              </a:ext>
            </a:extLst>
          </p:cNvPr>
          <p:cNvSpPr txBox="1"/>
          <p:nvPr/>
        </p:nvSpPr>
        <p:spPr>
          <a:xfrm>
            <a:off x="965200" y="2099732"/>
            <a:ext cx="592666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highlight>
                  <a:srgbClr val="FFFF00"/>
                </a:highlight>
              </a:rPr>
              <a:t>External Schema (View Level):</a:t>
            </a:r>
          </a:p>
          <a:p>
            <a:pPr marL="800100" lvl="1" indent="-342900">
              <a:buAutoNum type="arabicPeriod"/>
            </a:pPr>
            <a:r>
              <a:rPr lang="en-US" dirty="0"/>
              <a:t>Highest level of abstraction, closest to end users</a:t>
            </a:r>
          </a:p>
          <a:p>
            <a:pPr marL="800100" lvl="1" indent="-342900">
              <a:buAutoNum type="arabicPeriod"/>
            </a:pPr>
            <a:r>
              <a:rPr lang="en-US" dirty="0"/>
              <a:t>Hides rest of the database from users and only presents relevant data</a:t>
            </a:r>
          </a:p>
          <a:p>
            <a:pPr marL="800100" lvl="1" indent="-342900">
              <a:buAutoNum type="arabicPeriod"/>
            </a:pPr>
            <a:r>
              <a:rPr lang="en-US" dirty="0"/>
              <a:t>Ensures security and usability</a:t>
            </a:r>
          </a:p>
          <a:p>
            <a:pPr marL="342900" indent="-342900">
              <a:buAutoNum type="arabicPeriod"/>
            </a:pPr>
            <a:r>
              <a:rPr lang="en-US" b="1" dirty="0">
                <a:highlight>
                  <a:srgbClr val="FFFF00"/>
                </a:highlight>
              </a:rPr>
              <a:t>Conceptual Schema (Logical Level)</a:t>
            </a:r>
          </a:p>
          <a:p>
            <a:pPr marL="800100" lvl="1" indent="-342900">
              <a:buAutoNum type="arabicPeriod"/>
            </a:pPr>
            <a:r>
              <a:rPr lang="en-US" dirty="0"/>
              <a:t>Describes the logical structure of the entire database</a:t>
            </a:r>
          </a:p>
          <a:p>
            <a:pPr marL="800100" lvl="1" indent="-342900">
              <a:buAutoNum type="arabicPeriod"/>
            </a:pPr>
            <a:r>
              <a:rPr lang="en-US" dirty="0"/>
              <a:t>Defines what data is stored, relationships among data </a:t>
            </a:r>
          </a:p>
          <a:p>
            <a:pPr marL="800100" lvl="1" indent="-342900">
              <a:buAutoNum type="arabicPeriod"/>
            </a:pPr>
            <a:r>
              <a:rPr lang="en-US" dirty="0"/>
              <a:t>DB Designers work at this level using data models</a:t>
            </a:r>
          </a:p>
          <a:p>
            <a:pPr marL="342900" indent="-342900">
              <a:buAutoNum type="arabicPeriod"/>
            </a:pPr>
            <a:r>
              <a:rPr lang="en-US" b="1" dirty="0">
                <a:highlight>
                  <a:srgbClr val="FFFF00"/>
                </a:highlight>
              </a:rPr>
              <a:t>Internal Schema (Physical Level):</a:t>
            </a:r>
          </a:p>
          <a:p>
            <a:pPr marL="800100" lvl="1" indent="-342900">
              <a:buAutoNum type="arabicPeriod"/>
            </a:pPr>
            <a:r>
              <a:rPr lang="en-US" dirty="0"/>
              <a:t>Lowest level of abstraction</a:t>
            </a:r>
          </a:p>
          <a:p>
            <a:pPr marL="800100" lvl="1" indent="-342900">
              <a:buAutoNum type="arabicPeriod"/>
            </a:pPr>
            <a:r>
              <a:rPr lang="en-US" dirty="0"/>
              <a:t>Deals with actual physical storage of data. </a:t>
            </a:r>
          </a:p>
          <a:p>
            <a:pPr marL="800100" lvl="1" indent="-342900">
              <a:buAutoNum type="arabicPeriod"/>
            </a:pPr>
            <a:r>
              <a:rPr lang="en-US" dirty="0"/>
              <a:t>DBA have access</a:t>
            </a:r>
          </a:p>
          <a:p>
            <a:pPr marL="800100" lvl="1" indent="-342900">
              <a:buAutoNum type="arabicPeriod"/>
            </a:pPr>
            <a:r>
              <a:rPr lang="en-US" dirty="0"/>
              <a:t>DB designers, users are unaware of these physical storage specifics </a:t>
            </a:r>
          </a:p>
        </p:txBody>
      </p:sp>
    </p:spTree>
    <p:extLst>
      <p:ext uri="{BB962C8B-B14F-4D97-AF65-F5344CB8AC3E}">
        <p14:creationId xmlns:p14="http://schemas.microsoft.com/office/powerpoint/2010/main" val="1923945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CD23D-B4D3-3A05-3C10-B5A66134C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B5F8AD6-1905-F1D4-DFA1-04226D5B403B}"/>
              </a:ext>
            </a:extLst>
          </p:cNvPr>
          <p:cNvSpPr/>
          <p:nvPr/>
        </p:nvSpPr>
        <p:spPr>
          <a:xfrm>
            <a:off x="2006599" y="2531342"/>
            <a:ext cx="2116667" cy="5757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Student view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D143151-273B-4425-C631-CD9D6094DD78}"/>
              </a:ext>
            </a:extLst>
          </p:cNvPr>
          <p:cNvSpPr/>
          <p:nvPr/>
        </p:nvSpPr>
        <p:spPr>
          <a:xfrm>
            <a:off x="4538133" y="2540000"/>
            <a:ext cx="2116667" cy="5757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Instructor view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84A9F02-078D-76A5-6AAC-260D68398E30}"/>
              </a:ext>
            </a:extLst>
          </p:cNvPr>
          <p:cNvSpPr/>
          <p:nvPr/>
        </p:nvSpPr>
        <p:spPr>
          <a:xfrm>
            <a:off x="7433733" y="2540000"/>
            <a:ext cx="2116667" cy="5757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Deans  view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FD12514-EE4B-0345-AC73-8125E1358AB8}"/>
              </a:ext>
            </a:extLst>
          </p:cNvPr>
          <p:cNvSpPr/>
          <p:nvPr/>
        </p:nvSpPr>
        <p:spPr>
          <a:xfrm>
            <a:off x="4538133" y="3743591"/>
            <a:ext cx="2116667" cy="8778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ER model/Relational model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B52AF99-2EF9-5247-2E7E-813A6B06098D}"/>
              </a:ext>
            </a:extLst>
          </p:cNvPr>
          <p:cNvSpPr/>
          <p:nvPr/>
        </p:nvSpPr>
        <p:spPr>
          <a:xfrm>
            <a:off x="4538133" y="4979723"/>
            <a:ext cx="2116667" cy="6082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Physical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0E06C7-0FF8-FF19-3814-C9EBD2E5A234}"/>
              </a:ext>
            </a:extLst>
          </p:cNvPr>
          <p:cNvSpPr txBox="1"/>
          <p:nvPr/>
        </p:nvSpPr>
        <p:spPr>
          <a:xfrm>
            <a:off x="7277099" y="3828256"/>
            <a:ext cx="38184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Student table, course table, faculty table, deans table &gt;&gt; their relationship/blueprint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0E3677-8799-9ADB-65B4-6BD7AED1ECFA}"/>
              </a:ext>
            </a:extLst>
          </p:cNvPr>
          <p:cNvSpPr txBox="1"/>
          <p:nvPr/>
        </p:nvSpPr>
        <p:spPr>
          <a:xfrm>
            <a:off x="7277099" y="5099195"/>
            <a:ext cx="3498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HDD/SDD/distributed/centralized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E548CB-5E3D-45ED-6C86-864E38994969}"/>
              </a:ext>
            </a:extLst>
          </p:cNvPr>
          <p:cNvSpPr txBox="1"/>
          <p:nvPr/>
        </p:nvSpPr>
        <p:spPr>
          <a:xfrm>
            <a:off x="152400" y="2658533"/>
            <a:ext cx="1172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View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2C2E95-EDC0-47B5-45A4-410947151586}"/>
              </a:ext>
            </a:extLst>
          </p:cNvPr>
          <p:cNvSpPr txBox="1"/>
          <p:nvPr/>
        </p:nvSpPr>
        <p:spPr>
          <a:xfrm>
            <a:off x="152400" y="4105255"/>
            <a:ext cx="1407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Logical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52F8A3-1618-E4C3-2F20-DB27EC17BC9C}"/>
              </a:ext>
            </a:extLst>
          </p:cNvPr>
          <p:cNvSpPr txBox="1"/>
          <p:nvPr/>
        </p:nvSpPr>
        <p:spPr>
          <a:xfrm>
            <a:off x="190432" y="5099195"/>
            <a:ext cx="1527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Physical level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9063AE-5CBA-ACFC-4A3B-0666270EAEA9}"/>
              </a:ext>
            </a:extLst>
          </p:cNvPr>
          <p:cNvSpPr txBox="1"/>
          <p:nvPr/>
        </p:nvSpPr>
        <p:spPr>
          <a:xfrm>
            <a:off x="3623734" y="5946244"/>
            <a:ext cx="4690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 users know where data are being stored?   </a:t>
            </a:r>
          </a:p>
        </p:txBody>
      </p:sp>
    </p:spTree>
    <p:extLst>
      <p:ext uri="{BB962C8B-B14F-4D97-AF65-F5344CB8AC3E}">
        <p14:creationId xmlns:p14="http://schemas.microsoft.com/office/powerpoint/2010/main" val="1121290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/>
      <p:bldP spid="10" grpId="0"/>
      <p:bldP spid="12" grpId="0"/>
      <p:bldP spid="13" grpId="0"/>
      <p:bldP spid="14" grpId="0"/>
      <p:bldP spid="1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435D8-E012-6FD8-5B1D-C76A8D548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F5D91-1C42-75EC-6C86-0BB020E4C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 Schema DB Architecture </a:t>
            </a:r>
          </a:p>
        </p:txBody>
      </p:sp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8306D01B-9921-0065-26C6-36CE762C2F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97800" y="1927754"/>
            <a:ext cx="4394200" cy="27051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285EEC-B5E7-6062-936F-90417B07390F}"/>
              </a:ext>
            </a:extLst>
          </p:cNvPr>
          <p:cNvSpPr txBox="1"/>
          <p:nvPr/>
        </p:nvSpPr>
        <p:spPr>
          <a:xfrm>
            <a:off x="965200" y="2099732"/>
            <a:ext cx="592666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Advantages</a:t>
            </a:r>
            <a:r>
              <a:rPr lang="en-US" dirty="0"/>
              <a:t>: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Security</a:t>
            </a:r>
          </a:p>
          <a:p>
            <a:pPr marL="342900" indent="-342900">
              <a:buAutoNum type="arabicPeriod"/>
            </a:pPr>
            <a:r>
              <a:rPr lang="en-US" dirty="0"/>
              <a:t>Flexibility</a:t>
            </a:r>
          </a:p>
          <a:p>
            <a:pPr marL="342900" indent="-342900">
              <a:buAutoNum type="arabicPeriod"/>
            </a:pPr>
            <a:r>
              <a:rPr lang="en-US" dirty="0"/>
              <a:t>Physical data independence:</a:t>
            </a:r>
          </a:p>
          <a:p>
            <a:pPr marL="800100" lvl="1" indent="-342900">
              <a:buAutoNum type="arabicPeriod"/>
            </a:pPr>
            <a:r>
              <a:rPr lang="en-CA" dirty="0"/>
              <a:t>ability to change the physical level without requiring changes to the logical level.</a:t>
            </a:r>
          </a:p>
          <a:p>
            <a:pPr marL="800100" lvl="1" indent="-342900">
              <a:buAutoNum type="arabicPeriod"/>
            </a:pPr>
            <a:r>
              <a:rPr lang="en-US" dirty="0"/>
              <a:t>Ex: change storage device</a:t>
            </a:r>
          </a:p>
          <a:p>
            <a:pPr marL="342900" indent="-342900">
              <a:buAutoNum type="arabicPeriod"/>
            </a:pPr>
            <a:r>
              <a:rPr lang="en-US" dirty="0"/>
              <a:t>Logical data independence: </a:t>
            </a:r>
          </a:p>
          <a:p>
            <a:pPr marL="800100" lvl="1" indent="-342900">
              <a:buAutoNum type="arabicPeriod"/>
            </a:pPr>
            <a:r>
              <a:rPr lang="en-US" dirty="0"/>
              <a:t>Adding/removing attributes </a:t>
            </a:r>
          </a:p>
          <a:p>
            <a:pPr marL="800100" lvl="1" indent="-342900">
              <a:buAutoNum type="arabicPeriod"/>
            </a:pPr>
            <a:r>
              <a:rPr lang="en-US" dirty="0"/>
              <a:t>Makes system more flexible and easier to maintain</a:t>
            </a:r>
          </a:p>
          <a:p>
            <a:pPr lvl="1"/>
            <a:endParaRPr lang="en-US" dirty="0"/>
          </a:p>
          <a:p>
            <a:pPr marL="800100" lvl="1" indent="-342900">
              <a:buAutoNum type="arabicPeriod"/>
            </a:pPr>
            <a:endParaRPr lang="en-US" dirty="0"/>
          </a:p>
          <a:p>
            <a:pPr marL="800100" lvl="1" indent="-3429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574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0A991-ED53-354F-700C-9417A0483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Independence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DCCD97C-EDF4-BD69-C208-EC42FF242BDD}"/>
              </a:ext>
            </a:extLst>
          </p:cNvPr>
          <p:cNvSpPr/>
          <p:nvPr/>
        </p:nvSpPr>
        <p:spPr>
          <a:xfrm>
            <a:off x="4563532" y="1870942"/>
            <a:ext cx="2116667" cy="5757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 Level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0EDD8A9-8C6D-B193-2471-704DBADA2833}"/>
              </a:ext>
            </a:extLst>
          </p:cNvPr>
          <p:cNvSpPr/>
          <p:nvPr/>
        </p:nvSpPr>
        <p:spPr>
          <a:xfrm>
            <a:off x="4563531" y="3471141"/>
            <a:ext cx="2116667" cy="5757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Logical level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168030C-D82D-6048-196A-BF2D9FC92E3C}"/>
              </a:ext>
            </a:extLst>
          </p:cNvPr>
          <p:cNvSpPr/>
          <p:nvPr/>
        </p:nvSpPr>
        <p:spPr>
          <a:xfrm>
            <a:off x="4563531" y="5071340"/>
            <a:ext cx="2116667" cy="5757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Physical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3553DE-6A7E-7CEA-2C3F-6746C3B3EB7A}"/>
              </a:ext>
            </a:extLst>
          </p:cNvPr>
          <p:cNvSpPr txBox="1"/>
          <p:nvPr/>
        </p:nvSpPr>
        <p:spPr>
          <a:xfrm>
            <a:off x="7992533" y="2692400"/>
            <a:ext cx="2872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Logical data independence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54E78E-49B2-4D03-B6A5-2F2E03B613A6}"/>
              </a:ext>
            </a:extLst>
          </p:cNvPr>
          <p:cNvSpPr txBox="1"/>
          <p:nvPr/>
        </p:nvSpPr>
        <p:spPr>
          <a:xfrm>
            <a:off x="7992533" y="4302571"/>
            <a:ext cx="2992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Physical data independence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3922C025-A02E-3442-28AC-210DA408B3BA}"/>
              </a:ext>
            </a:extLst>
          </p:cNvPr>
          <p:cNvSpPr/>
          <p:nvPr/>
        </p:nvSpPr>
        <p:spPr>
          <a:xfrm>
            <a:off x="7315200" y="4046874"/>
            <a:ext cx="321733" cy="88072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19BB5C37-CD59-47B0-2A7A-44C99EC24192}"/>
              </a:ext>
            </a:extLst>
          </p:cNvPr>
          <p:cNvSpPr/>
          <p:nvPr/>
        </p:nvSpPr>
        <p:spPr>
          <a:xfrm>
            <a:off x="7315200" y="2548274"/>
            <a:ext cx="321733" cy="88072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E52349-D8DA-4784-3318-01613B6973ED}"/>
              </a:ext>
            </a:extLst>
          </p:cNvPr>
          <p:cNvSpPr txBox="1"/>
          <p:nvPr/>
        </p:nvSpPr>
        <p:spPr>
          <a:xfrm>
            <a:off x="7943064" y="5211950"/>
            <a:ext cx="26872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Storage structure,</a:t>
            </a:r>
          </a:p>
          <a:p>
            <a:pPr marL="285750" indent="-285750">
              <a:buFontTx/>
              <a:buChar char="-"/>
            </a:pPr>
            <a:r>
              <a:rPr lang="en-US" dirty="0"/>
              <a:t>Data structure change</a:t>
            </a:r>
          </a:p>
          <a:p>
            <a:pPr marL="285750" indent="-285750">
              <a:buFontTx/>
              <a:buChar char="-"/>
            </a:pPr>
            <a:r>
              <a:rPr lang="en-US" dirty="0"/>
              <a:t>Index change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554761-AA4D-FED1-C006-A09E59C29A40}"/>
              </a:ext>
            </a:extLst>
          </p:cNvPr>
          <p:cNvSpPr txBox="1"/>
          <p:nvPr/>
        </p:nvSpPr>
        <p:spPr>
          <a:xfrm>
            <a:off x="7992533" y="3558111"/>
            <a:ext cx="2588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Adding column in table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C1716E-7196-C845-DFCE-F54163434273}"/>
              </a:ext>
            </a:extLst>
          </p:cNvPr>
          <p:cNvSpPr txBox="1"/>
          <p:nvPr/>
        </p:nvSpPr>
        <p:spPr>
          <a:xfrm>
            <a:off x="1730123" y="5838946"/>
            <a:ext cx="59068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You are using HDD to store data? If I want to switch to SSD</a:t>
            </a:r>
            <a:br>
              <a:rPr lang="en-US" dirty="0"/>
            </a:br>
            <a:r>
              <a:rPr lang="en-US" dirty="0"/>
              <a:t>- Do I need to redesign the whole DB?</a:t>
            </a:r>
          </a:p>
          <a:p>
            <a:r>
              <a:rPr lang="en-US" dirty="0"/>
              <a:t>- How will it affect the system</a:t>
            </a:r>
          </a:p>
        </p:txBody>
      </p:sp>
    </p:spTree>
    <p:extLst>
      <p:ext uri="{BB962C8B-B14F-4D97-AF65-F5344CB8AC3E}">
        <p14:creationId xmlns:p14="http://schemas.microsoft.com/office/powerpoint/2010/main" val="543970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  <p:bldP spid="9" grpId="0"/>
      <p:bldP spid="10" grpId="0" animBg="1"/>
      <p:bldP spid="11" grpId="0" animBg="1"/>
      <p:bldP spid="12" grpId="0"/>
      <p:bldP spid="1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CB0DD-B92D-FF98-F23D-6F8AD8737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Book reference: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3229A-132B-2211-1E67-25A0723DB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Database system concepts (6</a:t>
            </a:r>
            <a:r>
              <a:rPr lang="en-US" baseline="30000" dirty="0"/>
              <a:t>th</a:t>
            </a:r>
            <a:r>
              <a:rPr lang="en-US" dirty="0"/>
              <a:t> Edition) &gt;&gt; 1</a:t>
            </a:r>
            <a:r>
              <a:rPr lang="en-US" baseline="30000" dirty="0"/>
              <a:t>st</a:t>
            </a:r>
            <a:r>
              <a:rPr lang="en-US" dirty="0"/>
              <a:t> chapter </a:t>
            </a:r>
          </a:p>
          <a:p>
            <a:r>
              <a:rPr lang="en-US" dirty="0"/>
              <a:t>Recommended:</a:t>
            </a:r>
          </a:p>
          <a:p>
            <a:pPr lvl="1"/>
            <a:r>
              <a:rPr lang="en-US" dirty="0"/>
              <a:t>Look at exercises 1.7 to 1.15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Next: ER diagrams</a:t>
            </a:r>
          </a:p>
        </p:txBody>
      </p:sp>
    </p:spTree>
    <p:extLst>
      <p:ext uri="{BB962C8B-B14F-4D97-AF65-F5344CB8AC3E}">
        <p14:creationId xmlns:p14="http://schemas.microsoft.com/office/powerpoint/2010/main" val="3021774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3157</TotalTime>
  <Words>1955</Words>
  <Application>Microsoft Macintosh PowerPoint</Application>
  <PresentationFormat>Widescreen</PresentationFormat>
  <Paragraphs>380</Paragraphs>
  <Slides>34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Aptos</vt:lpstr>
      <vt:lpstr>Aptos Display</vt:lpstr>
      <vt:lpstr>Arial</vt:lpstr>
      <vt:lpstr>Office Theme</vt:lpstr>
      <vt:lpstr>DB Intro W26</vt:lpstr>
      <vt:lpstr>Important dates</vt:lpstr>
      <vt:lpstr>Assignment deadlines (Tentative)</vt:lpstr>
      <vt:lpstr>Data are being generated every minute</vt:lpstr>
      <vt:lpstr>PowerPoint Presentation</vt:lpstr>
      <vt:lpstr>Examples of where databases are used?</vt:lpstr>
      <vt:lpstr>Types of data in Database</vt:lpstr>
      <vt:lpstr>Types of data in Database</vt:lpstr>
      <vt:lpstr>Types of data in Database</vt:lpstr>
      <vt:lpstr>Types of data in Database</vt:lpstr>
      <vt:lpstr>Types of data in Database</vt:lpstr>
      <vt:lpstr>Types of data in Database</vt:lpstr>
      <vt:lpstr>Why Study Database?</vt:lpstr>
      <vt:lpstr>Why Study Database?</vt:lpstr>
      <vt:lpstr>Relational DBs</vt:lpstr>
      <vt:lpstr>Relational DBs</vt:lpstr>
      <vt:lpstr>Non Relational DBs </vt:lpstr>
      <vt:lpstr>CISC/CMPE 332</vt:lpstr>
      <vt:lpstr>Concepts and Terminology</vt:lpstr>
      <vt:lpstr>Concepts and Terminology</vt:lpstr>
      <vt:lpstr>Concepts and Terminology</vt:lpstr>
      <vt:lpstr>Concepts and Terminology</vt:lpstr>
      <vt:lpstr>Concepts and Terminology</vt:lpstr>
      <vt:lpstr>Life Before DBMSs</vt:lpstr>
      <vt:lpstr>Advantages of Integrated DBMS</vt:lpstr>
      <vt:lpstr>Human Roles in DBMSs</vt:lpstr>
      <vt:lpstr>Database System Environment</vt:lpstr>
      <vt:lpstr>Phases of Database Design</vt:lpstr>
      <vt:lpstr>Phases of Database Design</vt:lpstr>
      <vt:lpstr>3 Schema DB Architecture </vt:lpstr>
      <vt:lpstr>Example</vt:lpstr>
      <vt:lpstr>3 Schema DB Architecture </vt:lpstr>
      <vt:lpstr>Data Independence</vt:lpstr>
      <vt:lpstr>Book reference: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Kazi Amit Hasan</dc:creator>
  <cp:lastModifiedBy>Kazi Amit Hasan</cp:lastModifiedBy>
  <cp:revision>6</cp:revision>
  <dcterms:created xsi:type="dcterms:W3CDTF">2026-01-06T20:58:22Z</dcterms:created>
  <dcterms:modified xsi:type="dcterms:W3CDTF">2026-01-09T01:35:36Z</dcterms:modified>
</cp:coreProperties>
</file>