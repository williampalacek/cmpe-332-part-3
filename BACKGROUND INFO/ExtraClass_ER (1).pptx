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7" r:id="rId18"/>
    <p:sldId id="274" r:id="rId19"/>
    <p:sldId id="275" r:id="rId20"/>
    <p:sldId id="276"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589"/>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41AB3-63AA-6720-ED8E-F9C900580D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D5187-E78F-A2F7-ABCC-FF259CEDA3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5C8BBB-83A9-A2F8-111A-6109D8838419}"/>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DF6D1367-4706-3B0B-6AF7-C1EC5F1EC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93539A-50CC-7439-0844-F3D70BD0C8DE}"/>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2127597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03026-3802-7B1D-F527-5FD4D45CDC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D257A0-66C7-7407-9F94-25A3993499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7CD7C-B9DC-ABE5-A6E2-5D5719B7515A}"/>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D14B8B0D-B9CB-EE7E-B337-29604BD18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301A4-32B6-A9CF-2035-EFDC93016198}"/>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1703037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536CE-FA6E-6D17-A489-71649A843C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13144B-3BD6-A777-B812-9CD82462FA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2693AB-599F-6D31-5929-32B235F1783E}"/>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92FA7732-2964-EB05-675E-574DEAF0B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98436-E682-32CB-CC31-77A031BA026D}"/>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1456709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3639-E2AD-D920-F0A8-89BBE8DE78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66748-7943-7326-EEE5-5C6FA5FA47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E34499-F1EC-543E-D4AD-4A781A86E1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91AE24-C2ED-1F56-E710-1EA967A46B86}"/>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6" name="Footer Placeholder 5">
            <a:extLst>
              <a:ext uri="{FF2B5EF4-FFF2-40B4-BE49-F238E27FC236}">
                <a16:creationId xmlns:a16="http://schemas.microsoft.com/office/drawing/2014/main" id="{0B22FFC9-5DFD-60B2-F599-F7FFB424AE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EBC6F6-01BD-A257-E60A-94DEA7D7072F}"/>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1979404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13FB-41B3-BE8F-E9A4-3393414912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A60B3C-00CD-20FA-0B97-15B831DB1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023797-FF59-8309-0ABA-6B429F962F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6EB397-7777-1449-36A3-F00535DE1B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5798A5-ECB1-09AB-4A34-FB997F7CE3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1F6558-DC6B-C835-5F98-8CD03CB02C34}"/>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8" name="Footer Placeholder 7">
            <a:extLst>
              <a:ext uri="{FF2B5EF4-FFF2-40B4-BE49-F238E27FC236}">
                <a16:creationId xmlns:a16="http://schemas.microsoft.com/office/drawing/2014/main" id="{1A10B81F-D2DF-F296-6694-3469CE07FD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23C336-8704-BFDC-8F09-86F4424FDE62}"/>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3328265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1A5FB-8514-4DEE-AFE2-2508D4B952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0E9D3B-57E0-3CE4-D61A-041D84B6A387}"/>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4" name="Footer Placeholder 3">
            <a:extLst>
              <a:ext uri="{FF2B5EF4-FFF2-40B4-BE49-F238E27FC236}">
                <a16:creationId xmlns:a16="http://schemas.microsoft.com/office/drawing/2014/main" id="{79BD5075-B5D3-A510-BD48-992FA6D5A1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247C48-F05F-05C1-3376-8201468BE2C8}"/>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2859066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004A04-F457-0245-CC1D-78CDDE725B47}"/>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3" name="Footer Placeholder 2">
            <a:extLst>
              <a:ext uri="{FF2B5EF4-FFF2-40B4-BE49-F238E27FC236}">
                <a16:creationId xmlns:a16="http://schemas.microsoft.com/office/drawing/2014/main" id="{C9B4191E-C41B-C4F4-AFCB-B32954EE53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81E30E-0389-8500-2B95-175465A267BD}"/>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323542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F72D9-83A2-5880-222F-7F243F41F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9B2556-066E-D1F3-6479-D4FCC688CF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D927C2-D193-0286-EC68-7DD8366548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25A2F-F3BA-9694-B3FF-540E46F52D34}"/>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6" name="Footer Placeholder 5">
            <a:extLst>
              <a:ext uri="{FF2B5EF4-FFF2-40B4-BE49-F238E27FC236}">
                <a16:creationId xmlns:a16="http://schemas.microsoft.com/office/drawing/2014/main" id="{874B3374-ED93-0127-4063-A581850E7C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12E652-39F9-27B9-44F2-28685783B730}"/>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6863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D7D3-52F1-142C-31DC-3C8080585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9A1B3A-391C-213E-5492-5A28779CE5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87B86E-2AFB-D944-3A2D-F3CFD0108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706A9B-753D-A987-6D27-AACDB8574256}"/>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6" name="Footer Placeholder 5">
            <a:extLst>
              <a:ext uri="{FF2B5EF4-FFF2-40B4-BE49-F238E27FC236}">
                <a16:creationId xmlns:a16="http://schemas.microsoft.com/office/drawing/2014/main" id="{8DD91EE0-301C-F2C4-80B6-16E87CC9C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BC312-ED65-E20E-E73F-D2E69D98C8C5}"/>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1899973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4D81-0083-51E6-4964-3F927C21E3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C0ADCF-DECA-181D-A5A7-598946F528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ED6AF8-8507-A766-85E7-35677CF9C15B}"/>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3FF290DC-5481-6B6D-1A15-7084AF8D5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98819E-1010-0CEB-1793-B4124047DEF7}"/>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1990864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B3F754-9232-396E-2A7A-D0ED744E78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56D465-B150-3789-A19A-DC437E1DA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1D554B-DEBD-A076-135C-7390386BCB20}"/>
              </a:ext>
            </a:extLst>
          </p:cNvPr>
          <p:cNvSpPr>
            <a:spLocks noGrp="1"/>
          </p:cNvSpPr>
          <p:nvPr>
            <p:ph type="dt" sz="half" idx="10"/>
          </p:nvPr>
        </p:nvSpPr>
        <p:spPr/>
        <p:txBody>
          <a:body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F65E051F-CC0D-5DE6-23FC-D6475E254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4F244-B9EE-90A6-6491-CA2D187A4CC1}"/>
              </a:ext>
            </a:extLst>
          </p:cNvPr>
          <p:cNvSpPr>
            <a:spLocks noGrp="1"/>
          </p:cNvSpPr>
          <p:nvPr>
            <p:ph type="sldNum" sz="quarter" idx="12"/>
          </p:nvPr>
        </p:nvSpPr>
        <p:spPr/>
        <p:txBody>
          <a:bodyPr/>
          <a:lstStyle/>
          <a:p>
            <a:fld id="{2A3793EA-5CC6-2946-A866-92624DF2820E}" type="slidenum">
              <a:rPr lang="en-US" smtClean="0"/>
              <a:t>‹#›</a:t>
            </a:fld>
            <a:endParaRPr lang="en-US"/>
          </a:p>
        </p:txBody>
      </p:sp>
    </p:spTree>
    <p:extLst>
      <p:ext uri="{BB962C8B-B14F-4D97-AF65-F5344CB8AC3E}">
        <p14:creationId xmlns:p14="http://schemas.microsoft.com/office/powerpoint/2010/main" val="2747630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9397AD-A190-B8CE-32BC-9BA1D3D3C7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B0F577-F620-5FB4-AAEA-4198945BA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A24BCE-0216-B402-A13E-22B8F3354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E1F3DC-E4D6-0D4E-BC65-7F82B3E94A15}" type="datetimeFigureOut">
              <a:rPr lang="en-US" smtClean="0"/>
              <a:t>1/22/26</a:t>
            </a:fld>
            <a:endParaRPr lang="en-US"/>
          </a:p>
        </p:txBody>
      </p:sp>
      <p:sp>
        <p:nvSpPr>
          <p:cNvPr id="5" name="Footer Placeholder 4">
            <a:extLst>
              <a:ext uri="{FF2B5EF4-FFF2-40B4-BE49-F238E27FC236}">
                <a16:creationId xmlns:a16="http://schemas.microsoft.com/office/drawing/2014/main" id="{36F37E9D-A360-9F24-75AB-26CF3F2303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19EF12-9737-EBBF-7E8F-1924675045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3793EA-5CC6-2946-A866-92624DF2820E}" type="slidenum">
              <a:rPr lang="en-US" smtClean="0"/>
              <a:t>‹#›</a:t>
            </a:fld>
            <a:endParaRPr lang="en-US"/>
          </a:p>
        </p:txBody>
      </p:sp>
    </p:spTree>
    <p:extLst>
      <p:ext uri="{BB962C8B-B14F-4D97-AF65-F5344CB8AC3E}">
        <p14:creationId xmlns:p14="http://schemas.microsoft.com/office/powerpoint/2010/main" val="2858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D802-4845-289B-62CE-E9DAF84AB955}"/>
              </a:ext>
            </a:extLst>
          </p:cNvPr>
          <p:cNvSpPr>
            <a:spLocks noGrp="1"/>
          </p:cNvSpPr>
          <p:nvPr>
            <p:ph type="ctrTitle"/>
          </p:nvPr>
        </p:nvSpPr>
        <p:spPr/>
        <p:txBody>
          <a:bodyPr/>
          <a:lstStyle/>
          <a:p>
            <a:r>
              <a:rPr lang="en-US" dirty="0"/>
              <a:t>Extra Class on ER diagram</a:t>
            </a:r>
          </a:p>
        </p:txBody>
      </p:sp>
      <p:sp>
        <p:nvSpPr>
          <p:cNvPr id="3" name="Subtitle 2">
            <a:extLst>
              <a:ext uri="{FF2B5EF4-FFF2-40B4-BE49-F238E27FC236}">
                <a16:creationId xmlns:a16="http://schemas.microsoft.com/office/drawing/2014/main" id="{27B68701-59C9-AA23-A28B-2C71007A4F9B}"/>
              </a:ext>
            </a:extLst>
          </p:cNvPr>
          <p:cNvSpPr>
            <a:spLocks noGrp="1"/>
          </p:cNvSpPr>
          <p:nvPr>
            <p:ph type="subTitle" idx="1"/>
          </p:nvPr>
        </p:nvSpPr>
        <p:spPr/>
        <p:txBody>
          <a:bodyPr/>
          <a:lstStyle/>
          <a:p>
            <a:r>
              <a:rPr lang="en-US" dirty="0"/>
              <a:t>Instructor: Kazi Amit Hasan</a:t>
            </a:r>
          </a:p>
        </p:txBody>
      </p:sp>
    </p:spTree>
    <p:extLst>
      <p:ext uri="{BB962C8B-B14F-4D97-AF65-F5344CB8AC3E}">
        <p14:creationId xmlns:p14="http://schemas.microsoft.com/office/powerpoint/2010/main" val="2604021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3549-65A0-EF9F-C770-D1A89B0BD023}"/>
              </a:ext>
            </a:extLst>
          </p:cNvPr>
          <p:cNvSpPr>
            <a:spLocks noGrp="1"/>
          </p:cNvSpPr>
          <p:nvPr>
            <p:ph type="title"/>
          </p:nvPr>
        </p:nvSpPr>
        <p:spPr/>
        <p:txBody>
          <a:bodyPr/>
          <a:lstStyle/>
          <a:p>
            <a:r>
              <a:rPr lang="en-US" dirty="0"/>
              <a:t>Topic</a:t>
            </a:r>
          </a:p>
        </p:txBody>
      </p:sp>
      <p:sp>
        <p:nvSpPr>
          <p:cNvPr id="3" name="Content Placeholder 2">
            <a:extLst>
              <a:ext uri="{FF2B5EF4-FFF2-40B4-BE49-F238E27FC236}">
                <a16:creationId xmlns:a16="http://schemas.microsoft.com/office/drawing/2014/main" id="{D4D07C21-F608-9371-D393-2059F50D3A43}"/>
              </a:ext>
            </a:extLst>
          </p:cNvPr>
          <p:cNvSpPr>
            <a:spLocks noGrp="1"/>
          </p:cNvSpPr>
          <p:nvPr>
            <p:ph idx="1"/>
          </p:nvPr>
        </p:nvSpPr>
        <p:spPr/>
        <p:txBody>
          <a:bodyPr/>
          <a:lstStyle/>
          <a:p>
            <a:r>
              <a:rPr lang="en-US" dirty="0"/>
              <a:t>Weak Entity </a:t>
            </a:r>
          </a:p>
          <a:p>
            <a:r>
              <a:rPr lang="en-US" dirty="0"/>
              <a:t>Total and Partial Participations</a:t>
            </a:r>
          </a:p>
          <a:p>
            <a:r>
              <a:rPr lang="en-US" dirty="0"/>
              <a:t>Example solving</a:t>
            </a:r>
          </a:p>
        </p:txBody>
      </p:sp>
    </p:spTree>
    <p:extLst>
      <p:ext uri="{BB962C8B-B14F-4D97-AF65-F5344CB8AC3E}">
        <p14:creationId xmlns:p14="http://schemas.microsoft.com/office/powerpoint/2010/main" val="4092155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2CD11-0B28-ABF5-1CE9-C6FC72D9B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446EB-5910-9F92-5663-D098B5AFE03D}"/>
              </a:ext>
            </a:extLst>
          </p:cNvPr>
          <p:cNvSpPr>
            <a:spLocks noGrp="1"/>
          </p:cNvSpPr>
          <p:nvPr>
            <p:ph type="title"/>
          </p:nvPr>
        </p:nvSpPr>
        <p:spPr/>
        <p:txBody>
          <a:bodyPr/>
          <a:lstStyle/>
          <a:p>
            <a:r>
              <a:rPr lang="en-US" dirty="0"/>
              <a:t>Strong and Weak Entity</a:t>
            </a:r>
          </a:p>
        </p:txBody>
      </p:sp>
      <p:sp>
        <p:nvSpPr>
          <p:cNvPr id="3" name="Content Placeholder 2">
            <a:extLst>
              <a:ext uri="{FF2B5EF4-FFF2-40B4-BE49-F238E27FC236}">
                <a16:creationId xmlns:a16="http://schemas.microsoft.com/office/drawing/2014/main" id="{C5E741EC-8473-8387-B61A-486C553A597B}"/>
              </a:ext>
            </a:extLst>
          </p:cNvPr>
          <p:cNvSpPr>
            <a:spLocks noGrp="1"/>
          </p:cNvSpPr>
          <p:nvPr>
            <p:ph idx="1"/>
          </p:nvPr>
        </p:nvSpPr>
        <p:spPr/>
        <p:txBody>
          <a:bodyPr/>
          <a:lstStyle/>
          <a:p>
            <a:r>
              <a:rPr lang="en-US" dirty="0"/>
              <a:t>Strong entity:</a:t>
            </a:r>
          </a:p>
          <a:p>
            <a:pPr lvl="1"/>
            <a:r>
              <a:rPr lang="en-US" dirty="0"/>
              <a:t>An entity set which </a:t>
            </a:r>
            <a:r>
              <a:rPr lang="en-US" dirty="0">
                <a:highlight>
                  <a:srgbClr val="FFFF00"/>
                </a:highlight>
              </a:rPr>
              <a:t>has a key </a:t>
            </a:r>
          </a:p>
        </p:txBody>
      </p:sp>
      <p:pic>
        <p:nvPicPr>
          <p:cNvPr id="4" name="Content Placeholder 3">
            <a:extLst>
              <a:ext uri="{FF2B5EF4-FFF2-40B4-BE49-F238E27FC236}">
                <a16:creationId xmlns:a16="http://schemas.microsoft.com/office/drawing/2014/main" id="{C9A25119-6372-FCDA-9747-A67F897DC4BA}"/>
              </a:ext>
            </a:extLst>
          </p:cNvPr>
          <p:cNvPicPr>
            <a:picLocks noChangeAspect="1"/>
          </p:cNvPicPr>
          <p:nvPr/>
        </p:nvPicPr>
        <p:blipFill>
          <a:blip r:embed="rId2"/>
          <a:stretch>
            <a:fillRect/>
          </a:stretch>
        </p:blipFill>
        <p:spPr>
          <a:xfrm>
            <a:off x="2404611" y="3551750"/>
            <a:ext cx="7781570" cy="2627167"/>
          </a:xfrm>
          <a:prstGeom prst="rect">
            <a:avLst/>
          </a:prstGeom>
        </p:spPr>
      </p:pic>
    </p:spTree>
    <p:extLst>
      <p:ext uri="{BB962C8B-B14F-4D97-AF65-F5344CB8AC3E}">
        <p14:creationId xmlns:p14="http://schemas.microsoft.com/office/powerpoint/2010/main" val="358218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1BFC-D77A-A3A6-696C-49D4277DB5AB}"/>
              </a:ext>
            </a:extLst>
          </p:cNvPr>
          <p:cNvSpPr>
            <a:spLocks noGrp="1"/>
          </p:cNvSpPr>
          <p:nvPr>
            <p:ph type="title"/>
          </p:nvPr>
        </p:nvSpPr>
        <p:spPr/>
        <p:txBody>
          <a:bodyPr/>
          <a:lstStyle/>
          <a:p>
            <a:r>
              <a:rPr lang="en-US" dirty="0"/>
              <a:t>Strong and Weak Entity</a:t>
            </a:r>
          </a:p>
        </p:txBody>
      </p:sp>
      <p:sp>
        <p:nvSpPr>
          <p:cNvPr id="3" name="Content Placeholder 2">
            <a:extLst>
              <a:ext uri="{FF2B5EF4-FFF2-40B4-BE49-F238E27FC236}">
                <a16:creationId xmlns:a16="http://schemas.microsoft.com/office/drawing/2014/main" id="{ECADB244-96B3-7283-3171-B1692A306C00}"/>
              </a:ext>
            </a:extLst>
          </p:cNvPr>
          <p:cNvSpPr>
            <a:spLocks noGrp="1"/>
          </p:cNvSpPr>
          <p:nvPr>
            <p:ph idx="1"/>
          </p:nvPr>
        </p:nvSpPr>
        <p:spPr/>
        <p:txBody>
          <a:bodyPr/>
          <a:lstStyle/>
          <a:p>
            <a:r>
              <a:rPr lang="en-US" dirty="0"/>
              <a:t>Weak entity:</a:t>
            </a:r>
          </a:p>
          <a:p>
            <a:pPr lvl="1"/>
            <a:r>
              <a:rPr lang="en-US" dirty="0"/>
              <a:t>An entity set which </a:t>
            </a:r>
            <a:r>
              <a:rPr lang="en-US" dirty="0">
                <a:highlight>
                  <a:srgbClr val="FFFF00"/>
                </a:highlight>
              </a:rPr>
              <a:t>does not have a key attribute</a:t>
            </a:r>
          </a:p>
          <a:p>
            <a:pPr lvl="1"/>
            <a:r>
              <a:rPr lang="en-US" dirty="0"/>
              <a:t>It have a partial discriminator</a:t>
            </a:r>
          </a:p>
          <a:p>
            <a:pPr lvl="1"/>
            <a:r>
              <a:rPr lang="en-US" dirty="0"/>
              <a:t>They depend on strong entity</a:t>
            </a:r>
          </a:p>
        </p:txBody>
      </p:sp>
    </p:spTree>
    <p:extLst>
      <p:ext uri="{BB962C8B-B14F-4D97-AF65-F5344CB8AC3E}">
        <p14:creationId xmlns:p14="http://schemas.microsoft.com/office/powerpoint/2010/main" val="525394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46AEE7-91F4-A0EB-3597-0DB2F337CF6E}"/>
              </a:ext>
            </a:extLst>
          </p:cNvPr>
          <p:cNvSpPr/>
          <p:nvPr/>
        </p:nvSpPr>
        <p:spPr>
          <a:xfrm>
            <a:off x="665017" y="3186545"/>
            <a:ext cx="1953491" cy="7273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Employee</a:t>
            </a:r>
          </a:p>
        </p:txBody>
      </p:sp>
      <p:sp>
        <p:nvSpPr>
          <p:cNvPr id="5" name="Rectangle 4">
            <a:extLst>
              <a:ext uri="{FF2B5EF4-FFF2-40B4-BE49-F238E27FC236}">
                <a16:creationId xmlns:a16="http://schemas.microsoft.com/office/drawing/2014/main" id="{B69021C6-7FB7-1451-6451-76D3DADDF6E2}"/>
              </a:ext>
            </a:extLst>
          </p:cNvPr>
          <p:cNvSpPr/>
          <p:nvPr/>
        </p:nvSpPr>
        <p:spPr>
          <a:xfrm>
            <a:off x="9573492" y="3262745"/>
            <a:ext cx="1953491" cy="7273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Dependent</a:t>
            </a:r>
          </a:p>
        </p:txBody>
      </p:sp>
      <p:sp>
        <p:nvSpPr>
          <p:cNvPr id="6" name="Rectangle 5">
            <a:extLst>
              <a:ext uri="{FF2B5EF4-FFF2-40B4-BE49-F238E27FC236}">
                <a16:creationId xmlns:a16="http://schemas.microsoft.com/office/drawing/2014/main" id="{96BC2907-590B-AF72-D9A3-EE954D318A7D}"/>
              </a:ext>
            </a:extLst>
          </p:cNvPr>
          <p:cNvSpPr/>
          <p:nvPr/>
        </p:nvSpPr>
        <p:spPr>
          <a:xfrm>
            <a:off x="9393382" y="3186545"/>
            <a:ext cx="2313710" cy="87976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Dependent</a:t>
            </a:r>
          </a:p>
        </p:txBody>
      </p:sp>
      <p:sp>
        <p:nvSpPr>
          <p:cNvPr id="7" name="Diamond 6">
            <a:extLst>
              <a:ext uri="{FF2B5EF4-FFF2-40B4-BE49-F238E27FC236}">
                <a16:creationId xmlns:a16="http://schemas.microsoft.com/office/drawing/2014/main" id="{EAE4526E-F897-75AE-01AF-09CB57C039C9}"/>
              </a:ext>
            </a:extLst>
          </p:cNvPr>
          <p:cNvSpPr/>
          <p:nvPr/>
        </p:nvSpPr>
        <p:spPr>
          <a:xfrm>
            <a:off x="4710545" y="2514600"/>
            <a:ext cx="3054927" cy="1787577"/>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Diamond 8">
            <a:extLst>
              <a:ext uri="{FF2B5EF4-FFF2-40B4-BE49-F238E27FC236}">
                <a16:creationId xmlns:a16="http://schemas.microsoft.com/office/drawing/2014/main" id="{D9CDB407-6B0B-2BEB-46C1-A7CDF85BFD05}"/>
              </a:ext>
            </a:extLst>
          </p:cNvPr>
          <p:cNvSpPr/>
          <p:nvPr/>
        </p:nvSpPr>
        <p:spPr>
          <a:xfrm>
            <a:off x="5077691" y="2854036"/>
            <a:ext cx="2327564" cy="1212273"/>
          </a:xfrm>
          <a:prstGeom prst="diamond">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Has</a:t>
            </a:r>
          </a:p>
        </p:txBody>
      </p:sp>
      <p:sp>
        <p:nvSpPr>
          <p:cNvPr id="11" name="Oval 10">
            <a:extLst>
              <a:ext uri="{FF2B5EF4-FFF2-40B4-BE49-F238E27FC236}">
                <a16:creationId xmlns:a16="http://schemas.microsoft.com/office/drawing/2014/main" id="{771F4D4F-91C7-735F-EF94-B195F5A4ED50}"/>
              </a:ext>
            </a:extLst>
          </p:cNvPr>
          <p:cNvSpPr/>
          <p:nvPr/>
        </p:nvSpPr>
        <p:spPr>
          <a:xfrm>
            <a:off x="5167747" y="644237"/>
            <a:ext cx="2237508" cy="76892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Amount</a:t>
            </a:r>
          </a:p>
        </p:txBody>
      </p:sp>
      <p:sp>
        <p:nvSpPr>
          <p:cNvPr id="12" name="Oval 11">
            <a:extLst>
              <a:ext uri="{FF2B5EF4-FFF2-40B4-BE49-F238E27FC236}">
                <a16:creationId xmlns:a16="http://schemas.microsoft.com/office/drawing/2014/main" id="{72BEB5A2-03C8-5058-FBC0-0AAB1156DC14}"/>
              </a:ext>
            </a:extLst>
          </p:cNvPr>
          <p:cNvSpPr/>
          <p:nvPr/>
        </p:nvSpPr>
        <p:spPr>
          <a:xfrm>
            <a:off x="2618507" y="1028700"/>
            <a:ext cx="1530929" cy="7273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Name</a:t>
            </a:r>
          </a:p>
        </p:txBody>
      </p:sp>
      <p:sp>
        <p:nvSpPr>
          <p:cNvPr id="13" name="Oval 12">
            <a:extLst>
              <a:ext uri="{FF2B5EF4-FFF2-40B4-BE49-F238E27FC236}">
                <a16:creationId xmlns:a16="http://schemas.microsoft.com/office/drawing/2014/main" id="{B5DD7614-F041-73C6-957D-859CBA7404B2}"/>
              </a:ext>
            </a:extLst>
          </p:cNvPr>
          <p:cNvSpPr/>
          <p:nvPr/>
        </p:nvSpPr>
        <p:spPr>
          <a:xfrm>
            <a:off x="110833" y="1028699"/>
            <a:ext cx="1530929" cy="7273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u="sng" dirty="0" err="1"/>
              <a:t>E_id</a:t>
            </a:r>
            <a:endParaRPr lang="en-US" u="sng" dirty="0"/>
          </a:p>
        </p:txBody>
      </p:sp>
      <p:sp>
        <p:nvSpPr>
          <p:cNvPr id="14" name="Oval 13">
            <a:extLst>
              <a:ext uri="{FF2B5EF4-FFF2-40B4-BE49-F238E27FC236}">
                <a16:creationId xmlns:a16="http://schemas.microsoft.com/office/drawing/2014/main" id="{F8DC8F0C-87C8-13B1-3C54-802CE256D17D}"/>
              </a:ext>
            </a:extLst>
          </p:cNvPr>
          <p:cNvSpPr/>
          <p:nvPr/>
        </p:nvSpPr>
        <p:spPr>
          <a:xfrm>
            <a:off x="665017" y="4987636"/>
            <a:ext cx="1530929" cy="7273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address</a:t>
            </a:r>
          </a:p>
        </p:txBody>
      </p:sp>
      <p:sp>
        <p:nvSpPr>
          <p:cNvPr id="15" name="Oval 14">
            <a:extLst>
              <a:ext uri="{FF2B5EF4-FFF2-40B4-BE49-F238E27FC236}">
                <a16:creationId xmlns:a16="http://schemas.microsoft.com/office/drawing/2014/main" id="{42ACB67F-FF0A-2C5D-7F1C-3A550A834252}"/>
              </a:ext>
            </a:extLst>
          </p:cNvPr>
          <p:cNvSpPr/>
          <p:nvPr/>
        </p:nvSpPr>
        <p:spPr>
          <a:xfrm>
            <a:off x="8627917" y="1392381"/>
            <a:ext cx="1530929" cy="7273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Name</a:t>
            </a:r>
          </a:p>
        </p:txBody>
      </p:sp>
      <p:sp>
        <p:nvSpPr>
          <p:cNvPr id="16" name="Oval 15">
            <a:extLst>
              <a:ext uri="{FF2B5EF4-FFF2-40B4-BE49-F238E27FC236}">
                <a16:creationId xmlns:a16="http://schemas.microsoft.com/office/drawing/2014/main" id="{08D175B4-D40F-77F2-9ECB-CCC4E0299D6F}"/>
              </a:ext>
            </a:extLst>
          </p:cNvPr>
          <p:cNvSpPr/>
          <p:nvPr/>
        </p:nvSpPr>
        <p:spPr>
          <a:xfrm>
            <a:off x="10616043" y="1392380"/>
            <a:ext cx="1530929" cy="7273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Age</a:t>
            </a:r>
          </a:p>
        </p:txBody>
      </p:sp>
      <p:cxnSp>
        <p:nvCxnSpPr>
          <p:cNvPr id="18" name="Straight Connector 17">
            <a:extLst>
              <a:ext uri="{FF2B5EF4-FFF2-40B4-BE49-F238E27FC236}">
                <a16:creationId xmlns:a16="http://schemas.microsoft.com/office/drawing/2014/main" id="{AA8A650F-E5BF-7CF7-BB17-1E02601BE59E}"/>
              </a:ext>
            </a:extLst>
          </p:cNvPr>
          <p:cNvCxnSpPr>
            <a:stCxn id="15" idx="4"/>
            <a:endCxn id="6" idx="0"/>
          </p:cNvCxnSpPr>
          <p:nvPr/>
        </p:nvCxnSpPr>
        <p:spPr>
          <a:xfrm>
            <a:off x="9393382" y="2119746"/>
            <a:ext cx="1156855" cy="10667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B0EEF9-58F7-4420-7008-5FA9D41A2A31}"/>
              </a:ext>
            </a:extLst>
          </p:cNvPr>
          <p:cNvCxnSpPr>
            <a:stCxn id="16" idx="4"/>
            <a:endCxn id="6" idx="0"/>
          </p:cNvCxnSpPr>
          <p:nvPr/>
        </p:nvCxnSpPr>
        <p:spPr>
          <a:xfrm flipH="1">
            <a:off x="10550237" y="2119745"/>
            <a:ext cx="831271" cy="1066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3E03043-A1B8-F304-751E-0CB101021FF9}"/>
              </a:ext>
            </a:extLst>
          </p:cNvPr>
          <p:cNvCxnSpPr>
            <a:cxnSpLocks/>
            <a:stCxn id="11" idx="4"/>
            <a:endCxn id="7" idx="0"/>
          </p:cNvCxnSpPr>
          <p:nvPr/>
        </p:nvCxnSpPr>
        <p:spPr>
          <a:xfrm flipH="1">
            <a:off x="6238009" y="1413164"/>
            <a:ext cx="48492" cy="110143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6D49D3F-399C-2DD2-BCE8-FC1EEA0582BA}"/>
              </a:ext>
            </a:extLst>
          </p:cNvPr>
          <p:cNvCxnSpPr>
            <a:stCxn id="13" idx="4"/>
            <a:endCxn id="4" idx="0"/>
          </p:cNvCxnSpPr>
          <p:nvPr/>
        </p:nvCxnSpPr>
        <p:spPr>
          <a:xfrm>
            <a:off x="876298" y="1756064"/>
            <a:ext cx="765465" cy="1430481"/>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4BAA3D3-79F8-9725-D486-FFF3AA942D4F}"/>
              </a:ext>
            </a:extLst>
          </p:cNvPr>
          <p:cNvCxnSpPr>
            <a:stCxn id="12" idx="4"/>
            <a:endCxn id="4" idx="0"/>
          </p:cNvCxnSpPr>
          <p:nvPr/>
        </p:nvCxnSpPr>
        <p:spPr>
          <a:xfrm flipH="1">
            <a:off x="1641763" y="1756065"/>
            <a:ext cx="1742209" cy="1430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1B2FF02-ABAF-90BF-87A8-9D2EEC4BE7C4}"/>
              </a:ext>
            </a:extLst>
          </p:cNvPr>
          <p:cNvCxnSpPr>
            <a:stCxn id="4" idx="2"/>
            <a:endCxn id="14" idx="0"/>
          </p:cNvCxnSpPr>
          <p:nvPr/>
        </p:nvCxnSpPr>
        <p:spPr>
          <a:xfrm flipH="1">
            <a:off x="1430482" y="3913909"/>
            <a:ext cx="211281" cy="10737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ECDBBAFE-1104-CCCE-2546-125F6FA5D635}"/>
              </a:ext>
            </a:extLst>
          </p:cNvPr>
          <p:cNvCxnSpPr>
            <a:cxnSpLocks/>
            <a:stCxn id="4" idx="3"/>
            <a:endCxn id="7" idx="1"/>
          </p:cNvCxnSpPr>
          <p:nvPr/>
        </p:nvCxnSpPr>
        <p:spPr>
          <a:xfrm flipV="1">
            <a:off x="2618508" y="3408389"/>
            <a:ext cx="2092037" cy="1418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C0A3100-D9CB-360B-FC58-3B6562710CA1}"/>
              </a:ext>
            </a:extLst>
          </p:cNvPr>
          <p:cNvCxnSpPr>
            <a:cxnSpLocks/>
            <a:stCxn id="7" idx="3"/>
            <a:endCxn id="6" idx="1"/>
          </p:cNvCxnSpPr>
          <p:nvPr/>
        </p:nvCxnSpPr>
        <p:spPr>
          <a:xfrm>
            <a:off x="7765472" y="3408389"/>
            <a:ext cx="1627910" cy="218038"/>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16CAEE01-83DD-1AA9-969D-0720AF42D73A}"/>
              </a:ext>
            </a:extLst>
          </p:cNvPr>
          <p:cNvSpPr txBox="1"/>
          <p:nvPr/>
        </p:nvSpPr>
        <p:spPr>
          <a:xfrm>
            <a:off x="1382004" y="2176531"/>
            <a:ext cx="845103" cy="646331"/>
          </a:xfrm>
          <a:prstGeom prst="rect">
            <a:avLst/>
          </a:prstGeom>
          <a:noFill/>
        </p:spPr>
        <p:txBody>
          <a:bodyPr wrap="none" rtlCol="0">
            <a:spAutoFit/>
          </a:bodyPr>
          <a:lstStyle/>
          <a:p>
            <a:r>
              <a:rPr lang="en-US" dirty="0">
                <a:highlight>
                  <a:srgbClr val="FFFF00"/>
                </a:highlight>
              </a:rPr>
              <a:t>Owner</a:t>
            </a:r>
          </a:p>
          <a:p>
            <a:r>
              <a:rPr lang="en-US" dirty="0">
                <a:highlight>
                  <a:srgbClr val="FFFF00"/>
                </a:highlight>
              </a:rPr>
              <a:t>entity</a:t>
            </a:r>
          </a:p>
        </p:txBody>
      </p:sp>
      <p:sp>
        <p:nvSpPr>
          <p:cNvPr id="38" name="TextBox 37">
            <a:extLst>
              <a:ext uri="{FF2B5EF4-FFF2-40B4-BE49-F238E27FC236}">
                <a16:creationId xmlns:a16="http://schemas.microsoft.com/office/drawing/2014/main" id="{86C2EC4E-0ADB-21D8-9935-8F44AA91D2DB}"/>
              </a:ext>
            </a:extLst>
          </p:cNvPr>
          <p:cNvSpPr txBox="1"/>
          <p:nvPr/>
        </p:nvSpPr>
        <p:spPr>
          <a:xfrm>
            <a:off x="6885234" y="2148138"/>
            <a:ext cx="1367297" cy="646331"/>
          </a:xfrm>
          <a:prstGeom prst="rect">
            <a:avLst/>
          </a:prstGeom>
          <a:noFill/>
        </p:spPr>
        <p:txBody>
          <a:bodyPr wrap="none" rtlCol="0">
            <a:spAutoFit/>
          </a:bodyPr>
          <a:lstStyle/>
          <a:p>
            <a:r>
              <a:rPr lang="en-US" dirty="0">
                <a:highlight>
                  <a:srgbClr val="FFFF00"/>
                </a:highlight>
              </a:rPr>
              <a:t>Identifying </a:t>
            </a:r>
          </a:p>
          <a:p>
            <a:r>
              <a:rPr lang="en-US" dirty="0">
                <a:highlight>
                  <a:srgbClr val="FFFF00"/>
                </a:highlight>
              </a:rPr>
              <a:t>relationship</a:t>
            </a:r>
          </a:p>
        </p:txBody>
      </p:sp>
      <p:sp>
        <p:nvSpPr>
          <p:cNvPr id="39" name="TextBox 38">
            <a:extLst>
              <a:ext uri="{FF2B5EF4-FFF2-40B4-BE49-F238E27FC236}">
                <a16:creationId xmlns:a16="http://schemas.microsoft.com/office/drawing/2014/main" id="{02FA1883-1202-97C1-BC45-5C4C25C36890}"/>
              </a:ext>
            </a:extLst>
          </p:cNvPr>
          <p:cNvSpPr txBox="1"/>
          <p:nvPr/>
        </p:nvSpPr>
        <p:spPr>
          <a:xfrm>
            <a:off x="9943102" y="4081440"/>
            <a:ext cx="1345881" cy="369332"/>
          </a:xfrm>
          <a:prstGeom prst="rect">
            <a:avLst/>
          </a:prstGeom>
          <a:noFill/>
        </p:spPr>
        <p:txBody>
          <a:bodyPr wrap="none" rtlCol="0">
            <a:spAutoFit/>
          </a:bodyPr>
          <a:lstStyle/>
          <a:p>
            <a:r>
              <a:rPr lang="en-US" dirty="0">
                <a:highlight>
                  <a:srgbClr val="FFFF00"/>
                </a:highlight>
              </a:rPr>
              <a:t>Weak entity</a:t>
            </a:r>
          </a:p>
        </p:txBody>
      </p:sp>
      <p:cxnSp>
        <p:nvCxnSpPr>
          <p:cNvPr id="42" name="Straight Connector 41">
            <a:extLst>
              <a:ext uri="{FF2B5EF4-FFF2-40B4-BE49-F238E27FC236}">
                <a16:creationId xmlns:a16="http://schemas.microsoft.com/office/drawing/2014/main" id="{44495CA9-F257-AE95-FF0C-A810BE4A1B46}"/>
              </a:ext>
            </a:extLst>
          </p:cNvPr>
          <p:cNvCxnSpPr>
            <a:cxnSpLocks/>
          </p:cNvCxnSpPr>
          <p:nvPr/>
        </p:nvCxnSpPr>
        <p:spPr>
          <a:xfrm>
            <a:off x="7585365" y="3537195"/>
            <a:ext cx="1808016" cy="247666"/>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58402EE-898F-0B37-EB17-50DC26675E11}"/>
              </a:ext>
            </a:extLst>
          </p:cNvPr>
          <p:cNvSpPr txBox="1"/>
          <p:nvPr/>
        </p:nvSpPr>
        <p:spPr>
          <a:xfrm>
            <a:off x="2383441" y="5186594"/>
            <a:ext cx="436338" cy="923330"/>
          </a:xfrm>
          <a:prstGeom prst="rect">
            <a:avLst/>
          </a:prstGeom>
          <a:noFill/>
        </p:spPr>
        <p:txBody>
          <a:bodyPr wrap="none" rtlCol="0">
            <a:spAutoFit/>
          </a:bodyPr>
          <a:lstStyle/>
          <a:p>
            <a:r>
              <a:rPr lang="en-US" dirty="0"/>
              <a:t>E1</a:t>
            </a:r>
            <a:br>
              <a:rPr lang="en-US" dirty="0"/>
            </a:br>
            <a:r>
              <a:rPr lang="en-US" dirty="0"/>
              <a:t>E2</a:t>
            </a:r>
            <a:br>
              <a:rPr lang="en-US" dirty="0"/>
            </a:br>
            <a:r>
              <a:rPr lang="en-US" dirty="0"/>
              <a:t>E3</a:t>
            </a:r>
          </a:p>
        </p:txBody>
      </p:sp>
      <p:sp>
        <p:nvSpPr>
          <p:cNvPr id="47" name="TextBox 46">
            <a:extLst>
              <a:ext uri="{FF2B5EF4-FFF2-40B4-BE49-F238E27FC236}">
                <a16:creationId xmlns:a16="http://schemas.microsoft.com/office/drawing/2014/main" id="{A973F0B2-95F9-4C09-6EBE-EB6F77D7225E}"/>
              </a:ext>
            </a:extLst>
          </p:cNvPr>
          <p:cNvSpPr txBox="1"/>
          <p:nvPr/>
        </p:nvSpPr>
        <p:spPr>
          <a:xfrm>
            <a:off x="2937624" y="5186594"/>
            <a:ext cx="1004794" cy="923330"/>
          </a:xfrm>
          <a:prstGeom prst="rect">
            <a:avLst/>
          </a:prstGeom>
          <a:noFill/>
        </p:spPr>
        <p:txBody>
          <a:bodyPr wrap="square" rtlCol="0">
            <a:spAutoFit/>
          </a:bodyPr>
          <a:lstStyle/>
          <a:p>
            <a:r>
              <a:rPr lang="en-US" dirty="0"/>
              <a:t>Alex</a:t>
            </a:r>
            <a:br>
              <a:rPr lang="en-US" dirty="0"/>
            </a:br>
            <a:r>
              <a:rPr lang="en-US" dirty="0"/>
              <a:t>Nick</a:t>
            </a:r>
            <a:br>
              <a:rPr lang="en-US" dirty="0"/>
            </a:br>
            <a:r>
              <a:rPr lang="en-US" dirty="0"/>
              <a:t>Marcos</a:t>
            </a:r>
          </a:p>
        </p:txBody>
      </p:sp>
      <p:sp>
        <p:nvSpPr>
          <p:cNvPr id="48" name="TextBox 47">
            <a:extLst>
              <a:ext uri="{FF2B5EF4-FFF2-40B4-BE49-F238E27FC236}">
                <a16:creationId xmlns:a16="http://schemas.microsoft.com/office/drawing/2014/main" id="{09A6B87D-0A04-4FFD-7D4C-99DFFB6ADAF3}"/>
              </a:ext>
            </a:extLst>
          </p:cNvPr>
          <p:cNvSpPr txBox="1"/>
          <p:nvPr/>
        </p:nvSpPr>
        <p:spPr>
          <a:xfrm>
            <a:off x="3904492" y="5186594"/>
            <a:ext cx="1004794" cy="923330"/>
          </a:xfrm>
          <a:prstGeom prst="rect">
            <a:avLst/>
          </a:prstGeom>
          <a:noFill/>
        </p:spPr>
        <p:txBody>
          <a:bodyPr wrap="square" rtlCol="0">
            <a:spAutoFit/>
          </a:bodyPr>
          <a:lstStyle/>
          <a:p>
            <a:r>
              <a:rPr lang="en-US" dirty="0"/>
              <a:t>Toronto</a:t>
            </a:r>
            <a:br>
              <a:rPr lang="en-US" dirty="0"/>
            </a:br>
            <a:r>
              <a:rPr lang="en-US" dirty="0"/>
              <a:t>Perth</a:t>
            </a:r>
            <a:br>
              <a:rPr lang="en-US" dirty="0"/>
            </a:br>
            <a:r>
              <a:rPr lang="en-US" dirty="0"/>
              <a:t>Ottawa</a:t>
            </a:r>
          </a:p>
        </p:txBody>
      </p:sp>
      <p:sp>
        <p:nvSpPr>
          <p:cNvPr id="49" name="TextBox 48">
            <a:extLst>
              <a:ext uri="{FF2B5EF4-FFF2-40B4-BE49-F238E27FC236}">
                <a16:creationId xmlns:a16="http://schemas.microsoft.com/office/drawing/2014/main" id="{B35C6495-8E57-603E-2F4A-B0FB6AC2DE17}"/>
              </a:ext>
            </a:extLst>
          </p:cNvPr>
          <p:cNvSpPr txBox="1"/>
          <p:nvPr/>
        </p:nvSpPr>
        <p:spPr>
          <a:xfrm>
            <a:off x="5249685" y="5186594"/>
            <a:ext cx="184731" cy="923330"/>
          </a:xfrm>
          <a:prstGeom prst="rect">
            <a:avLst/>
          </a:prstGeom>
          <a:noFill/>
        </p:spPr>
        <p:txBody>
          <a:bodyPr wrap="none" rtlCol="0">
            <a:spAutoFit/>
          </a:bodyPr>
          <a:lstStyle/>
          <a:p>
            <a:br>
              <a:rPr lang="en-US" dirty="0"/>
            </a:br>
            <a:br>
              <a:rPr lang="en-US" dirty="0"/>
            </a:br>
            <a:endParaRPr lang="en-US" dirty="0"/>
          </a:p>
        </p:txBody>
      </p:sp>
      <p:sp>
        <p:nvSpPr>
          <p:cNvPr id="50" name="TextBox 49">
            <a:extLst>
              <a:ext uri="{FF2B5EF4-FFF2-40B4-BE49-F238E27FC236}">
                <a16:creationId xmlns:a16="http://schemas.microsoft.com/office/drawing/2014/main" id="{4E4A2DD6-966D-7A6B-25DF-2E798E64A640}"/>
              </a:ext>
            </a:extLst>
          </p:cNvPr>
          <p:cNvSpPr txBox="1"/>
          <p:nvPr/>
        </p:nvSpPr>
        <p:spPr>
          <a:xfrm>
            <a:off x="5703755" y="5186594"/>
            <a:ext cx="1004794" cy="923330"/>
          </a:xfrm>
          <a:prstGeom prst="rect">
            <a:avLst/>
          </a:prstGeom>
          <a:noFill/>
        </p:spPr>
        <p:txBody>
          <a:bodyPr wrap="square" rtlCol="0">
            <a:spAutoFit/>
          </a:bodyPr>
          <a:lstStyle/>
          <a:p>
            <a:r>
              <a:rPr lang="en-US" dirty="0"/>
              <a:t>Kate</a:t>
            </a:r>
            <a:br>
              <a:rPr lang="en-US" dirty="0"/>
            </a:br>
            <a:r>
              <a:rPr lang="en-US" dirty="0"/>
              <a:t>Sophia</a:t>
            </a:r>
            <a:br>
              <a:rPr lang="en-US" dirty="0"/>
            </a:br>
            <a:r>
              <a:rPr lang="en-US" dirty="0"/>
              <a:t>Kate</a:t>
            </a:r>
          </a:p>
        </p:txBody>
      </p:sp>
      <p:sp>
        <p:nvSpPr>
          <p:cNvPr id="51" name="TextBox 50">
            <a:extLst>
              <a:ext uri="{FF2B5EF4-FFF2-40B4-BE49-F238E27FC236}">
                <a16:creationId xmlns:a16="http://schemas.microsoft.com/office/drawing/2014/main" id="{A0E874E4-4BB1-3979-66EF-3C357C3BB764}"/>
              </a:ext>
            </a:extLst>
          </p:cNvPr>
          <p:cNvSpPr txBox="1"/>
          <p:nvPr/>
        </p:nvSpPr>
        <p:spPr>
          <a:xfrm>
            <a:off x="6585230" y="5186594"/>
            <a:ext cx="595065" cy="923330"/>
          </a:xfrm>
          <a:prstGeom prst="rect">
            <a:avLst/>
          </a:prstGeom>
          <a:noFill/>
        </p:spPr>
        <p:txBody>
          <a:bodyPr wrap="square" rtlCol="0">
            <a:spAutoFit/>
          </a:bodyPr>
          <a:lstStyle/>
          <a:p>
            <a:r>
              <a:rPr lang="en-US" dirty="0"/>
              <a:t>25</a:t>
            </a:r>
            <a:br>
              <a:rPr lang="en-US" dirty="0"/>
            </a:br>
            <a:r>
              <a:rPr lang="en-US" dirty="0"/>
              <a:t>6</a:t>
            </a:r>
            <a:br>
              <a:rPr lang="en-US" dirty="0"/>
            </a:br>
            <a:r>
              <a:rPr lang="en-US" dirty="0"/>
              <a:t>25</a:t>
            </a:r>
          </a:p>
        </p:txBody>
      </p:sp>
      <p:sp>
        <p:nvSpPr>
          <p:cNvPr id="52" name="TextBox 51">
            <a:extLst>
              <a:ext uri="{FF2B5EF4-FFF2-40B4-BE49-F238E27FC236}">
                <a16:creationId xmlns:a16="http://schemas.microsoft.com/office/drawing/2014/main" id="{D5D7F07F-4339-86B3-F48A-FD0E9BE39A86}"/>
              </a:ext>
            </a:extLst>
          </p:cNvPr>
          <p:cNvSpPr txBox="1"/>
          <p:nvPr/>
        </p:nvSpPr>
        <p:spPr>
          <a:xfrm>
            <a:off x="7989757" y="4916774"/>
            <a:ext cx="4157215" cy="923330"/>
          </a:xfrm>
          <a:prstGeom prst="rect">
            <a:avLst/>
          </a:prstGeom>
          <a:noFill/>
        </p:spPr>
        <p:txBody>
          <a:bodyPr wrap="square" rtlCol="0">
            <a:spAutoFit/>
          </a:bodyPr>
          <a:lstStyle/>
          <a:p>
            <a:r>
              <a:rPr lang="en-US" dirty="0"/>
              <a:t>Dependent always </a:t>
            </a:r>
            <a:r>
              <a:rPr lang="en-US" dirty="0">
                <a:highlight>
                  <a:srgbClr val="FFFF00"/>
                </a:highlight>
              </a:rPr>
              <a:t>participate totally. </a:t>
            </a:r>
            <a:r>
              <a:rPr lang="en-US" dirty="0"/>
              <a:t>Kate and Sophia would only exist if Employee table has E1</a:t>
            </a:r>
          </a:p>
        </p:txBody>
      </p:sp>
      <p:cxnSp>
        <p:nvCxnSpPr>
          <p:cNvPr id="54" name="Straight Connector 53">
            <a:extLst>
              <a:ext uri="{FF2B5EF4-FFF2-40B4-BE49-F238E27FC236}">
                <a16:creationId xmlns:a16="http://schemas.microsoft.com/office/drawing/2014/main" id="{22581660-0DBF-8F52-0D4C-C9B7B0B280B0}"/>
              </a:ext>
            </a:extLst>
          </p:cNvPr>
          <p:cNvCxnSpPr/>
          <p:nvPr/>
        </p:nvCxnSpPr>
        <p:spPr>
          <a:xfrm>
            <a:off x="9080973" y="1918741"/>
            <a:ext cx="624815"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706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1" grpId="0" animBg="1"/>
      <p:bldP spid="12" grpId="0" animBg="1"/>
      <p:bldP spid="13" grpId="0" animBg="1"/>
      <p:bldP spid="14" grpId="0" animBg="1"/>
      <p:bldP spid="15" grpId="0" animBg="1"/>
      <p:bldP spid="16" grpId="0" animBg="1"/>
      <p:bldP spid="36" grpId="0"/>
      <p:bldP spid="38" grpId="0"/>
      <p:bldP spid="39" grpId="0"/>
      <p:bldP spid="46" grpId="0"/>
      <p:bldP spid="47" grpId="0"/>
      <p:bldP spid="48" grpId="0"/>
      <p:bldP spid="49" grpId="0"/>
      <p:bldP spid="50" grpId="0"/>
      <p:bldP spid="51"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89D8-42B5-D1DF-DC0D-F3802E02CECC}"/>
              </a:ext>
            </a:extLst>
          </p:cNvPr>
          <p:cNvSpPr>
            <a:spLocks noGrp="1"/>
          </p:cNvSpPr>
          <p:nvPr>
            <p:ph type="title"/>
          </p:nvPr>
        </p:nvSpPr>
        <p:spPr/>
        <p:txBody>
          <a:bodyPr/>
          <a:lstStyle/>
          <a:p>
            <a:r>
              <a:rPr lang="en-US" dirty="0"/>
              <a:t>Participation</a:t>
            </a:r>
          </a:p>
        </p:txBody>
      </p:sp>
      <p:sp>
        <p:nvSpPr>
          <p:cNvPr id="3" name="Content Placeholder 2">
            <a:extLst>
              <a:ext uri="{FF2B5EF4-FFF2-40B4-BE49-F238E27FC236}">
                <a16:creationId xmlns:a16="http://schemas.microsoft.com/office/drawing/2014/main" id="{4081A2EC-C0ED-B48E-719E-46AC3E2936D3}"/>
              </a:ext>
            </a:extLst>
          </p:cNvPr>
          <p:cNvSpPr>
            <a:spLocks noGrp="1"/>
          </p:cNvSpPr>
          <p:nvPr>
            <p:ph idx="1"/>
          </p:nvPr>
        </p:nvSpPr>
        <p:spPr>
          <a:xfrm>
            <a:off x="838200" y="1253331"/>
            <a:ext cx="10515600" cy="4351338"/>
          </a:xfrm>
        </p:spPr>
        <p:txBody>
          <a:bodyPr/>
          <a:lstStyle/>
          <a:p>
            <a:r>
              <a:rPr lang="en-US" dirty="0"/>
              <a:t>Every employee works for a department, and one department can have many employees. New departments need not to have any employee.  </a:t>
            </a:r>
          </a:p>
        </p:txBody>
      </p:sp>
      <p:pic>
        <p:nvPicPr>
          <p:cNvPr id="4" name="Picture 3">
            <a:extLst>
              <a:ext uri="{FF2B5EF4-FFF2-40B4-BE49-F238E27FC236}">
                <a16:creationId xmlns:a16="http://schemas.microsoft.com/office/drawing/2014/main" id="{F422DC80-21A3-F225-2D45-0B64CBDA1712}"/>
              </a:ext>
            </a:extLst>
          </p:cNvPr>
          <p:cNvPicPr>
            <a:picLocks noChangeAspect="1"/>
          </p:cNvPicPr>
          <p:nvPr/>
        </p:nvPicPr>
        <p:blipFill>
          <a:blip r:embed="rId2"/>
          <a:stretch>
            <a:fillRect/>
          </a:stretch>
        </p:blipFill>
        <p:spPr>
          <a:xfrm>
            <a:off x="2209800" y="2578894"/>
            <a:ext cx="7772400" cy="4071451"/>
          </a:xfrm>
          <a:prstGeom prst="rect">
            <a:avLst/>
          </a:prstGeom>
        </p:spPr>
      </p:pic>
    </p:spTree>
    <p:extLst>
      <p:ext uri="{BB962C8B-B14F-4D97-AF65-F5344CB8AC3E}">
        <p14:creationId xmlns:p14="http://schemas.microsoft.com/office/powerpoint/2010/main" val="159577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378F7-DAF1-E793-B041-F2D1E5EF742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B2EF489-6F0F-24CD-5ECD-003F9D9015FE}"/>
              </a:ext>
            </a:extLst>
          </p:cNvPr>
          <p:cNvPicPr>
            <a:picLocks noChangeAspect="1"/>
          </p:cNvPicPr>
          <p:nvPr/>
        </p:nvPicPr>
        <p:blipFill>
          <a:blip r:embed="rId2"/>
          <a:stretch>
            <a:fillRect/>
          </a:stretch>
        </p:blipFill>
        <p:spPr>
          <a:xfrm>
            <a:off x="2209800" y="215104"/>
            <a:ext cx="7772400" cy="4071451"/>
          </a:xfrm>
          <a:prstGeom prst="rect">
            <a:avLst/>
          </a:prstGeom>
        </p:spPr>
      </p:pic>
      <p:sp>
        <p:nvSpPr>
          <p:cNvPr id="5" name="TextBox 4">
            <a:extLst>
              <a:ext uri="{FF2B5EF4-FFF2-40B4-BE49-F238E27FC236}">
                <a16:creationId xmlns:a16="http://schemas.microsoft.com/office/drawing/2014/main" id="{C9E1B4F5-FB69-32AB-3FC5-93998B405EB5}"/>
              </a:ext>
            </a:extLst>
          </p:cNvPr>
          <p:cNvSpPr txBox="1"/>
          <p:nvPr/>
        </p:nvSpPr>
        <p:spPr>
          <a:xfrm>
            <a:off x="844060" y="4906108"/>
            <a:ext cx="10146323" cy="1200329"/>
          </a:xfrm>
          <a:prstGeom prst="rect">
            <a:avLst/>
          </a:prstGeom>
          <a:noFill/>
        </p:spPr>
        <p:txBody>
          <a:bodyPr wrap="square" rtlCol="0">
            <a:spAutoFit/>
          </a:bodyPr>
          <a:lstStyle/>
          <a:p>
            <a:r>
              <a:rPr lang="en-US" dirty="0">
                <a:highlight>
                  <a:srgbClr val="FFFF00"/>
                </a:highlight>
              </a:rPr>
              <a:t>Degree</a:t>
            </a:r>
            <a:r>
              <a:rPr lang="en-US" dirty="0"/>
              <a:t>: In every relationship, how many entity sets are participating &gt;&gt; 2</a:t>
            </a:r>
          </a:p>
          <a:p>
            <a:r>
              <a:rPr lang="en-US" dirty="0">
                <a:highlight>
                  <a:srgbClr val="FFFF00"/>
                </a:highlight>
              </a:rPr>
              <a:t>Participation</a:t>
            </a:r>
            <a:r>
              <a:rPr lang="en-US" dirty="0"/>
              <a:t>: what is the minimum number of relationships an entity can participate. Also known as </a:t>
            </a:r>
            <a:r>
              <a:rPr lang="en-US" dirty="0">
                <a:highlight>
                  <a:srgbClr val="FFFF00"/>
                </a:highlight>
              </a:rPr>
              <a:t>minimum cardinality</a:t>
            </a:r>
            <a:r>
              <a:rPr lang="en-US" dirty="0"/>
              <a:t>. </a:t>
            </a:r>
          </a:p>
          <a:p>
            <a:r>
              <a:rPr lang="en-US" dirty="0">
                <a:highlight>
                  <a:srgbClr val="FFFF00"/>
                </a:highlight>
              </a:rPr>
              <a:t>Cardinality</a:t>
            </a:r>
            <a:r>
              <a:rPr lang="en-US" dirty="0"/>
              <a:t>: what is the maximum number of relationship in which an entity can participate</a:t>
            </a:r>
          </a:p>
        </p:txBody>
      </p:sp>
      <p:sp>
        <p:nvSpPr>
          <p:cNvPr id="6" name="TextBox 5">
            <a:extLst>
              <a:ext uri="{FF2B5EF4-FFF2-40B4-BE49-F238E27FC236}">
                <a16:creationId xmlns:a16="http://schemas.microsoft.com/office/drawing/2014/main" id="{F59B6638-A7FC-3B8A-C907-48AE99E639A3}"/>
              </a:ext>
            </a:extLst>
          </p:cNvPr>
          <p:cNvSpPr txBox="1"/>
          <p:nvPr/>
        </p:nvSpPr>
        <p:spPr>
          <a:xfrm>
            <a:off x="703385" y="2162908"/>
            <a:ext cx="1471878" cy="369332"/>
          </a:xfrm>
          <a:prstGeom prst="rect">
            <a:avLst/>
          </a:prstGeom>
          <a:noFill/>
        </p:spPr>
        <p:txBody>
          <a:bodyPr wrap="none" rtlCol="0">
            <a:spAutoFit/>
          </a:bodyPr>
          <a:lstStyle/>
          <a:p>
            <a:r>
              <a:rPr lang="en-US" dirty="0"/>
              <a:t>Min(emp) = 1</a:t>
            </a:r>
          </a:p>
        </p:txBody>
      </p:sp>
      <p:sp>
        <p:nvSpPr>
          <p:cNvPr id="7" name="TextBox 6">
            <a:extLst>
              <a:ext uri="{FF2B5EF4-FFF2-40B4-BE49-F238E27FC236}">
                <a16:creationId xmlns:a16="http://schemas.microsoft.com/office/drawing/2014/main" id="{00E65DE2-04A5-61EB-C35E-76EA69102216}"/>
              </a:ext>
            </a:extLst>
          </p:cNvPr>
          <p:cNvSpPr txBox="1"/>
          <p:nvPr/>
        </p:nvSpPr>
        <p:spPr>
          <a:xfrm>
            <a:off x="10054953" y="2066163"/>
            <a:ext cx="1479892" cy="369332"/>
          </a:xfrm>
          <a:prstGeom prst="rect">
            <a:avLst/>
          </a:prstGeom>
          <a:noFill/>
        </p:spPr>
        <p:txBody>
          <a:bodyPr wrap="none" rtlCol="0">
            <a:spAutoFit/>
          </a:bodyPr>
          <a:lstStyle/>
          <a:p>
            <a:r>
              <a:rPr lang="en-US" dirty="0"/>
              <a:t>Min(dept) = 0</a:t>
            </a:r>
          </a:p>
        </p:txBody>
      </p:sp>
      <p:sp>
        <p:nvSpPr>
          <p:cNvPr id="8" name="TextBox 7">
            <a:extLst>
              <a:ext uri="{FF2B5EF4-FFF2-40B4-BE49-F238E27FC236}">
                <a16:creationId xmlns:a16="http://schemas.microsoft.com/office/drawing/2014/main" id="{BC7F38CC-9589-5F5E-50CF-C647E734E920}"/>
              </a:ext>
            </a:extLst>
          </p:cNvPr>
          <p:cNvSpPr txBox="1"/>
          <p:nvPr/>
        </p:nvSpPr>
        <p:spPr>
          <a:xfrm>
            <a:off x="703385" y="2782461"/>
            <a:ext cx="1563248" cy="369332"/>
          </a:xfrm>
          <a:prstGeom prst="rect">
            <a:avLst/>
          </a:prstGeom>
          <a:noFill/>
        </p:spPr>
        <p:txBody>
          <a:bodyPr wrap="none" rtlCol="0">
            <a:spAutoFit/>
          </a:bodyPr>
          <a:lstStyle/>
          <a:p>
            <a:r>
              <a:rPr lang="en-US" dirty="0"/>
              <a:t>Max (emp) = 1</a:t>
            </a:r>
          </a:p>
        </p:txBody>
      </p:sp>
      <p:sp>
        <p:nvSpPr>
          <p:cNvPr id="9" name="TextBox 8">
            <a:extLst>
              <a:ext uri="{FF2B5EF4-FFF2-40B4-BE49-F238E27FC236}">
                <a16:creationId xmlns:a16="http://schemas.microsoft.com/office/drawing/2014/main" id="{9D5A8E30-C0D3-E9DB-EFCB-23C80D17B0F1}"/>
              </a:ext>
            </a:extLst>
          </p:cNvPr>
          <p:cNvSpPr txBox="1"/>
          <p:nvPr/>
        </p:nvSpPr>
        <p:spPr>
          <a:xfrm>
            <a:off x="10054953" y="2782461"/>
            <a:ext cx="1571264" cy="369332"/>
          </a:xfrm>
          <a:prstGeom prst="rect">
            <a:avLst/>
          </a:prstGeom>
          <a:noFill/>
        </p:spPr>
        <p:txBody>
          <a:bodyPr wrap="none" rtlCol="0">
            <a:spAutoFit/>
          </a:bodyPr>
          <a:lstStyle/>
          <a:p>
            <a:r>
              <a:rPr lang="en-US" dirty="0"/>
              <a:t>Max (dept) = 3</a:t>
            </a:r>
          </a:p>
        </p:txBody>
      </p:sp>
    </p:spTree>
    <p:extLst>
      <p:ext uri="{BB962C8B-B14F-4D97-AF65-F5344CB8AC3E}">
        <p14:creationId xmlns:p14="http://schemas.microsoft.com/office/powerpoint/2010/main" val="222367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FC43-B481-6BFF-C91E-088531B49B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8EA7228-0BC8-4E4D-8189-2A160F3E9562}"/>
              </a:ext>
            </a:extLst>
          </p:cNvPr>
          <p:cNvPicPr>
            <a:picLocks noChangeAspect="1"/>
          </p:cNvPicPr>
          <p:nvPr/>
        </p:nvPicPr>
        <p:blipFill>
          <a:blip r:embed="rId2"/>
          <a:stretch>
            <a:fillRect/>
          </a:stretch>
        </p:blipFill>
        <p:spPr>
          <a:xfrm>
            <a:off x="2209800" y="215104"/>
            <a:ext cx="7772400" cy="4071451"/>
          </a:xfrm>
          <a:prstGeom prst="rect">
            <a:avLst/>
          </a:prstGeom>
        </p:spPr>
      </p:pic>
      <p:sp>
        <p:nvSpPr>
          <p:cNvPr id="5" name="TextBox 4">
            <a:extLst>
              <a:ext uri="{FF2B5EF4-FFF2-40B4-BE49-F238E27FC236}">
                <a16:creationId xmlns:a16="http://schemas.microsoft.com/office/drawing/2014/main" id="{FEC9959B-F5D9-D08F-FB84-9F9F598BF91F}"/>
              </a:ext>
            </a:extLst>
          </p:cNvPr>
          <p:cNvSpPr txBox="1"/>
          <p:nvPr/>
        </p:nvSpPr>
        <p:spPr>
          <a:xfrm>
            <a:off x="844060" y="4906108"/>
            <a:ext cx="10146323" cy="646331"/>
          </a:xfrm>
          <a:prstGeom prst="rect">
            <a:avLst/>
          </a:prstGeom>
          <a:noFill/>
        </p:spPr>
        <p:txBody>
          <a:bodyPr wrap="square" rtlCol="0">
            <a:spAutoFit/>
          </a:bodyPr>
          <a:lstStyle/>
          <a:p>
            <a:r>
              <a:rPr lang="en-US" dirty="0"/>
              <a:t>If min (cardinality)  = 1 </a:t>
            </a:r>
            <a:r>
              <a:rPr lang="en-US" dirty="0">
                <a:highlight>
                  <a:srgbClr val="FFFF00"/>
                </a:highlight>
              </a:rPr>
              <a:t>&gt;&gt; total participation</a:t>
            </a:r>
          </a:p>
          <a:p>
            <a:r>
              <a:rPr lang="en-US" dirty="0"/>
              <a:t>If min (cardinality) =0 </a:t>
            </a:r>
            <a:r>
              <a:rPr lang="en-US" dirty="0">
                <a:highlight>
                  <a:srgbClr val="FFFF00"/>
                </a:highlight>
              </a:rPr>
              <a:t>&gt;&gt; partial participation</a:t>
            </a:r>
          </a:p>
        </p:txBody>
      </p:sp>
      <p:sp>
        <p:nvSpPr>
          <p:cNvPr id="6" name="TextBox 5">
            <a:extLst>
              <a:ext uri="{FF2B5EF4-FFF2-40B4-BE49-F238E27FC236}">
                <a16:creationId xmlns:a16="http://schemas.microsoft.com/office/drawing/2014/main" id="{44ACB8DA-C804-F94D-B8A7-44ED35424A30}"/>
              </a:ext>
            </a:extLst>
          </p:cNvPr>
          <p:cNvSpPr txBox="1"/>
          <p:nvPr/>
        </p:nvSpPr>
        <p:spPr>
          <a:xfrm>
            <a:off x="703385" y="2162908"/>
            <a:ext cx="1471878" cy="369332"/>
          </a:xfrm>
          <a:prstGeom prst="rect">
            <a:avLst/>
          </a:prstGeom>
          <a:noFill/>
        </p:spPr>
        <p:txBody>
          <a:bodyPr wrap="none" rtlCol="0">
            <a:spAutoFit/>
          </a:bodyPr>
          <a:lstStyle/>
          <a:p>
            <a:r>
              <a:rPr lang="en-US" dirty="0"/>
              <a:t>Min(emp) = 1</a:t>
            </a:r>
          </a:p>
        </p:txBody>
      </p:sp>
      <p:sp>
        <p:nvSpPr>
          <p:cNvPr id="7" name="TextBox 6">
            <a:extLst>
              <a:ext uri="{FF2B5EF4-FFF2-40B4-BE49-F238E27FC236}">
                <a16:creationId xmlns:a16="http://schemas.microsoft.com/office/drawing/2014/main" id="{5232C89C-587C-7333-096D-28DBDD0594E6}"/>
              </a:ext>
            </a:extLst>
          </p:cNvPr>
          <p:cNvSpPr txBox="1"/>
          <p:nvPr/>
        </p:nvSpPr>
        <p:spPr>
          <a:xfrm>
            <a:off x="10054953" y="2066163"/>
            <a:ext cx="1479892" cy="369332"/>
          </a:xfrm>
          <a:prstGeom prst="rect">
            <a:avLst/>
          </a:prstGeom>
          <a:noFill/>
        </p:spPr>
        <p:txBody>
          <a:bodyPr wrap="none" rtlCol="0">
            <a:spAutoFit/>
          </a:bodyPr>
          <a:lstStyle/>
          <a:p>
            <a:r>
              <a:rPr lang="en-US" dirty="0"/>
              <a:t>Min(dept) = 0</a:t>
            </a:r>
          </a:p>
        </p:txBody>
      </p:sp>
      <p:sp>
        <p:nvSpPr>
          <p:cNvPr id="8" name="TextBox 7">
            <a:extLst>
              <a:ext uri="{FF2B5EF4-FFF2-40B4-BE49-F238E27FC236}">
                <a16:creationId xmlns:a16="http://schemas.microsoft.com/office/drawing/2014/main" id="{8E07023F-378D-C2DB-EBD7-02390FE4D555}"/>
              </a:ext>
            </a:extLst>
          </p:cNvPr>
          <p:cNvSpPr txBox="1"/>
          <p:nvPr/>
        </p:nvSpPr>
        <p:spPr>
          <a:xfrm>
            <a:off x="703385" y="2782461"/>
            <a:ext cx="1563248" cy="369332"/>
          </a:xfrm>
          <a:prstGeom prst="rect">
            <a:avLst/>
          </a:prstGeom>
          <a:noFill/>
        </p:spPr>
        <p:txBody>
          <a:bodyPr wrap="none" rtlCol="0">
            <a:spAutoFit/>
          </a:bodyPr>
          <a:lstStyle/>
          <a:p>
            <a:r>
              <a:rPr lang="en-US" dirty="0"/>
              <a:t>Max (emp) = 1</a:t>
            </a:r>
          </a:p>
        </p:txBody>
      </p:sp>
      <p:sp>
        <p:nvSpPr>
          <p:cNvPr id="9" name="TextBox 8">
            <a:extLst>
              <a:ext uri="{FF2B5EF4-FFF2-40B4-BE49-F238E27FC236}">
                <a16:creationId xmlns:a16="http://schemas.microsoft.com/office/drawing/2014/main" id="{5A6F899C-CB73-6E55-90C0-A04B9AC884C2}"/>
              </a:ext>
            </a:extLst>
          </p:cNvPr>
          <p:cNvSpPr txBox="1"/>
          <p:nvPr/>
        </p:nvSpPr>
        <p:spPr>
          <a:xfrm>
            <a:off x="10054953" y="2782461"/>
            <a:ext cx="1571264" cy="369332"/>
          </a:xfrm>
          <a:prstGeom prst="rect">
            <a:avLst/>
          </a:prstGeom>
          <a:noFill/>
        </p:spPr>
        <p:txBody>
          <a:bodyPr wrap="none" rtlCol="0">
            <a:spAutoFit/>
          </a:bodyPr>
          <a:lstStyle/>
          <a:p>
            <a:r>
              <a:rPr lang="en-US" dirty="0"/>
              <a:t>Max (dept) = 3</a:t>
            </a:r>
          </a:p>
        </p:txBody>
      </p:sp>
    </p:spTree>
    <p:extLst>
      <p:ext uri="{BB962C8B-B14F-4D97-AF65-F5344CB8AC3E}">
        <p14:creationId xmlns:p14="http://schemas.microsoft.com/office/powerpoint/2010/main" val="118784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F4776-06EC-81BB-F0EF-BCF7D9606AD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9511B5-AC41-7743-5598-416ABFC941E0}"/>
              </a:ext>
            </a:extLst>
          </p:cNvPr>
          <p:cNvPicPr>
            <a:picLocks noChangeAspect="1"/>
          </p:cNvPicPr>
          <p:nvPr/>
        </p:nvPicPr>
        <p:blipFill>
          <a:blip r:embed="rId2"/>
          <a:stretch>
            <a:fillRect/>
          </a:stretch>
        </p:blipFill>
        <p:spPr>
          <a:xfrm>
            <a:off x="2209800" y="215104"/>
            <a:ext cx="7772400" cy="4071451"/>
          </a:xfrm>
          <a:prstGeom prst="rect">
            <a:avLst/>
          </a:prstGeom>
        </p:spPr>
      </p:pic>
      <p:sp>
        <p:nvSpPr>
          <p:cNvPr id="6" name="TextBox 5">
            <a:extLst>
              <a:ext uri="{FF2B5EF4-FFF2-40B4-BE49-F238E27FC236}">
                <a16:creationId xmlns:a16="http://schemas.microsoft.com/office/drawing/2014/main" id="{D7042570-9CB4-4D7C-2A66-48C624F41518}"/>
              </a:ext>
            </a:extLst>
          </p:cNvPr>
          <p:cNvSpPr txBox="1"/>
          <p:nvPr/>
        </p:nvSpPr>
        <p:spPr>
          <a:xfrm>
            <a:off x="703385" y="2162908"/>
            <a:ext cx="1471878" cy="369332"/>
          </a:xfrm>
          <a:prstGeom prst="rect">
            <a:avLst/>
          </a:prstGeom>
          <a:noFill/>
        </p:spPr>
        <p:txBody>
          <a:bodyPr wrap="none" rtlCol="0">
            <a:spAutoFit/>
          </a:bodyPr>
          <a:lstStyle/>
          <a:p>
            <a:r>
              <a:rPr lang="en-US" dirty="0"/>
              <a:t>Min(emp) = 1</a:t>
            </a:r>
          </a:p>
        </p:txBody>
      </p:sp>
      <p:sp>
        <p:nvSpPr>
          <p:cNvPr id="7" name="TextBox 6">
            <a:extLst>
              <a:ext uri="{FF2B5EF4-FFF2-40B4-BE49-F238E27FC236}">
                <a16:creationId xmlns:a16="http://schemas.microsoft.com/office/drawing/2014/main" id="{A680D354-E89C-AEF3-D818-04A23B300DC8}"/>
              </a:ext>
            </a:extLst>
          </p:cNvPr>
          <p:cNvSpPr txBox="1"/>
          <p:nvPr/>
        </p:nvSpPr>
        <p:spPr>
          <a:xfrm>
            <a:off x="10054953" y="2066163"/>
            <a:ext cx="1479892" cy="369332"/>
          </a:xfrm>
          <a:prstGeom prst="rect">
            <a:avLst/>
          </a:prstGeom>
          <a:noFill/>
        </p:spPr>
        <p:txBody>
          <a:bodyPr wrap="none" rtlCol="0">
            <a:spAutoFit/>
          </a:bodyPr>
          <a:lstStyle/>
          <a:p>
            <a:r>
              <a:rPr lang="en-US" dirty="0"/>
              <a:t>Min(dept) = 0</a:t>
            </a:r>
          </a:p>
        </p:txBody>
      </p:sp>
      <p:sp>
        <p:nvSpPr>
          <p:cNvPr id="8" name="TextBox 7">
            <a:extLst>
              <a:ext uri="{FF2B5EF4-FFF2-40B4-BE49-F238E27FC236}">
                <a16:creationId xmlns:a16="http://schemas.microsoft.com/office/drawing/2014/main" id="{A3983B86-0549-FF42-2307-FDC9D2440209}"/>
              </a:ext>
            </a:extLst>
          </p:cNvPr>
          <p:cNvSpPr txBox="1"/>
          <p:nvPr/>
        </p:nvSpPr>
        <p:spPr>
          <a:xfrm>
            <a:off x="703385" y="2782461"/>
            <a:ext cx="1563248" cy="369332"/>
          </a:xfrm>
          <a:prstGeom prst="rect">
            <a:avLst/>
          </a:prstGeom>
          <a:noFill/>
        </p:spPr>
        <p:txBody>
          <a:bodyPr wrap="none" rtlCol="0">
            <a:spAutoFit/>
          </a:bodyPr>
          <a:lstStyle/>
          <a:p>
            <a:r>
              <a:rPr lang="en-US" dirty="0"/>
              <a:t>Max (emp) = 1</a:t>
            </a:r>
          </a:p>
        </p:txBody>
      </p:sp>
      <p:sp>
        <p:nvSpPr>
          <p:cNvPr id="9" name="TextBox 8">
            <a:extLst>
              <a:ext uri="{FF2B5EF4-FFF2-40B4-BE49-F238E27FC236}">
                <a16:creationId xmlns:a16="http://schemas.microsoft.com/office/drawing/2014/main" id="{8BACAD76-5AD7-0700-D2AB-43827D874E6B}"/>
              </a:ext>
            </a:extLst>
          </p:cNvPr>
          <p:cNvSpPr txBox="1"/>
          <p:nvPr/>
        </p:nvSpPr>
        <p:spPr>
          <a:xfrm>
            <a:off x="10054953" y="2782461"/>
            <a:ext cx="1571264" cy="369332"/>
          </a:xfrm>
          <a:prstGeom prst="rect">
            <a:avLst/>
          </a:prstGeom>
          <a:noFill/>
        </p:spPr>
        <p:txBody>
          <a:bodyPr wrap="none" rtlCol="0">
            <a:spAutoFit/>
          </a:bodyPr>
          <a:lstStyle/>
          <a:p>
            <a:r>
              <a:rPr lang="en-US" dirty="0"/>
              <a:t>Max (dept) = 3</a:t>
            </a:r>
          </a:p>
        </p:txBody>
      </p:sp>
      <p:pic>
        <p:nvPicPr>
          <p:cNvPr id="2" name="Picture 1">
            <a:extLst>
              <a:ext uri="{FF2B5EF4-FFF2-40B4-BE49-F238E27FC236}">
                <a16:creationId xmlns:a16="http://schemas.microsoft.com/office/drawing/2014/main" id="{6D0D8CA0-D33E-FA42-DCFD-1A63F628097A}"/>
              </a:ext>
            </a:extLst>
          </p:cNvPr>
          <p:cNvPicPr>
            <a:picLocks noChangeAspect="1"/>
          </p:cNvPicPr>
          <p:nvPr/>
        </p:nvPicPr>
        <p:blipFill>
          <a:blip r:embed="rId3"/>
          <a:stretch>
            <a:fillRect/>
          </a:stretch>
        </p:blipFill>
        <p:spPr>
          <a:xfrm>
            <a:off x="2060847" y="4309775"/>
            <a:ext cx="7772400" cy="2333121"/>
          </a:xfrm>
          <a:prstGeom prst="rect">
            <a:avLst/>
          </a:prstGeom>
        </p:spPr>
      </p:pic>
    </p:spTree>
    <p:extLst>
      <p:ext uri="{BB962C8B-B14F-4D97-AF65-F5344CB8AC3E}">
        <p14:creationId xmlns:p14="http://schemas.microsoft.com/office/powerpoint/2010/main" val="246423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8A25163-D676-27C8-9849-9DA0DF2924AA}"/>
              </a:ext>
            </a:extLst>
          </p:cNvPr>
          <p:cNvPicPr>
            <a:picLocks noGrp="1" noChangeAspect="1"/>
          </p:cNvPicPr>
          <p:nvPr>
            <p:ph idx="1"/>
          </p:nvPr>
        </p:nvPicPr>
        <p:blipFill>
          <a:blip r:embed="rId2"/>
          <a:stretch>
            <a:fillRect/>
          </a:stretch>
        </p:blipFill>
        <p:spPr>
          <a:xfrm rot="16200000">
            <a:off x="4844376" y="-1634386"/>
            <a:ext cx="2163282" cy="6154613"/>
          </a:xfrm>
          <a:prstGeom prst="rect">
            <a:avLst/>
          </a:prstGeom>
        </p:spPr>
      </p:pic>
      <p:pic>
        <p:nvPicPr>
          <p:cNvPr id="5" name="Picture 4">
            <a:extLst>
              <a:ext uri="{FF2B5EF4-FFF2-40B4-BE49-F238E27FC236}">
                <a16:creationId xmlns:a16="http://schemas.microsoft.com/office/drawing/2014/main" id="{DD7BAC25-D89E-2FC2-7D28-6DA78C5DCF57}"/>
              </a:ext>
            </a:extLst>
          </p:cNvPr>
          <p:cNvPicPr>
            <a:picLocks noChangeAspect="1"/>
          </p:cNvPicPr>
          <p:nvPr/>
        </p:nvPicPr>
        <p:blipFill>
          <a:blip r:embed="rId3"/>
          <a:stretch>
            <a:fillRect/>
          </a:stretch>
        </p:blipFill>
        <p:spPr>
          <a:xfrm>
            <a:off x="3053866" y="2524562"/>
            <a:ext cx="5949458" cy="4041421"/>
          </a:xfrm>
          <a:prstGeom prst="rect">
            <a:avLst/>
          </a:prstGeom>
        </p:spPr>
      </p:pic>
      <p:sp>
        <p:nvSpPr>
          <p:cNvPr id="6" name="TextBox 5">
            <a:extLst>
              <a:ext uri="{FF2B5EF4-FFF2-40B4-BE49-F238E27FC236}">
                <a16:creationId xmlns:a16="http://schemas.microsoft.com/office/drawing/2014/main" id="{C311B79F-0580-BE02-1998-D9D25C771200}"/>
              </a:ext>
            </a:extLst>
          </p:cNvPr>
          <p:cNvSpPr txBox="1"/>
          <p:nvPr/>
        </p:nvSpPr>
        <p:spPr>
          <a:xfrm>
            <a:off x="1248508" y="4026877"/>
            <a:ext cx="1539652" cy="646331"/>
          </a:xfrm>
          <a:prstGeom prst="rect">
            <a:avLst/>
          </a:prstGeom>
          <a:noFill/>
        </p:spPr>
        <p:txBody>
          <a:bodyPr wrap="none" rtlCol="0">
            <a:spAutoFit/>
          </a:bodyPr>
          <a:lstStyle/>
          <a:p>
            <a:r>
              <a:rPr lang="en-US" dirty="0"/>
              <a:t>Min(team) = 1</a:t>
            </a:r>
          </a:p>
          <a:p>
            <a:endParaRPr lang="en-US" dirty="0"/>
          </a:p>
        </p:txBody>
      </p:sp>
      <p:sp>
        <p:nvSpPr>
          <p:cNvPr id="7" name="TextBox 6">
            <a:extLst>
              <a:ext uri="{FF2B5EF4-FFF2-40B4-BE49-F238E27FC236}">
                <a16:creationId xmlns:a16="http://schemas.microsoft.com/office/drawing/2014/main" id="{3BEF8060-7905-7BEC-2E58-A3E78F41C348}"/>
              </a:ext>
            </a:extLst>
          </p:cNvPr>
          <p:cNvSpPr txBox="1"/>
          <p:nvPr/>
        </p:nvSpPr>
        <p:spPr>
          <a:xfrm>
            <a:off x="9671539" y="3916526"/>
            <a:ext cx="1636089" cy="646331"/>
          </a:xfrm>
          <a:prstGeom prst="rect">
            <a:avLst/>
          </a:prstGeom>
          <a:noFill/>
        </p:spPr>
        <p:txBody>
          <a:bodyPr wrap="none" rtlCol="0">
            <a:spAutoFit/>
          </a:bodyPr>
          <a:lstStyle/>
          <a:p>
            <a:r>
              <a:rPr lang="en-US" dirty="0"/>
              <a:t>Min(player) = 0</a:t>
            </a:r>
          </a:p>
          <a:p>
            <a:endParaRPr lang="en-US" dirty="0"/>
          </a:p>
        </p:txBody>
      </p:sp>
      <p:sp>
        <p:nvSpPr>
          <p:cNvPr id="9" name="TextBox 8">
            <a:extLst>
              <a:ext uri="{FF2B5EF4-FFF2-40B4-BE49-F238E27FC236}">
                <a16:creationId xmlns:a16="http://schemas.microsoft.com/office/drawing/2014/main" id="{53CB5233-BAB5-CE8C-F485-2EDE31F9AAAB}"/>
              </a:ext>
            </a:extLst>
          </p:cNvPr>
          <p:cNvSpPr txBox="1"/>
          <p:nvPr/>
        </p:nvSpPr>
        <p:spPr>
          <a:xfrm>
            <a:off x="3569679" y="5919652"/>
            <a:ext cx="6101860" cy="646331"/>
          </a:xfrm>
          <a:prstGeom prst="rect">
            <a:avLst/>
          </a:prstGeom>
          <a:noFill/>
        </p:spPr>
        <p:txBody>
          <a:bodyPr wrap="square">
            <a:spAutoFit/>
          </a:bodyPr>
          <a:lstStyle/>
          <a:p>
            <a:r>
              <a:rPr lang="en-US" dirty="0"/>
              <a:t>If min (cardinality)  = 1 </a:t>
            </a:r>
            <a:r>
              <a:rPr lang="en-US" dirty="0">
                <a:highlight>
                  <a:srgbClr val="FFFF00"/>
                </a:highlight>
              </a:rPr>
              <a:t>&gt;&gt; total participation</a:t>
            </a:r>
          </a:p>
          <a:p>
            <a:r>
              <a:rPr lang="en-US" dirty="0"/>
              <a:t>If min (cardinality) =0 </a:t>
            </a:r>
            <a:r>
              <a:rPr lang="en-US" dirty="0">
                <a:highlight>
                  <a:srgbClr val="FFFF00"/>
                </a:highlight>
              </a:rPr>
              <a:t>&gt;&gt; partial participation</a:t>
            </a:r>
          </a:p>
        </p:txBody>
      </p:sp>
    </p:spTree>
    <p:extLst>
      <p:ext uri="{BB962C8B-B14F-4D97-AF65-F5344CB8AC3E}">
        <p14:creationId xmlns:p14="http://schemas.microsoft.com/office/powerpoint/2010/main" val="78766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7CD55-4497-36F6-BC28-A640888A968B}"/>
              </a:ext>
            </a:extLst>
          </p:cNvPr>
          <p:cNvSpPr>
            <a:spLocks noGrp="1"/>
          </p:cNvSpPr>
          <p:nvPr>
            <p:ph type="title"/>
          </p:nvPr>
        </p:nvSpPr>
        <p:spPr/>
        <p:txBody>
          <a:bodyPr/>
          <a:lstStyle/>
          <a:p>
            <a:r>
              <a:rPr lang="en-US" dirty="0"/>
              <a:t>Steps to draw ER diagram</a:t>
            </a:r>
          </a:p>
        </p:txBody>
      </p:sp>
      <p:sp>
        <p:nvSpPr>
          <p:cNvPr id="3" name="Content Placeholder 2">
            <a:extLst>
              <a:ext uri="{FF2B5EF4-FFF2-40B4-BE49-F238E27FC236}">
                <a16:creationId xmlns:a16="http://schemas.microsoft.com/office/drawing/2014/main" id="{15448760-7F73-9040-383B-7C587BAD9595}"/>
              </a:ext>
            </a:extLst>
          </p:cNvPr>
          <p:cNvSpPr>
            <a:spLocks noGrp="1"/>
          </p:cNvSpPr>
          <p:nvPr>
            <p:ph idx="1"/>
          </p:nvPr>
        </p:nvSpPr>
        <p:spPr/>
        <p:txBody>
          <a:bodyPr>
            <a:normAutofit/>
          </a:bodyPr>
          <a:lstStyle/>
          <a:p>
            <a:pPr marL="514350" indent="-514350">
              <a:buAutoNum type="arabicPeriod"/>
            </a:pPr>
            <a:r>
              <a:rPr lang="en-US" dirty="0"/>
              <a:t>Read the question</a:t>
            </a:r>
          </a:p>
          <a:p>
            <a:pPr marL="514350" indent="-514350">
              <a:buFont typeface="Arial" panose="020B0604020202020204" pitchFamily="34" charset="0"/>
              <a:buAutoNum type="arabicPeriod"/>
            </a:pPr>
            <a:r>
              <a:rPr lang="en-US" dirty="0"/>
              <a:t>Read the question </a:t>
            </a:r>
            <a:r>
              <a:rPr lang="en-US" dirty="0">
                <a:highlight>
                  <a:srgbClr val="FFFF00"/>
                </a:highlight>
              </a:rPr>
              <a:t>(again)</a:t>
            </a:r>
          </a:p>
          <a:p>
            <a:pPr marL="514350" indent="-514350">
              <a:buFont typeface="Arial" panose="020B0604020202020204" pitchFamily="34" charset="0"/>
              <a:buAutoNum type="arabicPeriod"/>
            </a:pPr>
            <a:r>
              <a:rPr lang="en-US" dirty="0"/>
              <a:t>Read the question</a:t>
            </a:r>
            <a:r>
              <a:rPr lang="en-US" dirty="0">
                <a:highlight>
                  <a:srgbClr val="FFFF00"/>
                </a:highlight>
              </a:rPr>
              <a:t>(again)</a:t>
            </a:r>
          </a:p>
          <a:p>
            <a:pPr marL="514350" indent="-514350">
              <a:buAutoNum type="arabicPeriod"/>
            </a:pPr>
            <a:r>
              <a:rPr lang="en-US" dirty="0"/>
              <a:t>Identify the entity sets</a:t>
            </a:r>
          </a:p>
          <a:p>
            <a:pPr marL="514350" indent="-514350">
              <a:buAutoNum type="arabicPeriod"/>
            </a:pPr>
            <a:r>
              <a:rPr lang="en-US" dirty="0"/>
              <a:t>Identify the relevant attributes</a:t>
            </a:r>
          </a:p>
          <a:p>
            <a:pPr marL="514350" indent="-514350">
              <a:buAutoNum type="arabicPeriod"/>
            </a:pPr>
            <a:r>
              <a:rPr lang="en-US" dirty="0"/>
              <a:t>Identify the primary keys (and any other keys)</a:t>
            </a:r>
          </a:p>
          <a:p>
            <a:pPr marL="514350" indent="-514350">
              <a:buAutoNum type="arabicPeriod"/>
            </a:pPr>
            <a:r>
              <a:rPr lang="en-US" dirty="0"/>
              <a:t>Identify the relationships</a:t>
            </a:r>
          </a:p>
          <a:p>
            <a:pPr marL="514350" indent="-514350">
              <a:buAutoNum type="arabicPeriod"/>
            </a:pPr>
            <a:r>
              <a:rPr lang="en-US" dirty="0"/>
              <a:t>Complete the diagram</a:t>
            </a:r>
          </a:p>
          <a:p>
            <a:pPr marL="514350" indent="-514350">
              <a:buAutoNum type="arabicPeriod"/>
            </a:pPr>
            <a:endParaRPr lang="en-US" dirty="0"/>
          </a:p>
        </p:txBody>
      </p:sp>
    </p:spTree>
    <p:extLst>
      <p:ext uri="{BB962C8B-B14F-4D97-AF65-F5344CB8AC3E}">
        <p14:creationId xmlns:p14="http://schemas.microsoft.com/office/powerpoint/2010/main" val="246744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0B34-A6EC-E2C2-7361-93E67D0C0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143A1-5C8A-4876-40BD-76978C17524B}"/>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60F78F9B-D090-91B7-D67C-CBF235C53133}"/>
              </a:ext>
            </a:extLst>
          </p:cNvPr>
          <p:cNvSpPr>
            <a:spLocks noGrp="1"/>
          </p:cNvSpPr>
          <p:nvPr>
            <p:ph idx="1"/>
          </p:nvPr>
        </p:nvSpPr>
        <p:spPr/>
        <p:txBody>
          <a:bodyPr>
            <a:normAutofit fontScale="85000" lnSpcReduction="10000"/>
          </a:bodyPr>
          <a:lstStyle/>
          <a:p>
            <a:r>
              <a:rPr lang="en-CA" sz="2000" dirty="0"/>
              <a:t>The Eldercare Retirement home wishes to store information about their residents including their names, ages, date of birth, OHIP numbers. </a:t>
            </a:r>
          </a:p>
          <a:p>
            <a:r>
              <a:rPr lang="en-CA" sz="2000" dirty="0"/>
              <a:t>Many of the residents in Eldercare are married couples. We should note these relationships in the database.  </a:t>
            </a:r>
          </a:p>
          <a:p>
            <a:r>
              <a:rPr lang="en-CA" sz="2000" dirty="0"/>
              <a:t>Rooms are numbered 1-35. Each room is one of single, double or triple occupancy.  Each room has a unique phone number. All residents are assigned to a room.</a:t>
            </a:r>
          </a:p>
          <a:p>
            <a:r>
              <a:rPr lang="en-CA" sz="2000" dirty="0"/>
              <a:t>A number of people work at Eldercare.  Nurses are identified by a unique ID and have a single rank (RN, RNA </a:t>
            </a:r>
            <a:r>
              <a:rPr lang="en-CA" sz="2000" dirty="0" err="1"/>
              <a:t>etc</a:t>
            </a:r>
            <a:r>
              <a:rPr lang="en-CA" sz="2000" dirty="0"/>
              <a:t>), a name and an address.  Nurses also have a work schedule that indicates the date of their shift, the start time and the end time.  A nurse would not be assigned two shifts on the same date.</a:t>
            </a:r>
          </a:p>
          <a:p>
            <a:r>
              <a:rPr lang="en-CA" sz="2000" dirty="0"/>
              <a:t>Eldercare employs a number of doctors each with different types of specialties (a doctor may be more than one type of specialist).  A doctor has an employee ID, a name and an address and one or more phone numbers where they can be reached.</a:t>
            </a:r>
          </a:p>
          <a:p>
            <a:r>
              <a:rPr lang="en-CA" sz="2000" dirty="0"/>
              <a:t>Residents are treated by one or more Eldercare doctors but all residents have a single primary care doctor.</a:t>
            </a:r>
          </a:p>
          <a:p>
            <a:r>
              <a:rPr lang="en-CA" sz="2000" dirty="0"/>
              <a:t>Eldercare has a staff of "helpers" and each has an employee ID, a name and an address.  We'd also like to keep track of how long the helper has been working at Eldercare.  Helpers are assigned to help specific patients and each resident is assigned exactly one helper.</a:t>
            </a:r>
          </a:p>
        </p:txBody>
      </p:sp>
    </p:spTree>
    <p:extLst>
      <p:ext uri="{BB962C8B-B14F-4D97-AF65-F5344CB8AC3E}">
        <p14:creationId xmlns:p14="http://schemas.microsoft.com/office/powerpoint/2010/main" val="3486284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07138-348E-D017-8C75-5E7753B54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A7CD9-F011-E60E-83C7-FA5013B0FED3}"/>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5C180B4-E478-9552-CA47-7DE551794CB9}"/>
              </a:ext>
            </a:extLst>
          </p:cNvPr>
          <p:cNvSpPr>
            <a:spLocks noGrp="1"/>
          </p:cNvSpPr>
          <p:nvPr>
            <p:ph idx="1"/>
          </p:nvPr>
        </p:nvSpPr>
        <p:spPr/>
        <p:txBody>
          <a:bodyPr>
            <a:normAutofit/>
          </a:bodyPr>
          <a:lstStyle/>
          <a:p>
            <a:r>
              <a:rPr lang="en-CA" sz="2000" dirty="0"/>
              <a:t>The Eldercare Retirement home wishes to store information about their </a:t>
            </a:r>
            <a:r>
              <a:rPr lang="en-CA" sz="2000" dirty="0">
                <a:highlight>
                  <a:srgbClr val="FFFF00"/>
                </a:highlight>
              </a:rPr>
              <a:t>residents</a:t>
            </a:r>
            <a:r>
              <a:rPr lang="en-CA" sz="2000" dirty="0"/>
              <a:t> including their names, ages, date of birth, OHIP numbers. </a:t>
            </a:r>
          </a:p>
        </p:txBody>
      </p:sp>
      <p:pic>
        <p:nvPicPr>
          <p:cNvPr id="4" name="Picture 3">
            <a:extLst>
              <a:ext uri="{FF2B5EF4-FFF2-40B4-BE49-F238E27FC236}">
                <a16:creationId xmlns:a16="http://schemas.microsoft.com/office/drawing/2014/main" id="{9CBF0A9E-A7DB-F438-FD9A-551C62C0EECC}"/>
              </a:ext>
            </a:extLst>
          </p:cNvPr>
          <p:cNvPicPr>
            <a:picLocks noChangeAspect="1"/>
          </p:cNvPicPr>
          <p:nvPr/>
        </p:nvPicPr>
        <p:blipFill>
          <a:blip r:embed="rId2"/>
          <a:stretch>
            <a:fillRect/>
          </a:stretch>
        </p:blipFill>
        <p:spPr>
          <a:xfrm>
            <a:off x="2508739" y="2895654"/>
            <a:ext cx="6863862" cy="3145674"/>
          </a:xfrm>
          <a:prstGeom prst="rect">
            <a:avLst/>
          </a:prstGeom>
        </p:spPr>
      </p:pic>
      <p:sp>
        <p:nvSpPr>
          <p:cNvPr id="5" name="TextBox 4">
            <a:extLst>
              <a:ext uri="{FF2B5EF4-FFF2-40B4-BE49-F238E27FC236}">
                <a16:creationId xmlns:a16="http://schemas.microsoft.com/office/drawing/2014/main" id="{1A184CC3-85EE-41DC-A976-A2CC6B74E1C7}"/>
              </a:ext>
            </a:extLst>
          </p:cNvPr>
          <p:cNvSpPr txBox="1"/>
          <p:nvPr/>
        </p:nvSpPr>
        <p:spPr>
          <a:xfrm>
            <a:off x="8897815" y="6453554"/>
            <a:ext cx="2646815" cy="369332"/>
          </a:xfrm>
          <a:prstGeom prst="rect">
            <a:avLst/>
          </a:prstGeom>
          <a:noFill/>
        </p:spPr>
        <p:txBody>
          <a:bodyPr wrap="none" rtlCol="0">
            <a:spAutoFit/>
          </a:bodyPr>
          <a:lstStyle/>
          <a:p>
            <a:r>
              <a:rPr lang="en-US" dirty="0"/>
              <a:t>Assuming </a:t>
            </a:r>
            <a:r>
              <a:rPr lang="en-US" dirty="0" err="1"/>
              <a:t>ohip</a:t>
            </a:r>
            <a:r>
              <a:rPr lang="en-US" dirty="0"/>
              <a:t> is unique</a:t>
            </a:r>
          </a:p>
        </p:txBody>
      </p:sp>
    </p:spTree>
    <p:extLst>
      <p:ext uri="{BB962C8B-B14F-4D97-AF65-F5344CB8AC3E}">
        <p14:creationId xmlns:p14="http://schemas.microsoft.com/office/powerpoint/2010/main" val="321876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EADFB-BD47-E930-A16D-7C08E8A98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E4849-2854-3D2A-5ADF-EA9B155140F2}"/>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3B6C3F0-DF9C-EF73-96A2-170AFCAD1549}"/>
              </a:ext>
            </a:extLst>
          </p:cNvPr>
          <p:cNvSpPr>
            <a:spLocks noGrp="1"/>
          </p:cNvSpPr>
          <p:nvPr>
            <p:ph idx="1"/>
          </p:nvPr>
        </p:nvSpPr>
        <p:spPr/>
        <p:txBody>
          <a:bodyPr>
            <a:normAutofit/>
          </a:bodyPr>
          <a:lstStyle/>
          <a:p>
            <a:r>
              <a:rPr lang="en-CA" sz="2000" dirty="0"/>
              <a:t>Many of the residents in Eldercare are </a:t>
            </a:r>
            <a:r>
              <a:rPr lang="en-CA" sz="2000" dirty="0">
                <a:highlight>
                  <a:srgbClr val="FFFF00"/>
                </a:highlight>
              </a:rPr>
              <a:t>married couples</a:t>
            </a:r>
            <a:r>
              <a:rPr lang="en-CA" sz="2000" dirty="0"/>
              <a:t>. We should note these relationships in the database.  </a:t>
            </a:r>
          </a:p>
        </p:txBody>
      </p:sp>
      <p:pic>
        <p:nvPicPr>
          <p:cNvPr id="4" name="Picture 3">
            <a:extLst>
              <a:ext uri="{FF2B5EF4-FFF2-40B4-BE49-F238E27FC236}">
                <a16:creationId xmlns:a16="http://schemas.microsoft.com/office/drawing/2014/main" id="{CE9025EF-A00A-7197-6FBB-39756D5B834F}"/>
              </a:ext>
            </a:extLst>
          </p:cNvPr>
          <p:cNvPicPr>
            <a:picLocks noChangeAspect="1"/>
          </p:cNvPicPr>
          <p:nvPr/>
        </p:nvPicPr>
        <p:blipFill>
          <a:blip r:embed="rId2"/>
          <a:stretch>
            <a:fillRect/>
          </a:stretch>
        </p:blipFill>
        <p:spPr>
          <a:xfrm>
            <a:off x="1858108" y="2537058"/>
            <a:ext cx="7772400" cy="3774842"/>
          </a:xfrm>
          <a:prstGeom prst="rect">
            <a:avLst/>
          </a:prstGeom>
        </p:spPr>
      </p:pic>
    </p:spTree>
    <p:extLst>
      <p:ext uri="{BB962C8B-B14F-4D97-AF65-F5344CB8AC3E}">
        <p14:creationId xmlns:p14="http://schemas.microsoft.com/office/powerpoint/2010/main" val="398842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C63FB-EA1F-A193-AE9B-4978E72AD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73F27-2F58-5467-1E31-9EC7DCD7BEC0}"/>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2DA7547-DE53-B8B2-8E7E-00CEF1941129}"/>
              </a:ext>
            </a:extLst>
          </p:cNvPr>
          <p:cNvSpPr>
            <a:spLocks noGrp="1"/>
          </p:cNvSpPr>
          <p:nvPr>
            <p:ph idx="1"/>
          </p:nvPr>
        </p:nvSpPr>
        <p:spPr/>
        <p:txBody>
          <a:bodyPr>
            <a:normAutofit/>
          </a:bodyPr>
          <a:lstStyle/>
          <a:p>
            <a:r>
              <a:rPr lang="en-CA" sz="2000" dirty="0"/>
              <a:t>Rooms are numbered 1-35. Each room is one of </a:t>
            </a:r>
            <a:r>
              <a:rPr lang="en-CA" sz="2000" dirty="0">
                <a:highlight>
                  <a:srgbClr val="FFFF00"/>
                </a:highlight>
              </a:rPr>
              <a:t>single, double or triple </a:t>
            </a:r>
            <a:r>
              <a:rPr lang="en-CA" sz="2000" dirty="0"/>
              <a:t>occupancy.  Each room has a unique phone number. All residents are assigned to a room.</a:t>
            </a:r>
          </a:p>
        </p:txBody>
      </p:sp>
      <p:pic>
        <p:nvPicPr>
          <p:cNvPr id="4" name="Picture 3">
            <a:extLst>
              <a:ext uri="{FF2B5EF4-FFF2-40B4-BE49-F238E27FC236}">
                <a16:creationId xmlns:a16="http://schemas.microsoft.com/office/drawing/2014/main" id="{486E4846-1F64-4CDA-764B-6EB07C56A608}"/>
              </a:ext>
            </a:extLst>
          </p:cNvPr>
          <p:cNvPicPr>
            <a:picLocks noChangeAspect="1"/>
          </p:cNvPicPr>
          <p:nvPr/>
        </p:nvPicPr>
        <p:blipFill>
          <a:blip r:embed="rId2"/>
          <a:stretch>
            <a:fillRect/>
          </a:stretch>
        </p:blipFill>
        <p:spPr>
          <a:xfrm>
            <a:off x="2209800" y="2539399"/>
            <a:ext cx="7772400" cy="3953476"/>
          </a:xfrm>
          <a:prstGeom prst="rect">
            <a:avLst/>
          </a:prstGeom>
        </p:spPr>
      </p:pic>
    </p:spTree>
    <p:extLst>
      <p:ext uri="{BB962C8B-B14F-4D97-AF65-F5344CB8AC3E}">
        <p14:creationId xmlns:p14="http://schemas.microsoft.com/office/powerpoint/2010/main" val="359593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CB7A5-C203-CD62-F59B-B343CD891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9A265-DFF1-EA7D-17F4-7D6D6DBCE910}"/>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34550C2-DA8C-337B-FE7E-07C673511F3A}"/>
              </a:ext>
            </a:extLst>
          </p:cNvPr>
          <p:cNvSpPr>
            <a:spLocks noGrp="1"/>
          </p:cNvSpPr>
          <p:nvPr>
            <p:ph idx="1"/>
          </p:nvPr>
        </p:nvSpPr>
        <p:spPr/>
        <p:txBody>
          <a:bodyPr>
            <a:normAutofit/>
          </a:bodyPr>
          <a:lstStyle/>
          <a:p>
            <a:r>
              <a:rPr lang="en-CA" sz="2000" dirty="0"/>
              <a:t>A number of people work at Eldercare.  </a:t>
            </a:r>
            <a:r>
              <a:rPr lang="en-CA" sz="2000" dirty="0">
                <a:highlight>
                  <a:srgbClr val="FFFF00"/>
                </a:highlight>
              </a:rPr>
              <a:t>Nurses</a:t>
            </a:r>
            <a:r>
              <a:rPr lang="en-CA" sz="2000" dirty="0"/>
              <a:t> are identified by a unique ID and have a single rank (RN, RNA </a:t>
            </a:r>
            <a:r>
              <a:rPr lang="en-CA" sz="2000" dirty="0" err="1"/>
              <a:t>etc</a:t>
            </a:r>
            <a:r>
              <a:rPr lang="en-CA" sz="2000" dirty="0"/>
              <a:t>), a name and an address.  Nurses also have a </a:t>
            </a:r>
            <a:r>
              <a:rPr lang="en-CA" sz="2000" dirty="0">
                <a:highlight>
                  <a:srgbClr val="FFFF00"/>
                </a:highlight>
              </a:rPr>
              <a:t>work schedule </a:t>
            </a:r>
            <a:r>
              <a:rPr lang="en-CA" sz="2000" dirty="0"/>
              <a:t>that indicates the </a:t>
            </a:r>
            <a:r>
              <a:rPr lang="en-CA" sz="2000" dirty="0">
                <a:highlight>
                  <a:srgbClr val="FFFF00"/>
                </a:highlight>
              </a:rPr>
              <a:t>date of their shift, the start time and the end time</a:t>
            </a:r>
            <a:r>
              <a:rPr lang="en-CA" sz="2000" dirty="0"/>
              <a:t>.  A nurse would not be assigned two shifts on the same date.</a:t>
            </a:r>
          </a:p>
        </p:txBody>
      </p:sp>
      <p:sp>
        <p:nvSpPr>
          <p:cNvPr id="4" name="TextBox 3">
            <a:extLst>
              <a:ext uri="{FF2B5EF4-FFF2-40B4-BE49-F238E27FC236}">
                <a16:creationId xmlns:a16="http://schemas.microsoft.com/office/drawing/2014/main" id="{60F0B121-6AF7-E9A9-0C38-5CD4DD6184D7}"/>
              </a:ext>
            </a:extLst>
          </p:cNvPr>
          <p:cNvSpPr txBox="1"/>
          <p:nvPr/>
        </p:nvSpPr>
        <p:spPr>
          <a:xfrm>
            <a:off x="3026089" y="3868616"/>
            <a:ext cx="6139822" cy="646331"/>
          </a:xfrm>
          <a:prstGeom prst="rect">
            <a:avLst/>
          </a:prstGeom>
          <a:noFill/>
        </p:spPr>
        <p:txBody>
          <a:bodyPr wrap="none" rtlCol="0">
            <a:spAutoFit/>
          </a:bodyPr>
          <a:lstStyle/>
          <a:p>
            <a:r>
              <a:rPr lang="en-CA" dirty="0"/>
              <a:t>Can this entity be uniquely identified without another entity?</a:t>
            </a:r>
          </a:p>
          <a:p>
            <a:r>
              <a:rPr lang="en-CA" dirty="0"/>
              <a:t>Does it depend on an owner to exist?</a:t>
            </a:r>
          </a:p>
        </p:txBody>
      </p:sp>
    </p:spTree>
    <p:extLst>
      <p:ext uri="{BB962C8B-B14F-4D97-AF65-F5344CB8AC3E}">
        <p14:creationId xmlns:p14="http://schemas.microsoft.com/office/powerpoint/2010/main" val="66752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56B4-F797-BEEB-C277-FD25C7C10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FBC86-61FB-F7C1-5670-B83AEE1A3FD4}"/>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6F9D148C-E943-E654-7143-3AF1927BFDC0}"/>
              </a:ext>
            </a:extLst>
          </p:cNvPr>
          <p:cNvSpPr>
            <a:spLocks noGrp="1"/>
          </p:cNvSpPr>
          <p:nvPr>
            <p:ph idx="1"/>
          </p:nvPr>
        </p:nvSpPr>
        <p:spPr>
          <a:xfrm>
            <a:off x="838200" y="1825625"/>
            <a:ext cx="4805861" cy="4351338"/>
          </a:xfrm>
        </p:spPr>
        <p:txBody>
          <a:bodyPr>
            <a:normAutofit/>
          </a:bodyPr>
          <a:lstStyle/>
          <a:p>
            <a:r>
              <a:rPr lang="en-CA" sz="2000" dirty="0"/>
              <a:t>A number of people work at Eldercare.  </a:t>
            </a:r>
            <a:r>
              <a:rPr lang="en-CA" sz="2000" dirty="0">
                <a:highlight>
                  <a:srgbClr val="FFFF00"/>
                </a:highlight>
              </a:rPr>
              <a:t>Nurses</a:t>
            </a:r>
            <a:r>
              <a:rPr lang="en-CA" sz="2000" dirty="0"/>
              <a:t> are identified by a unique ID and have a single rank (RN, RNA </a:t>
            </a:r>
            <a:r>
              <a:rPr lang="en-CA" sz="2000" dirty="0" err="1"/>
              <a:t>etc</a:t>
            </a:r>
            <a:r>
              <a:rPr lang="en-CA" sz="2000" dirty="0"/>
              <a:t>), a name and an address.  Nurses also have a </a:t>
            </a:r>
            <a:r>
              <a:rPr lang="en-CA" sz="2000" dirty="0">
                <a:highlight>
                  <a:srgbClr val="FFFF00"/>
                </a:highlight>
              </a:rPr>
              <a:t>work schedule </a:t>
            </a:r>
            <a:r>
              <a:rPr lang="en-CA" sz="2000" dirty="0"/>
              <a:t>that indicates the </a:t>
            </a:r>
            <a:r>
              <a:rPr lang="en-CA" sz="2000" dirty="0">
                <a:highlight>
                  <a:srgbClr val="FFFF00"/>
                </a:highlight>
              </a:rPr>
              <a:t>date of their shift, the start time and the end time</a:t>
            </a:r>
            <a:r>
              <a:rPr lang="en-CA" sz="2000" dirty="0"/>
              <a:t>.  A nurse would not be assigned two shifts on the same date.</a:t>
            </a:r>
          </a:p>
        </p:txBody>
      </p:sp>
      <p:pic>
        <p:nvPicPr>
          <p:cNvPr id="5" name="Picture 4">
            <a:extLst>
              <a:ext uri="{FF2B5EF4-FFF2-40B4-BE49-F238E27FC236}">
                <a16:creationId xmlns:a16="http://schemas.microsoft.com/office/drawing/2014/main" id="{BE420929-D100-89CC-6CA6-C9DCC177270D}"/>
              </a:ext>
            </a:extLst>
          </p:cNvPr>
          <p:cNvPicPr>
            <a:picLocks noChangeAspect="1"/>
          </p:cNvPicPr>
          <p:nvPr/>
        </p:nvPicPr>
        <p:blipFill>
          <a:blip r:embed="rId2"/>
          <a:stretch>
            <a:fillRect/>
          </a:stretch>
        </p:blipFill>
        <p:spPr>
          <a:xfrm rot="5400000">
            <a:off x="5624456" y="107894"/>
            <a:ext cx="6492875" cy="6642212"/>
          </a:xfrm>
          <a:prstGeom prst="rect">
            <a:avLst/>
          </a:prstGeom>
        </p:spPr>
      </p:pic>
    </p:spTree>
    <p:extLst>
      <p:ext uri="{BB962C8B-B14F-4D97-AF65-F5344CB8AC3E}">
        <p14:creationId xmlns:p14="http://schemas.microsoft.com/office/powerpoint/2010/main" val="360307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647F9-C262-D38C-06F9-0A8AE34F4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EC496-78D3-FB8B-00B3-3DE7421F092B}"/>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F5A0FFB0-605D-6BC6-0DB9-1B8E41903EB2}"/>
              </a:ext>
            </a:extLst>
          </p:cNvPr>
          <p:cNvSpPr>
            <a:spLocks noGrp="1"/>
          </p:cNvSpPr>
          <p:nvPr>
            <p:ph idx="1"/>
          </p:nvPr>
        </p:nvSpPr>
        <p:spPr>
          <a:xfrm>
            <a:off x="838200" y="1825625"/>
            <a:ext cx="3804138" cy="4351338"/>
          </a:xfrm>
        </p:spPr>
        <p:txBody>
          <a:bodyPr>
            <a:normAutofit/>
          </a:bodyPr>
          <a:lstStyle/>
          <a:p>
            <a:r>
              <a:rPr lang="en-CA" sz="2000" dirty="0"/>
              <a:t>Eldercare employs a number of </a:t>
            </a:r>
            <a:r>
              <a:rPr lang="en-CA" sz="2000" dirty="0">
                <a:highlight>
                  <a:srgbClr val="FFFF00"/>
                </a:highlight>
              </a:rPr>
              <a:t>doctors</a:t>
            </a:r>
            <a:r>
              <a:rPr lang="en-CA" sz="2000" dirty="0"/>
              <a:t> each with different types of specialties (a doctor may be more than one type of specialist).  A doctor has an employee ID, a name and an address and one or more phone numbers where they can be reached.</a:t>
            </a:r>
          </a:p>
        </p:txBody>
      </p:sp>
      <p:pic>
        <p:nvPicPr>
          <p:cNvPr id="4" name="Picture 3">
            <a:extLst>
              <a:ext uri="{FF2B5EF4-FFF2-40B4-BE49-F238E27FC236}">
                <a16:creationId xmlns:a16="http://schemas.microsoft.com/office/drawing/2014/main" id="{40484AD9-CAE6-A360-8AFB-C25F3D0A6782}"/>
              </a:ext>
            </a:extLst>
          </p:cNvPr>
          <p:cNvPicPr>
            <a:picLocks noChangeAspect="1"/>
          </p:cNvPicPr>
          <p:nvPr/>
        </p:nvPicPr>
        <p:blipFill>
          <a:blip r:embed="rId2"/>
          <a:stretch>
            <a:fillRect/>
          </a:stretch>
        </p:blipFill>
        <p:spPr>
          <a:xfrm rot="5400000">
            <a:off x="5667247" y="-177805"/>
            <a:ext cx="5851536" cy="6858000"/>
          </a:xfrm>
          <a:prstGeom prst="rect">
            <a:avLst/>
          </a:prstGeom>
        </p:spPr>
      </p:pic>
    </p:spTree>
    <p:extLst>
      <p:ext uri="{BB962C8B-B14F-4D97-AF65-F5344CB8AC3E}">
        <p14:creationId xmlns:p14="http://schemas.microsoft.com/office/powerpoint/2010/main" val="84033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BC23-7B29-77FA-FE79-8BC1B5615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B09B0-9701-B94B-71A8-E5ECEE9BD32B}"/>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679B2684-9F4A-4278-3A05-0CE779787806}"/>
              </a:ext>
            </a:extLst>
          </p:cNvPr>
          <p:cNvSpPr>
            <a:spLocks noGrp="1"/>
          </p:cNvSpPr>
          <p:nvPr>
            <p:ph idx="1"/>
          </p:nvPr>
        </p:nvSpPr>
        <p:spPr>
          <a:xfrm>
            <a:off x="838200" y="1825625"/>
            <a:ext cx="3223846" cy="4351338"/>
          </a:xfrm>
        </p:spPr>
        <p:txBody>
          <a:bodyPr>
            <a:normAutofit/>
          </a:bodyPr>
          <a:lstStyle/>
          <a:p>
            <a:r>
              <a:rPr lang="en-CA" sz="2000" dirty="0"/>
              <a:t>Residents are treated by one or more Eldercare doctors but all residents have a single primary care doctor.</a:t>
            </a:r>
          </a:p>
        </p:txBody>
      </p:sp>
      <p:pic>
        <p:nvPicPr>
          <p:cNvPr id="4" name="Picture 3">
            <a:extLst>
              <a:ext uri="{FF2B5EF4-FFF2-40B4-BE49-F238E27FC236}">
                <a16:creationId xmlns:a16="http://schemas.microsoft.com/office/drawing/2014/main" id="{57953844-7987-5F67-B34A-AAD76FC230AD}"/>
              </a:ext>
            </a:extLst>
          </p:cNvPr>
          <p:cNvPicPr>
            <a:picLocks noChangeAspect="1"/>
          </p:cNvPicPr>
          <p:nvPr/>
        </p:nvPicPr>
        <p:blipFill rotWithShape="1">
          <a:blip r:embed="rId2"/>
          <a:srcRect l="5381" t="9997" r="13245" b="640"/>
          <a:stretch>
            <a:fillRect/>
          </a:stretch>
        </p:blipFill>
        <p:spPr>
          <a:xfrm rot="5400000">
            <a:off x="4815809" y="143052"/>
            <a:ext cx="6856097" cy="6569997"/>
          </a:xfrm>
          <a:prstGeom prst="rect">
            <a:avLst/>
          </a:prstGeom>
        </p:spPr>
      </p:pic>
    </p:spTree>
    <p:extLst>
      <p:ext uri="{BB962C8B-B14F-4D97-AF65-F5344CB8AC3E}">
        <p14:creationId xmlns:p14="http://schemas.microsoft.com/office/powerpoint/2010/main" val="260567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E058A-2229-B735-969D-E222A00D6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FC495-A745-0E37-2963-F555C1CC1BD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F32476FF-FC37-6CD2-91AC-6C662803E36E}"/>
              </a:ext>
            </a:extLst>
          </p:cNvPr>
          <p:cNvSpPr>
            <a:spLocks noGrp="1"/>
          </p:cNvSpPr>
          <p:nvPr>
            <p:ph idx="1"/>
          </p:nvPr>
        </p:nvSpPr>
        <p:spPr>
          <a:xfrm>
            <a:off x="838200" y="1825625"/>
            <a:ext cx="4549346" cy="4351338"/>
          </a:xfrm>
        </p:spPr>
        <p:txBody>
          <a:bodyPr>
            <a:normAutofit/>
          </a:bodyPr>
          <a:lstStyle/>
          <a:p>
            <a:r>
              <a:rPr lang="en-CA" sz="2000" dirty="0"/>
              <a:t>Eldercare has a staff of "helpers" and each has an employee ID, a name and an address.  We'd also like to keep track of how long the helper has been working at Eldercare.  Helpers are assigned to help specific patients and each resident is assigned exactly one helper.</a:t>
            </a:r>
          </a:p>
        </p:txBody>
      </p:sp>
      <p:pic>
        <p:nvPicPr>
          <p:cNvPr id="4" name="Picture 3">
            <a:extLst>
              <a:ext uri="{FF2B5EF4-FFF2-40B4-BE49-F238E27FC236}">
                <a16:creationId xmlns:a16="http://schemas.microsoft.com/office/drawing/2014/main" id="{AC58668B-4E8B-FDA4-BA5F-B63C3494131B}"/>
              </a:ext>
            </a:extLst>
          </p:cNvPr>
          <p:cNvPicPr>
            <a:picLocks noChangeAspect="1"/>
          </p:cNvPicPr>
          <p:nvPr/>
        </p:nvPicPr>
        <p:blipFill>
          <a:blip r:embed="rId2"/>
          <a:stretch>
            <a:fillRect/>
          </a:stretch>
        </p:blipFill>
        <p:spPr>
          <a:xfrm rot="5400000">
            <a:off x="5659630" y="0"/>
            <a:ext cx="6600577" cy="6858000"/>
          </a:xfrm>
          <a:prstGeom prst="rect">
            <a:avLst/>
          </a:prstGeom>
        </p:spPr>
      </p:pic>
      <p:sp>
        <p:nvSpPr>
          <p:cNvPr id="5" name="TextBox 4">
            <a:extLst>
              <a:ext uri="{FF2B5EF4-FFF2-40B4-BE49-F238E27FC236}">
                <a16:creationId xmlns:a16="http://schemas.microsoft.com/office/drawing/2014/main" id="{2E373A71-6AC5-F5D8-37BA-A5D5CA799D83}"/>
              </a:ext>
            </a:extLst>
          </p:cNvPr>
          <p:cNvSpPr txBox="1"/>
          <p:nvPr/>
        </p:nvSpPr>
        <p:spPr>
          <a:xfrm>
            <a:off x="7061688" y="5751087"/>
            <a:ext cx="4787412" cy="1200329"/>
          </a:xfrm>
          <a:prstGeom prst="rect">
            <a:avLst/>
          </a:prstGeom>
          <a:noFill/>
        </p:spPr>
        <p:txBody>
          <a:bodyPr wrap="square" rtlCol="0">
            <a:spAutoFit/>
          </a:bodyPr>
          <a:lstStyle/>
          <a:p>
            <a:r>
              <a:rPr lang="en-US" dirty="0"/>
              <a:t>Assuming </a:t>
            </a:r>
          </a:p>
          <a:p>
            <a:r>
              <a:rPr lang="en-US" dirty="0"/>
              <a:t>- we have </a:t>
            </a:r>
            <a:r>
              <a:rPr lang="en-US" dirty="0" err="1"/>
              <a:t>startdate</a:t>
            </a:r>
            <a:endParaRPr lang="en-US" dirty="0"/>
          </a:p>
          <a:p>
            <a:r>
              <a:rPr lang="en-US" dirty="0"/>
              <a:t>- </a:t>
            </a:r>
            <a:r>
              <a:rPr lang="en-US" dirty="0" err="1"/>
              <a:t>ohip</a:t>
            </a:r>
            <a:r>
              <a:rPr lang="en-US" dirty="0"/>
              <a:t> is unique</a:t>
            </a:r>
          </a:p>
          <a:p>
            <a:endParaRPr lang="en-US" dirty="0"/>
          </a:p>
        </p:txBody>
      </p:sp>
    </p:spTree>
    <p:extLst>
      <p:ext uri="{BB962C8B-B14F-4D97-AF65-F5344CB8AC3E}">
        <p14:creationId xmlns:p14="http://schemas.microsoft.com/office/powerpoint/2010/main" val="8933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DC27B-AF41-02E8-63B4-123B353CA0B3}"/>
              </a:ext>
            </a:extLst>
          </p:cNvPr>
          <p:cNvSpPr>
            <a:spLocks noGrp="1"/>
          </p:cNvSpPr>
          <p:nvPr>
            <p:ph type="title"/>
          </p:nvPr>
        </p:nvSpPr>
        <p:spPr>
          <a:xfrm>
            <a:off x="838200" y="365125"/>
            <a:ext cx="3487615" cy="1325563"/>
          </a:xfrm>
        </p:spPr>
        <p:txBody>
          <a:bodyPr>
            <a:normAutofit fontScale="90000"/>
          </a:bodyPr>
          <a:lstStyle/>
          <a:p>
            <a:r>
              <a:rPr lang="en-US" dirty="0"/>
              <a:t>Can we further simplify this?</a:t>
            </a:r>
          </a:p>
        </p:txBody>
      </p:sp>
      <p:pic>
        <p:nvPicPr>
          <p:cNvPr id="7" name="Picture 6">
            <a:extLst>
              <a:ext uri="{FF2B5EF4-FFF2-40B4-BE49-F238E27FC236}">
                <a16:creationId xmlns:a16="http://schemas.microsoft.com/office/drawing/2014/main" id="{81DCC4D6-4A28-996A-F71D-783074D4B2C4}"/>
              </a:ext>
            </a:extLst>
          </p:cNvPr>
          <p:cNvPicPr>
            <a:picLocks noChangeAspect="1"/>
          </p:cNvPicPr>
          <p:nvPr/>
        </p:nvPicPr>
        <p:blipFill>
          <a:blip r:embed="rId2"/>
          <a:stretch>
            <a:fillRect/>
          </a:stretch>
        </p:blipFill>
        <p:spPr>
          <a:xfrm rot="5400000">
            <a:off x="4782775" y="236413"/>
            <a:ext cx="6600577" cy="6858000"/>
          </a:xfrm>
          <a:prstGeom prst="rect">
            <a:avLst/>
          </a:prstGeom>
        </p:spPr>
      </p:pic>
      <p:sp>
        <p:nvSpPr>
          <p:cNvPr id="8" name="TextBox 7">
            <a:extLst>
              <a:ext uri="{FF2B5EF4-FFF2-40B4-BE49-F238E27FC236}">
                <a16:creationId xmlns:a16="http://schemas.microsoft.com/office/drawing/2014/main" id="{B4E0778B-E6D2-820E-62A7-AEF03227B363}"/>
              </a:ext>
            </a:extLst>
          </p:cNvPr>
          <p:cNvSpPr txBox="1"/>
          <p:nvPr/>
        </p:nvSpPr>
        <p:spPr>
          <a:xfrm>
            <a:off x="7061688" y="5751087"/>
            <a:ext cx="4787412" cy="1200329"/>
          </a:xfrm>
          <a:prstGeom prst="rect">
            <a:avLst/>
          </a:prstGeom>
          <a:noFill/>
        </p:spPr>
        <p:txBody>
          <a:bodyPr wrap="square" rtlCol="0">
            <a:spAutoFit/>
          </a:bodyPr>
          <a:lstStyle/>
          <a:p>
            <a:r>
              <a:rPr lang="en-US" dirty="0"/>
              <a:t>Assuming </a:t>
            </a:r>
          </a:p>
          <a:p>
            <a:r>
              <a:rPr lang="en-US" dirty="0"/>
              <a:t>- we have </a:t>
            </a:r>
            <a:r>
              <a:rPr lang="en-US" dirty="0" err="1"/>
              <a:t>startdate</a:t>
            </a:r>
            <a:endParaRPr lang="en-US" dirty="0"/>
          </a:p>
          <a:p>
            <a:r>
              <a:rPr lang="en-US" dirty="0"/>
              <a:t>- </a:t>
            </a:r>
            <a:r>
              <a:rPr lang="en-US" dirty="0" err="1"/>
              <a:t>ohip</a:t>
            </a:r>
            <a:r>
              <a:rPr lang="en-US" dirty="0"/>
              <a:t> is unique</a:t>
            </a:r>
          </a:p>
          <a:p>
            <a:endParaRPr lang="en-US" dirty="0"/>
          </a:p>
        </p:txBody>
      </p:sp>
    </p:spTree>
    <p:extLst>
      <p:ext uri="{BB962C8B-B14F-4D97-AF65-F5344CB8AC3E}">
        <p14:creationId xmlns:p14="http://schemas.microsoft.com/office/powerpoint/2010/main" val="24318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31DE4-784C-A67B-B2C6-FD1F6F9306E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6279137-5BEE-4444-03BA-8180F707565E}"/>
              </a:ext>
            </a:extLst>
          </p:cNvPr>
          <p:cNvPicPr>
            <a:picLocks noGrp="1" noChangeAspect="1"/>
          </p:cNvPicPr>
          <p:nvPr>
            <p:ph idx="1"/>
          </p:nvPr>
        </p:nvPicPr>
        <p:blipFill>
          <a:blip r:embed="rId2"/>
          <a:stretch>
            <a:fillRect/>
          </a:stretch>
        </p:blipFill>
        <p:spPr>
          <a:xfrm rot="5400000">
            <a:off x="2877788" y="148950"/>
            <a:ext cx="6148171" cy="6560100"/>
          </a:xfrm>
          <a:prstGeom prst="rect">
            <a:avLst/>
          </a:prstGeom>
        </p:spPr>
      </p:pic>
      <p:sp>
        <p:nvSpPr>
          <p:cNvPr id="6" name="TextBox 5">
            <a:extLst>
              <a:ext uri="{FF2B5EF4-FFF2-40B4-BE49-F238E27FC236}">
                <a16:creationId xmlns:a16="http://schemas.microsoft.com/office/drawing/2014/main" id="{CABC5706-41D4-10FD-65A7-620A580BFF33}"/>
              </a:ext>
            </a:extLst>
          </p:cNvPr>
          <p:cNvSpPr txBox="1"/>
          <p:nvPr/>
        </p:nvSpPr>
        <p:spPr>
          <a:xfrm>
            <a:off x="7061688" y="5751087"/>
            <a:ext cx="4787412" cy="1200329"/>
          </a:xfrm>
          <a:prstGeom prst="rect">
            <a:avLst/>
          </a:prstGeom>
          <a:noFill/>
        </p:spPr>
        <p:txBody>
          <a:bodyPr wrap="square" rtlCol="0">
            <a:spAutoFit/>
          </a:bodyPr>
          <a:lstStyle/>
          <a:p>
            <a:r>
              <a:rPr lang="en-US" dirty="0"/>
              <a:t>Assuming </a:t>
            </a:r>
          </a:p>
          <a:p>
            <a:r>
              <a:rPr lang="en-US" dirty="0"/>
              <a:t>- we have </a:t>
            </a:r>
            <a:r>
              <a:rPr lang="en-US" dirty="0" err="1"/>
              <a:t>startdate</a:t>
            </a:r>
            <a:endParaRPr lang="en-US" dirty="0"/>
          </a:p>
          <a:p>
            <a:r>
              <a:rPr lang="en-US" dirty="0"/>
              <a:t>- </a:t>
            </a:r>
            <a:r>
              <a:rPr lang="en-US" dirty="0" err="1"/>
              <a:t>ohip</a:t>
            </a:r>
            <a:r>
              <a:rPr lang="en-US" dirty="0"/>
              <a:t> is unique</a:t>
            </a:r>
          </a:p>
          <a:p>
            <a:endParaRPr lang="en-US" dirty="0"/>
          </a:p>
        </p:txBody>
      </p:sp>
    </p:spTree>
    <p:extLst>
      <p:ext uri="{BB962C8B-B14F-4D97-AF65-F5344CB8AC3E}">
        <p14:creationId xmlns:p14="http://schemas.microsoft.com/office/powerpoint/2010/main" val="61088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901</TotalTime>
  <Words>1023</Words>
  <Application>Microsoft Macintosh PowerPoint</Application>
  <PresentationFormat>Widescreen</PresentationFormat>
  <Paragraphs>105</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Extra Class on ER diagram</vt:lpstr>
      <vt:lpstr>Topic</vt:lpstr>
      <vt:lpstr>Strong and Weak Entity</vt:lpstr>
      <vt:lpstr>Strong and Weak Entity</vt:lpstr>
      <vt:lpstr>PowerPoint Presentation</vt:lpstr>
      <vt:lpstr>Participation</vt:lpstr>
      <vt:lpstr>PowerPoint Presentation</vt:lpstr>
      <vt:lpstr>PowerPoint Presentation</vt:lpstr>
      <vt:lpstr>PowerPoint Presentation</vt:lpstr>
      <vt:lpstr>PowerPoint Presentation</vt:lpstr>
      <vt:lpstr>Steps to draw ER diagram</vt:lpstr>
      <vt:lpstr>Question</vt:lpstr>
      <vt:lpstr>Question</vt:lpstr>
      <vt:lpstr>Question</vt:lpstr>
      <vt:lpstr>Question</vt:lpstr>
      <vt:lpstr>Question</vt:lpstr>
      <vt:lpstr>Question</vt:lpstr>
      <vt:lpstr>Question</vt:lpstr>
      <vt:lpstr>Question</vt:lpstr>
      <vt:lpstr>Question</vt:lpstr>
      <vt:lpstr>Can we further simplify this?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Kazi Amit Hasan</dc:creator>
  <cp:lastModifiedBy>Kazi Amit Hasan</cp:lastModifiedBy>
  <cp:revision>3</cp:revision>
  <dcterms:created xsi:type="dcterms:W3CDTF">2026-01-22T22:09:39Z</dcterms:created>
  <dcterms:modified xsi:type="dcterms:W3CDTF">2026-01-23T13:11:12Z</dcterms:modified>
</cp:coreProperties>
</file>