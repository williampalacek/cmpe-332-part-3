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279106a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279106a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27c4ee87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27c4ee87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27c4ee87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27c4ee87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'Design a Twitter feed.'</a:t>
            </a:r>
            <a:r>
              <a:rPr lang="en">
                <a:solidFill>
                  <a:schemeClr val="dk1"/>
                </a:solidFill>
              </a:rPr>
              <a:t> They aren't asking about the CSS. They are asking: </a:t>
            </a:r>
            <a:r>
              <a:rPr i="1" lang="en">
                <a:solidFill>
                  <a:schemeClr val="dk1"/>
                </a:solidFill>
              </a:rPr>
              <a:t>'How do you model the database to read millions of tweets efficiently?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27c4ee87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27c4ee8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27c4ee87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27c4ee87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27c4ee87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27c4ee87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27c4ee87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27c4ee87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27c4ee87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27c4ee87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27c4ee87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27c4ee87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27c4ee87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27c4ee87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27c4ee87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27c4ee87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27c4ee87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27c4ee87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27c4ee87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27c4ee87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27c4ee87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27c4ee87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27f6f04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27f6f04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27f6f041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27f6f041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27c4ee87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27c4ee87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27c4ee87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27c4ee87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CISC/CMPE 332 W26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Management Systems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243150" y="4011125"/>
            <a:ext cx="49926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Instructions created by: Dr. </a:t>
            </a:r>
            <a:r>
              <a:rPr lang="en" sz="1800">
                <a:solidFill>
                  <a:schemeClr val="dk2"/>
                </a:solidFill>
              </a:rPr>
              <a:t>Wendy</a:t>
            </a:r>
            <a:r>
              <a:rPr lang="en" sz="1800">
                <a:solidFill>
                  <a:schemeClr val="dk2"/>
                </a:solidFill>
              </a:rPr>
              <a:t> Powley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Modified by: Kazi Amit Hasan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(Instructor)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1075950"/>
            <a:ext cx="3374100" cy="3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Kazi Amit Hasan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highlight>
                  <a:srgbClr val="FFFF00"/>
                </a:highlight>
              </a:rPr>
              <a:t>Research area</a:t>
            </a:r>
            <a:r>
              <a:rPr lang="en" sz="1800">
                <a:solidFill>
                  <a:schemeClr val="dk2"/>
                </a:solidFill>
                <a:highlight>
                  <a:srgbClr val="FFFF00"/>
                </a:highlight>
              </a:rPr>
              <a:t>:</a:t>
            </a:r>
            <a:r>
              <a:rPr lang="en" sz="1800">
                <a:solidFill>
                  <a:schemeClr val="dk2"/>
                </a:solidFill>
              </a:rPr>
              <a:t> Agentic AI, Software Engineering, Software Security, LLM, MSR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840475" y="1075950"/>
            <a:ext cx="5166300" cy="37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highlight>
                  <a:srgbClr val="FFFF00"/>
                </a:highlight>
              </a:rPr>
              <a:t>My Journey:</a:t>
            </a:r>
            <a:endParaRPr b="1" sz="1800"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2020</a:t>
            </a:r>
            <a:r>
              <a:rPr lang="en" sz="1800">
                <a:solidFill>
                  <a:schemeClr val="dk2"/>
                </a:solidFill>
              </a:rPr>
              <a:t>: Bachelor in Computer </a:t>
            </a:r>
            <a:r>
              <a:rPr lang="en" sz="1800">
                <a:solidFill>
                  <a:schemeClr val="dk2"/>
                </a:solidFill>
              </a:rPr>
              <a:t>Science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2020-2022:</a:t>
            </a:r>
            <a:r>
              <a:rPr lang="en" sz="1800">
                <a:solidFill>
                  <a:schemeClr val="dk2"/>
                </a:solidFill>
              </a:rPr>
              <a:t> Machine Learning Engineer, ACI Limited, Bangladesh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2022</a:t>
            </a:r>
            <a:r>
              <a:rPr lang="en" sz="1800">
                <a:solidFill>
                  <a:schemeClr val="dk2"/>
                </a:solidFill>
              </a:rPr>
              <a:t>: Joined Queen’s as MSc Student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2023</a:t>
            </a:r>
            <a:r>
              <a:rPr lang="en" sz="1800">
                <a:solidFill>
                  <a:schemeClr val="dk2"/>
                </a:solidFill>
              </a:rPr>
              <a:t>: Promoted to PhD without MSc completion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2026</a:t>
            </a:r>
            <a:r>
              <a:rPr lang="en" sz="1800">
                <a:solidFill>
                  <a:schemeClr val="dk2"/>
                </a:solidFill>
              </a:rPr>
              <a:t>: Joined Queen’s a Teaching Fellow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Others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Advising as Data Analyst in two departments in Queen’s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4" name="Google Shape;64;p14" title="Screenshot 2026-01-04 at 8.38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749" y="2685075"/>
            <a:ext cx="2377950" cy="24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(Teaching </a:t>
            </a:r>
            <a:r>
              <a:rPr lang="en"/>
              <a:t>Assistants</a:t>
            </a:r>
            <a:r>
              <a:rPr lang="en"/>
              <a:t>)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475900" y="1235075"/>
            <a:ext cx="8271600" cy="3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Emails can be found on the classlist page (Communications &gt;&gt; ClassList).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Yuanqi Liang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Ashfi Shah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Mohammed Mehedi Hasan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Marcus Secord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Abdul Moez Akbar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Jasmine Zangeneh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Liam Johnston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TBD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TBD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you need this course?</a:t>
            </a:r>
            <a:endParaRPr/>
          </a:p>
        </p:txBody>
      </p:sp>
      <p:pic>
        <p:nvPicPr>
          <p:cNvPr id="76" name="Google Shape;76;p16" title="Screenshot 2026-01-04 at 9.03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675" y="1141250"/>
            <a:ext cx="2494501" cy="130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Screenshot 2026-01-04 at 9.06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375" y="1141238"/>
            <a:ext cx="2494500" cy="135911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1163875" y="2623875"/>
            <a:ext cx="25575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Software </a:t>
            </a:r>
            <a:r>
              <a:rPr lang="en" sz="1800">
                <a:solidFill>
                  <a:schemeClr val="dk2"/>
                </a:solidFill>
              </a:rPr>
              <a:t>development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5856200" y="2660375"/>
            <a:ext cx="28443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Science domain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573125" y="3468850"/>
            <a:ext cx="33540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You can't just load a 500GB dataset into a Pandas DataFrame in memory.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057900" y="3570225"/>
            <a:ext cx="33540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Design a twitter feed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Contents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 to data/databases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Entity-Relationship Modeling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Relational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SQL: Data Definition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Relational Algebra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Database Web Applications/Application Programming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Indexes &amp; Storage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and some special content by our head TA! (to be decided)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OnQ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course materials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correspondence, class discussions, interaction with TAs/Instructor done via ONQ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projects/assignments submitted &amp; marked on ONQ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Format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00"/>
                </a:highlight>
              </a:rPr>
              <a:t>Fully in-person</a:t>
            </a:r>
            <a:r>
              <a:rPr lang="en"/>
              <a:t> – 3 lectures per week (usually) 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lectures will </a:t>
            </a:r>
            <a:r>
              <a:rPr lang="en">
                <a:highlight>
                  <a:srgbClr val="FF0000"/>
                </a:highlight>
              </a:rPr>
              <a:t>NOT be recorded</a:t>
            </a:r>
            <a:endParaRPr>
              <a:highlight>
                <a:srgbClr val="FF00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Content-&gt;Weekly Schedule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ONQ page for each week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Materials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Lecture slides (if used) will be posted but not all lectures use slides!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Textbook – </a:t>
            </a:r>
            <a:r>
              <a:rPr lang="en"/>
              <a:t>Database System Concepts, Silberschatz, Korth, Sudarshan 6th Edition. 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Best way to learn the material is come to class, do the assignments.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I find any materials helpful, I will post that on OnQ.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Whole internet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(Assignments)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Consists of 3 parts: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planning (Entity relationship diagram)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implementation (relational implementation)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application program (including demo)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will learn some basics of web development (very basic)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please just use these basics even if you have more experience.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must have some programming background!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Two additional assignments will be posted: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relational algebra &amp; SQL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are </a:t>
            </a:r>
            <a:r>
              <a:rPr lang="en">
                <a:highlight>
                  <a:srgbClr val="FFFF00"/>
                </a:highlight>
              </a:rPr>
              <a:t>ungraded</a:t>
            </a:r>
            <a:r>
              <a:rPr lang="en"/>
              <a:t> but can be handed in for feedback.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highlight>
                  <a:srgbClr val="FFFF00"/>
                </a:highlight>
              </a:rPr>
              <a:t>Highly recommended</a:t>
            </a:r>
            <a:r>
              <a:rPr lang="en"/>
              <a:t> that you do them since they cover material that you will find on the midterm quiz and final exam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Marking Scheme</a:t>
            </a:r>
            <a:endParaRPr/>
          </a:p>
        </p:txBody>
      </p:sp>
      <p:pic>
        <p:nvPicPr>
          <p:cNvPr id="123" name="Google Shape;123;p23" title="Screenshot 2026-01-05 at 12.04.1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50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 Quiz and Final Exam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highlight>
                  <a:srgbClr val="FFFF00"/>
                </a:highlight>
              </a:rPr>
              <a:t>Midterm quiz (in person):</a:t>
            </a:r>
            <a:r>
              <a:rPr lang="en"/>
              <a:t> TBD (I will post in OnQ once I finalize the date and time)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you are ill, you must apply for considerations BEFORE the midterm time.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You must not attend the quiz if you apply for consideration.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Considerations will not be granted if I receive application after the midterm quiz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Considerations are only available for illness and unavoidable cases.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Accommodated tests/exams – handled via Ventus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 term Quiz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There will be NO make-up midterm.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you successfully apply for considerations, your midterm marks will be shifted to the final exam (making the final worth 60%).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 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All due dates are posted on the Course Calendar now.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All assignments will be accepted up to </a:t>
            </a:r>
            <a:r>
              <a:rPr lang="en">
                <a:highlight>
                  <a:srgbClr val="FFFF00"/>
                </a:highlight>
              </a:rPr>
              <a:t>24 hours after the deadline without penalty</a:t>
            </a:r>
            <a:r>
              <a:rPr lang="en"/>
              <a:t>.  No further extensions will be granted without application for considerations or accommodations.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Assignments late by 1 second are </a:t>
            </a:r>
            <a:r>
              <a:rPr lang="en">
                <a:highlight>
                  <a:srgbClr val="FF0000"/>
                </a:highlight>
              </a:rPr>
              <a:t>NOT ACCEPTED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help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Discussion boards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Email a TA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Email to Instructor – please use sparingly!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Office hours (week 2 and beyond):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Instruction office hour: TBD (will be posted in OnQ)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 office hours: TBD </a:t>
            </a:r>
            <a:r>
              <a:rPr lang="en"/>
              <a:t>(will be posted in OnQ)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remarking policy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you feel that there’s error in the marking of your assignment, you must request a remark within the window of opportunity.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highlight>
                  <a:srgbClr val="FFFF00"/>
                </a:highlight>
              </a:rPr>
              <a:t>Window of opportunity:</a:t>
            </a:r>
            <a:r>
              <a:rPr lang="en"/>
              <a:t> it begins 24 hours after the ‘grades posted’ emails are out. From that, you have 72 hours to request a remark.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Example: If grades are </a:t>
            </a:r>
            <a:r>
              <a:rPr lang="en"/>
              <a:t>announced</a:t>
            </a:r>
            <a:r>
              <a:rPr lang="en"/>
              <a:t> on Monday at 12.00 noon, you may send a request for remarking from </a:t>
            </a:r>
            <a:r>
              <a:rPr lang="en"/>
              <a:t>Tuesday</a:t>
            </a:r>
            <a:r>
              <a:rPr lang="en"/>
              <a:t> 12.00 noon to Friday 12.00 of the same week.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Requests outside of this window will be ignored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Where to email?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Check the initials in your assignment feedback. Send a detailed email to the TA (keep me in cc)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GenAI tools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Allowed only for learning and understanding concepts.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 not use them: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 assignments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 Quiz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Resources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Web server solution stack package - XAMPP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https://www.apachefriends.org/download.html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XAMPP includes MySQL (MariaDB)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First assignment is to get this installed and running.  You can start on that now!  5%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/>
              <a:t>Questions?</a:t>
            </a:r>
            <a:endParaRPr sz="6000"/>
          </a:p>
        </p:txBody>
      </p:sp>
      <p:sp>
        <p:nvSpPr>
          <p:cNvPr id="171" name="Google Shape;171;p31"/>
          <p:cNvSpPr txBox="1"/>
          <p:nvPr/>
        </p:nvSpPr>
        <p:spPr>
          <a:xfrm>
            <a:off x="3552125" y="-776100"/>
            <a:ext cx="573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